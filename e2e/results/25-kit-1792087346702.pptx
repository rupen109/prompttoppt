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investors. Today we are presenting Aroma Coffee Roasters, a dedicated small-batch coffee roaster that has successfully expanded to 4 operational stores. We are excited to share our journey and our vision for the next stage of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business model relies on multiple revenue streams rather than just foot traffic. By controlling our own small-batch roasting, we capture higher margins across our 4 stores, direct bean sales, and wholesale client accounts.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expansion strategy builds systematically on our foundation of four operating stores. First, we will expand our physical retail footprint into adjacent high-density districts. Next, we will scale our small-batch roasting operations to supply commercial wholesale accounts while launching a direct-to-consumer home coffee subscription.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offering local investors an opportunity to participate in our expansion. Capital will directly fund store buildouts and roasting equipment upgrades, backed by the operational success of our initial 4 stores.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considering an investment in Aroma Coffee Roasters. With four successful store locations operating, we are ready to take our small-batch roastery model to the next level. Please reach out to our team at invest@aromacoffeeroasters.com to receive full financial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0C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1a8ae5c7-d577-462a-adc7-7fb6367658dd" descr="Modern cafe interior with artwork and seati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1a8ae5c7-d577-462a-adc7-7fb6367658d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9ce91bea-448b-4640-9ee5-180783f2defa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17BEBB">
              <a:alpha val="85000"/>
            </a:srgbClr>
          </a:solidFill>
          <a:ln/>
        </p:spPr>
      </p:sp>
      <p:sp>
        <p:nvSpPr>
          <p:cNvPr id="5" name="pt:73b72daa-3503-4084-bef2-715edd5a8563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17BEBB">
              <a:alpha val="85000"/>
            </a:srgbClr>
          </a:solidFill>
          <a:ln/>
        </p:spPr>
      </p:sp>
      <p:sp>
        <p:nvSpPr>
          <p:cNvPr id="6" name="pt:e1ee593a-9f1d-420b-b726-7286a23a1161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a0077ad1-ba52-4115-8b09-10133e056f06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4eba037e-433a-4c7d-961f-a12266c5e365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413bc2b0-3489-4cd7-8167-2f6ea545a13b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44a415ea-002e-4527-9a6e-481cc6446dd7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17BEBB">
              <a:alpha val="70000"/>
            </a:srgbClr>
          </a:solidFill>
          <a:ln/>
        </p:spPr>
      </p:sp>
      <p:sp>
        <p:nvSpPr>
          <p:cNvPr id="11" name="pt:689448fb-9c79-465f-a768-612f5ecf3a11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17BEBB">
              <a:alpha val="70000"/>
            </a:srgbClr>
          </a:solidFill>
          <a:ln/>
        </p:spPr>
      </p:sp>
      <p:sp>
        <p:nvSpPr>
          <p:cNvPr id="12" name="pt:eff2406e-6f7c-491e-8775-fe026ee7e7a5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14381b12-f3bb-4c66-ba8f-c77be0bd33f0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d9d9196c-6f8b-4c13-96dc-f7fbea587f9f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c97da5ff-151f-42e8-86dd-393bf8e87176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be6e2499-273a-4d18-b703-e6f6fc170cc3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17BEBB">
              <a:alpha val="54000"/>
            </a:srgbClr>
          </a:solidFill>
          <a:ln/>
        </p:spPr>
      </p:sp>
      <p:sp>
        <p:nvSpPr>
          <p:cNvPr id="17" name="pt:5e6ee59a-e6f5-4188-bbbc-e4fdcc2c3af8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17BEBB">
              <a:alpha val="54000"/>
            </a:srgbClr>
          </a:solidFill>
          <a:ln/>
        </p:spPr>
      </p:sp>
      <p:sp>
        <p:nvSpPr>
          <p:cNvPr id="18" name="pt:a7ea011d-efc4-41a6-8184-02b8995c00fb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83aed231-8856-467b-a155-681f5beaaefb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4760ecf6-40e2-499c-b529-972b567f67ec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c3039bda-178e-4153-99b5-af51950c5072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276f0d47-08d5-49f5-bcf3-08ab323a46b7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17BEBB">
              <a:alpha val="39000"/>
            </a:srgbClr>
          </a:solidFill>
          <a:ln/>
        </p:spPr>
      </p:sp>
      <p:sp>
        <p:nvSpPr>
          <p:cNvPr id="23" name="pt:90b416a2-6692-4548-9ee3-4e4c212c022b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17BEBB">
              <a:alpha val="39000"/>
            </a:srgbClr>
          </a:solidFill>
          <a:ln/>
        </p:spPr>
      </p:sp>
      <p:sp>
        <p:nvSpPr>
          <p:cNvPr id="24" name="pt:1f570840-5721-4f1d-b77e-84024c0e2bde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17BEBB"/>
          </a:solidFill>
          <a:ln/>
        </p:spPr>
      </p:sp>
      <p:sp>
        <p:nvSpPr>
          <p:cNvPr id="25" name="pt:06636849-753f-41ff-a8ac-ec6833b749a8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Aroma Coffee Roasters</a:t>
            </a:r>
            <a:endParaRPr lang="en-US" sz="4200" dirty="0"/>
          </a:p>
        </p:txBody>
      </p:sp>
      <p:sp>
        <p:nvSpPr>
          <p:cNvPr id="26" name="pt:96362403-55e0-485c-883a-aa4dfb0f62da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EC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Artisan Small-Batch Roasting with a Proven Retail Footprint</a:t>
            </a:r>
            <a:endParaRPr lang="en-US" sz="1600" dirty="0"/>
          </a:p>
        </p:txBody>
      </p:sp>
      <p:sp>
        <p:nvSpPr>
          <p:cNvPr id="27" name="pt:321d9e4b-39e6-44d1-8813-7682fd8bb0c9"/>
          <p:cNvSpPr/>
          <p:nvPr/>
        </p:nvSpPr>
        <p:spPr>
          <a:xfrm>
            <a:off x="546100" y="6305550"/>
            <a:ext cx="1231900" cy="4953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pic>
        <p:nvPicPr>
          <p:cNvPr id="28" name="pt:e232ac0c-dd3b-479d-a6b8-c6bb3d583311" descr="Journey log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" y="6369050"/>
            <a:ext cx="1104900" cy="36830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b5c9fc62-fd74-4462-b98c-eb34e1e691d0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392E2A"/>
          </a:solidFill>
          <a:ln/>
        </p:spPr>
      </p:sp>
      <p:sp>
        <p:nvSpPr>
          <p:cNvPr id="3" name="pt:71e5c363-c961-4252-a4e3-fd8a64a7db0e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8F0E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Diversified Revenue Model Driven </a:t>
            </a:r>
            <a:pPr algn="l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17BEB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by In-House Roasting</a:t>
            </a:r>
            <a:endParaRPr lang="en-US" sz="2700" dirty="0"/>
          </a:p>
        </p:txBody>
      </p:sp>
      <p:sp>
        <p:nvSpPr>
          <p:cNvPr id="4" name="pt:ef5c4e85-1977-4ce3-aab7-bda57617febe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0E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Retail sales anchored by our 4 existing store locations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0E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In-house small-batch roasting protecting product quality and gross margins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0E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Direct-to-consumer packaged bean sales for home brewing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0E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Wholesale supply partnerships with local cafes and business accounts</a:t>
            </a:r>
            <a:endParaRPr lang="en-US" sz="1600" dirty="0"/>
          </a:p>
        </p:txBody>
      </p:sp>
      <p:pic>
        <p:nvPicPr>
          <p:cNvPr id="5" name="pt:c6be71ed-6e35-466a-b81f-0b2097c3bb0b" descr="Barista packaging freshly roasted coffee bean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  <p:sp>
        <p:nvSpPr>
          <p:cNvPr id="6" name="pt:60c1e56d-d1b8-41d6-8518-30557dab8c53"/>
          <p:cNvSpPr/>
          <p:nvPr/>
        </p:nvSpPr>
        <p:spPr>
          <a:xfrm>
            <a:off x="546100" y="6305550"/>
            <a:ext cx="1231900" cy="4953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pic>
        <p:nvPicPr>
          <p:cNvPr id="7" name="pt:145b1418-96df-4f4e-ac8d-4678b6c7a5c5" descr="Journey log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600" y="6369050"/>
            <a:ext cx="1104900" cy="36830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11b2808c-7bb3-496c-92b6-8a1a3126d74e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392E2A"/>
          </a:solidFill>
          <a:ln/>
        </p:spPr>
      </p:sp>
      <p:sp>
        <p:nvSpPr>
          <p:cNvPr id="3" name="pt:941e1e6a-f727-4eb3-b39b-bbc9792697ff"/>
          <p:cNvSpPr/>
          <p:nvPr/>
        </p:nvSpPr>
        <p:spPr>
          <a:xfrm>
            <a:off x="609600" y="660400"/>
            <a:ext cx="10972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8F0E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Growth Strategy to Scale </a:t>
            </a:r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7BEB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Brand</a:t>
            </a:r>
            <a:endParaRPr lang="en-US" sz="3000" dirty="0"/>
          </a:p>
        </p:txBody>
      </p:sp>
      <p:sp>
        <p:nvSpPr>
          <p:cNvPr id="4" name="pt:2ecd2e6a-2d5c-495d-adef-354624b48c93"/>
          <p:cNvSpPr/>
          <p:nvPr/>
        </p:nvSpPr>
        <p:spPr>
          <a:xfrm>
            <a:off x="609600" y="1739900"/>
            <a:ext cx="3763433" cy="584200"/>
          </a:xfrm>
          <a:prstGeom prst="chevron">
            <a:avLst/>
          </a:prstGeom>
          <a:solidFill>
            <a:srgbClr val="834634"/>
          </a:solidFill>
          <a:ln/>
        </p:spPr>
      </p:sp>
      <p:sp>
        <p:nvSpPr>
          <p:cNvPr id="5" name="pt:07ab407e-1f76-48f5-9f04-1be68ea2810c"/>
          <p:cNvSpPr/>
          <p:nvPr/>
        </p:nvSpPr>
        <p:spPr>
          <a:xfrm>
            <a:off x="863600" y="1739900"/>
            <a:ext cx="317923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1</a:t>
            </a:r>
            <a:endParaRPr lang="en-US" sz="1500" dirty="0"/>
          </a:p>
        </p:txBody>
      </p:sp>
      <p:sp>
        <p:nvSpPr>
          <p:cNvPr id="6" name="pt:01637615-58db-496f-9ce3-ebfca018b2da"/>
          <p:cNvSpPr/>
          <p:nvPr/>
        </p:nvSpPr>
        <p:spPr>
          <a:xfrm>
            <a:off x="673100" y="2578100"/>
            <a:ext cx="3598333" cy="3746500"/>
          </a:xfrm>
          <a:prstGeom prst="roundRect">
            <a:avLst>
              <a:gd name="adj" fmla="val 2824"/>
            </a:avLst>
          </a:prstGeom>
          <a:solidFill>
            <a:srgbClr val="F8F0ED">
              <a:alpha val="12000"/>
            </a:srgbClr>
          </a:solidFill>
          <a:ln/>
        </p:spPr>
      </p:sp>
      <p:sp>
        <p:nvSpPr>
          <p:cNvPr id="7" name="pt:53926b1e-6be7-45db-ad89-a1c8d9166539"/>
          <p:cNvSpPr/>
          <p:nvPr/>
        </p:nvSpPr>
        <p:spPr>
          <a:xfrm>
            <a:off x="609600" y="2501900"/>
            <a:ext cx="3598333" cy="3746500"/>
          </a:xfrm>
          <a:prstGeom prst="roundRect">
            <a:avLst>
              <a:gd name="adj" fmla="val 2824"/>
            </a:avLst>
          </a:prstGeom>
          <a:solidFill>
            <a:srgbClr val="1B0F0B"/>
          </a:solidFill>
          <a:ln w="12700">
            <a:solidFill>
              <a:srgbClr val="392E2A"/>
            </a:solidFill>
            <a:prstDash val="solid"/>
          </a:ln>
        </p:spPr>
      </p:sp>
      <p:sp>
        <p:nvSpPr>
          <p:cNvPr id="8" name="pt:9e68bf7c-dc6b-46d6-bf46-95e26a860cb0"/>
          <p:cNvSpPr/>
          <p:nvPr/>
        </p:nvSpPr>
        <p:spPr>
          <a:xfrm>
            <a:off x="812800" y="2654300"/>
            <a:ext cx="319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0E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Retail Footprint Expansion</a:t>
            </a:r>
            <a:endParaRPr lang="en-US" sz="1600" dirty="0"/>
          </a:p>
        </p:txBody>
      </p:sp>
      <p:sp>
        <p:nvSpPr>
          <p:cNvPr id="9" name="pt:c916452b-8d7f-41b5-96af-35444d6ace37"/>
          <p:cNvSpPr/>
          <p:nvPr/>
        </p:nvSpPr>
        <p:spPr>
          <a:xfrm>
            <a:off x="812800" y="3213100"/>
            <a:ext cx="3191933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1A8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high-footfall neighboring districts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1A8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Replicate proven small-batch store model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1A8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 local brand recognition</a:t>
            </a:r>
            <a:endParaRPr lang="en-US" sz="1300" dirty="0"/>
          </a:p>
        </p:txBody>
      </p:sp>
      <p:sp>
        <p:nvSpPr>
          <p:cNvPr id="10" name="pt:1927faf6-9569-46be-a1c7-7c3d42e9df9f"/>
          <p:cNvSpPr/>
          <p:nvPr/>
        </p:nvSpPr>
        <p:spPr>
          <a:xfrm>
            <a:off x="4296833" y="1739900"/>
            <a:ext cx="3763433" cy="584200"/>
          </a:xfrm>
          <a:prstGeom prst="chevron">
            <a:avLst/>
          </a:prstGeom>
          <a:solidFill>
            <a:srgbClr val="B76148"/>
          </a:solidFill>
          <a:ln/>
        </p:spPr>
      </p:sp>
      <p:sp>
        <p:nvSpPr>
          <p:cNvPr id="11" name="pt:5217e278-c07f-4a95-a8f1-8738df867d2b"/>
          <p:cNvSpPr/>
          <p:nvPr/>
        </p:nvSpPr>
        <p:spPr>
          <a:xfrm>
            <a:off x="4550833" y="1739900"/>
            <a:ext cx="317923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2</a:t>
            </a:r>
            <a:endParaRPr lang="en-US" sz="1500" dirty="0"/>
          </a:p>
        </p:txBody>
      </p:sp>
      <p:sp>
        <p:nvSpPr>
          <p:cNvPr id="12" name="pt:5ee9120e-9757-4c55-bf41-183a86921d74"/>
          <p:cNvSpPr/>
          <p:nvPr/>
        </p:nvSpPr>
        <p:spPr>
          <a:xfrm>
            <a:off x="4360333" y="2578100"/>
            <a:ext cx="3598333" cy="3746500"/>
          </a:xfrm>
          <a:prstGeom prst="roundRect">
            <a:avLst>
              <a:gd name="adj" fmla="val 2824"/>
            </a:avLst>
          </a:prstGeom>
          <a:solidFill>
            <a:srgbClr val="F8F0ED">
              <a:alpha val="12000"/>
            </a:srgbClr>
          </a:solidFill>
          <a:ln/>
        </p:spPr>
      </p:sp>
      <p:sp>
        <p:nvSpPr>
          <p:cNvPr id="13" name="pt:25fbb0d2-d1c0-458f-a891-d4283fa2ada7"/>
          <p:cNvSpPr/>
          <p:nvPr/>
        </p:nvSpPr>
        <p:spPr>
          <a:xfrm>
            <a:off x="4296833" y="2501900"/>
            <a:ext cx="3598333" cy="3746500"/>
          </a:xfrm>
          <a:prstGeom prst="roundRect">
            <a:avLst>
              <a:gd name="adj" fmla="val 2824"/>
            </a:avLst>
          </a:prstGeom>
          <a:solidFill>
            <a:srgbClr val="1B0F0B"/>
          </a:solidFill>
          <a:ln w="12700">
            <a:solidFill>
              <a:srgbClr val="392E2A"/>
            </a:solidFill>
            <a:prstDash val="solid"/>
          </a:ln>
        </p:spPr>
      </p:sp>
      <p:sp>
        <p:nvSpPr>
          <p:cNvPr id="14" name="pt:a5621350-98de-4e6a-96a2-63daf95acd09"/>
          <p:cNvSpPr/>
          <p:nvPr/>
        </p:nvSpPr>
        <p:spPr>
          <a:xfrm>
            <a:off x="4500033" y="2654300"/>
            <a:ext cx="319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0E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Wholesale Operations Scale</a:t>
            </a:r>
            <a:endParaRPr lang="en-US" sz="1600" dirty="0"/>
          </a:p>
        </p:txBody>
      </p:sp>
      <p:sp>
        <p:nvSpPr>
          <p:cNvPr id="15" name="pt:d871238a-a592-4e23-863f-8cbbbfd781f1"/>
          <p:cNvSpPr/>
          <p:nvPr/>
        </p:nvSpPr>
        <p:spPr>
          <a:xfrm>
            <a:off x="4500033" y="3213100"/>
            <a:ext cx="3191933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1A8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Increase roasting facility capacity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1A8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Supply regional cafes and corporate offices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1A8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Maintain strict craft quality standards</a:t>
            </a:r>
            <a:endParaRPr lang="en-US" sz="1300" dirty="0"/>
          </a:p>
        </p:txBody>
      </p:sp>
      <p:sp>
        <p:nvSpPr>
          <p:cNvPr id="16" name="pt:1fe35d59-3f88-450b-8641-d6d3f3a8855f"/>
          <p:cNvSpPr/>
          <p:nvPr/>
        </p:nvSpPr>
        <p:spPr>
          <a:xfrm>
            <a:off x="7984067" y="1739900"/>
            <a:ext cx="3598333" cy="584200"/>
          </a:xfrm>
          <a:prstGeom prst="chevron">
            <a:avLst/>
          </a:prstGeom>
          <a:solidFill>
            <a:srgbClr val="EA7C5C"/>
          </a:solidFill>
          <a:ln/>
        </p:spPr>
      </p:sp>
      <p:sp>
        <p:nvSpPr>
          <p:cNvPr id="17" name="pt:f5caa956-7389-4786-8673-549b34a47eb9"/>
          <p:cNvSpPr/>
          <p:nvPr/>
        </p:nvSpPr>
        <p:spPr>
          <a:xfrm>
            <a:off x="8238067" y="1739900"/>
            <a:ext cx="317923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3</a:t>
            </a:r>
            <a:endParaRPr lang="en-US" sz="1500" dirty="0"/>
          </a:p>
        </p:txBody>
      </p:sp>
      <p:sp>
        <p:nvSpPr>
          <p:cNvPr id="18" name="pt:01c71412-28fb-4e9b-b475-35c5cf27f69c"/>
          <p:cNvSpPr/>
          <p:nvPr/>
        </p:nvSpPr>
        <p:spPr>
          <a:xfrm>
            <a:off x="8047567" y="2578100"/>
            <a:ext cx="3598333" cy="3746500"/>
          </a:xfrm>
          <a:prstGeom prst="roundRect">
            <a:avLst>
              <a:gd name="adj" fmla="val 2824"/>
            </a:avLst>
          </a:prstGeom>
          <a:solidFill>
            <a:srgbClr val="F8F0ED">
              <a:alpha val="12000"/>
            </a:srgbClr>
          </a:solidFill>
          <a:ln/>
        </p:spPr>
      </p:sp>
      <p:sp>
        <p:nvSpPr>
          <p:cNvPr id="19" name="pt:4ef9f64d-a759-496f-8e83-d3af596f52bf"/>
          <p:cNvSpPr/>
          <p:nvPr/>
        </p:nvSpPr>
        <p:spPr>
          <a:xfrm>
            <a:off x="7984067" y="2501900"/>
            <a:ext cx="3598333" cy="3746500"/>
          </a:xfrm>
          <a:prstGeom prst="roundRect">
            <a:avLst>
              <a:gd name="adj" fmla="val 2824"/>
            </a:avLst>
          </a:prstGeom>
          <a:solidFill>
            <a:srgbClr val="1B0F0B"/>
          </a:solidFill>
          <a:ln w="12700">
            <a:solidFill>
              <a:srgbClr val="392E2A"/>
            </a:solidFill>
            <a:prstDash val="solid"/>
          </a:ln>
        </p:spPr>
      </p:sp>
      <p:sp>
        <p:nvSpPr>
          <p:cNvPr id="20" name="pt:1eb4a996-73f3-473c-9475-ab3393e1a06d"/>
          <p:cNvSpPr/>
          <p:nvPr/>
        </p:nvSpPr>
        <p:spPr>
          <a:xfrm>
            <a:off x="8187267" y="2654300"/>
            <a:ext cx="319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8F0E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Direct-to-Consumer Launch</a:t>
            </a:r>
            <a:endParaRPr lang="en-US" sz="1600" dirty="0"/>
          </a:p>
        </p:txBody>
      </p:sp>
      <p:sp>
        <p:nvSpPr>
          <p:cNvPr id="21" name="pt:e702d29e-9a5a-49d2-a95f-1f66ef2bee20"/>
          <p:cNvSpPr/>
          <p:nvPr/>
        </p:nvSpPr>
        <p:spPr>
          <a:xfrm>
            <a:off x="8187267" y="3213100"/>
            <a:ext cx="3191933" cy="290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1A8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Roll out specialty coffee subscription platform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1A8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Ship freshly roasted beans directly to homes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B1A8A5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Drive recurring digital revenue streams</a:t>
            </a:r>
            <a:endParaRPr lang="en-US" sz="1300" dirty="0"/>
          </a:p>
        </p:txBody>
      </p:sp>
      <p:sp>
        <p:nvSpPr>
          <p:cNvPr id="22" name="pt:98d26f59-e5ea-49f3-94ae-500138a56f83"/>
          <p:cNvSpPr/>
          <p:nvPr/>
        </p:nvSpPr>
        <p:spPr>
          <a:xfrm>
            <a:off x="546100" y="6305550"/>
            <a:ext cx="1231900" cy="4953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pic>
        <p:nvPicPr>
          <p:cNvPr id="23" name="pt:c580befa-68a8-4b7f-b473-99f682f6c6f8" descr="Journey log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6369050"/>
            <a:ext cx="1104900" cy="36830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nodeType="withEffect">
                                  <p:stCondLst>
                                    <p:cond delay="66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nodeType="withEffect">
                                  <p:stCondLst>
                                    <p:cond delay="132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7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198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251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decel="100000" grpId="0" nodeType="withEffect">
                                  <p:stCondLst>
                                    <p:cond delay="304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45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decel="100000" nodeType="withEffect">
                                  <p:stCondLst>
                                    <p:cond delay="264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450" fill="hold"/>
                                        <p:tgtEl>
                                          <p:spTgt spid="10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decel="10000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4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decel="100000" grpId="0" nodeType="withEffect">
                                  <p:stCondLst>
                                    <p:cond delay="396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45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decel="100000" grpId="0" nodeType="withEffect">
                                  <p:stCondLst>
                                    <p:cond delay="449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45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decel="100000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45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decel="100000" nodeType="withEffect">
                                  <p:stCondLst>
                                    <p:cond delay="462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450" fill="hold"/>
                                        <p:tgtEl>
                                          <p:spTgt spid="1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decel="100000" nodeType="withEffect">
                                  <p:stCondLst>
                                    <p:cond delay="528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4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decel="100000" grpId="0" nodeType="withEffect">
                                  <p:stCondLst>
                                    <p:cond delay="594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45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decel="100000" grpId="0" nodeType="withEffect">
                                  <p:stCondLst>
                                    <p:cond delay="647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45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decel="100000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450" fill="hold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5" grpId="0" build="p"/>
      <p:bldP spid="2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t:34705ec3-0b39-45b0-abc0-f29b13737c07"/>
          <p:cNvSpPr/>
          <p:nvPr/>
        </p:nvSpPr>
        <p:spPr>
          <a:xfrm>
            <a:off x="0" y="304800"/>
            <a:ext cx="12192000" cy="12700"/>
          </a:xfrm>
          <a:prstGeom prst="rect">
            <a:avLst/>
          </a:prstGeom>
          <a:solidFill>
            <a:srgbClr val="392E2A"/>
          </a:solidFill>
          <a:ln/>
        </p:spPr>
      </p:sp>
      <p:sp>
        <p:nvSpPr>
          <p:cNvPr id="3" name="pt:a510862f-bde4-45d0-b43c-5eab668f7c4a"/>
          <p:cNvSpPr/>
          <p:nvPr/>
        </p:nvSpPr>
        <p:spPr>
          <a:xfrm>
            <a:off x="609600" y="660400"/>
            <a:ext cx="528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0E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Investment Opportunity: Partnering </a:t>
            </a:r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7BEB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for Expansion</a:t>
            </a:r>
            <a:endParaRPr lang="en-US" sz="2800" dirty="0"/>
          </a:p>
        </p:txBody>
      </p:sp>
      <p:sp>
        <p:nvSpPr>
          <p:cNvPr id="4" name="pt:e3a63485-4aea-4577-bb59-5a579838bc33"/>
          <p:cNvSpPr/>
          <p:nvPr/>
        </p:nvSpPr>
        <p:spPr>
          <a:xfrm>
            <a:off x="609600" y="1739900"/>
            <a:ext cx="52832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0E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Seeking local investor capital to accelerate retail and wholesale growth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0E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Funds directed toward store buildouts and modern roasting equipment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8F0E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Proven store model across 4 locations reduces execution risk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F8F0ED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Clear path to business valuation growth and long-term returns</a:t>
            </a:r>
            <a:endParaRPr lang="en-US" sz="1600" dirty="0"/>
          </a:p>
        </p:txBody>
      </p:sp>
      <p:pic>
        <p:nvPicPr>
          <p:cNvPr id="5" name="pt:aec3877f-34d3-4272-86d7-9768d2a6e18c" descr="Interior of a modern artisan coffee stor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  <p:sp>
        <p:nvSpPr>
          <p:cNvPr id="6" name="pt:74cc5c6e-6919-42ee-9394-95a0716522d5"/>
          <p:cNvSpPr/>
          <p:nvPr/>
        </p:nvSpPr>
        <p:spPr>
          <a:xfrm>
            <a:off x="546100" y="6305550"/>
            <a:ext cx="1231900" cy="4953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pic>
        <p:nvPicPr>
          <p:cNvPr id="7" name="pt:1dbfde10-95dc-4229-8726-29da60a275ca" descr="Journey log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9600" y="6369050"/>
            <a:ext cx="1104900" cy="36830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decel="100000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4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decel="100000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45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decel="100000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45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decel="100000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45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0C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t:c19389d1-7076-4f7f-b0d9-54e1200e618e" descr="A cup of coffee with latte art on a sauce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t:c19389d1-7076-4f7f-b0d9-54e1200e618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pt:c6bd6fc6-4889-4ce4-8297-4ad82e644075"/>
          <p:cNvSpPr/>
          <p:nvPr/>
        </p:nvSpPr>
        <p:spPr>
          <a:xfrm rot="-2700000">
            <a:off x="7507182" y="1521883"/>
            <a:ext cx="5349240" cy="31750"/>
          </a:xfrm>
          <a:prstGeom prst="rect">
            <a:avLst/>
          </a:prstGeom>
          <a:solidFill>
            <a:srgbClr val="17BEBB">
              <a:alpha val="85000"/>
            </a:srgbClr>
          </a:solidFill>
          <a:ln/>
        </p:spPr>
      </p:sp>
      <p:sp>
        <p:nvSpPr>
          <p:cNvPr id="5" name="pt:453015a8-9466-4f0b-854e-08fe4f3d6506"/>
          <p:cNvSpPr/>
          <p:nvPr/>
        </p:nvSpPr>
        <p:spPr>
          <a:xfrm rot="2700000">
            <a:off x="7507182" y="5304367"/>
            <a:ext cx="5349240" cy="31750"/>
          </a:xfrm>
          <a:prstGeom prst="rect">
            <a:avLst/>
          </a:prstGeom>
          <a:solidFill>
            <a:srgbClr val="17BEBB">
              <a:alpha val="85000"/>
            </a:srgbClr>
          </a:solidFill>
          <a:ln/>
        </p:spPr>
      </p:sp>
      <p:sp>
        <p:nvSpPr>
          <p:cNvPr id="6" name="pt:1f72c6fc-bf32-4072-81e0-9615ff0ec433"/>
          <p:cNvSpPr/>
          <p:nvPr/>
        </p:nvSpPr>
        <p:spPr>
          <a:xfrm rot="-2700000">
            <a:off x="7723082" y="1521883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pt:8f0fcf18-17b5-4593-b064-7191720f3874"/>
          <p:cNvSpPr/>
          <p:nvPr/>
        </p:nvSpPr>
        <p:spPr>
          <a:xfrm rot="2700000">
            <a:off x="7723082" y="5304367"/>
            <a:ext cx="5349240" cy="3175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pt:deec47e5-81d5-4342-8b34-0508af7b576a"/>
          <p:cNvSpPr/>
          <p:nvPr/>
        </p:nvSpPr>
        <p:spPr>
          <a:xfrm rot="-2700000">
            <a:off x="7938982" y="1521883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9" name="pt:06f93563-5cd9-4d19-8f5f-5a133eb280e7"/>
          <p:cNvSpPr/>
          <p:nvPr/>
        </p:nvSpPr>
        <p:spPr>
          <a:xfrm rot="2700000">
            <a:off x="7938982" y="5304367"/>
            <a:ext cx="5349240" cy="31750"/>
          </a:xfrm>
          <a:prstGeom prst="rect">
            <a:avLst/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pt:f572a6d8-1f18-4669-b37a-0c332cdd4918"/>
          <p:cNvSpPr/>
          <p:nvPr/>
        </p:nvSpPr>
        <p:spPr>
          <a:xfrm rot="-2700000">
            <a:off x="8154882" y="1521883"/>
            <a:ext cx="5349240" cy="31750"/>
          </a:xfrm>
          <a:prstGeom prst="rect">
            <a:avLst/>
          </a:prstGeom>
          <a:solidFill>
            <a:srgbClr val="17BEBB">
              <a:alpha val="70000"/>
            </a:srgbClr>
          </a:solidFill>
          <a:ln/>
        </p:spPr>
      </p:sp>
      <p:sp>
        <p:nvSpPr>
          <p:cNvPr id="11" name="pt:589859a1-9ae6-4283-942a-c1d49485834f"/>
          <p:cNvSpPr/>
          <p:nvPr/>
        </p:nvSpPr>
        <p:spPr>
          <a:xfrm rot="2700000">
            <a:off x="8154882" y="5304367"/>
            <a:ext cx="5349240" cy="31750"/>
          </a:xfrm>
          <a:prstGeom prst="rect">
            <a:avLst/>
          </a:prstGeom>
          <a:solidFill>
            <a:srgbClr val="17BEBB">
              <a:alpha val="70000"/>
            </a:srgbClr>
          </a:solidFill>
          <a:ln/>
        </p:spPr>
      </p:sp>
      <p:sp>
        <p:nvSpPr>
          <p:cNvPr id="12" name="pt:eb6fd9ae-e5cc-4065-919c-58aa03117169"/>
          <p:cNvSpPr/>
          <p:nvPr/>
        </p:nvSpPr>
        <p:spPr>
          <a:xfrm rot="-2700000">
            <a:off x="8370782" y="1521883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pt:798a2a75-3b5b-4ad0-8191-620404ca37a9"/>
          <p:cNvSpPr/>
          <p:nvPr/>
        </p:nvSpPr>
        <p:spPr>
          <a:xfrm rot="2700000">
            <a:off x="8370782" y="5304367"/>
            <a:ext cx="5349240" cy="31750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4" name="pt:9869c2f9-7b2b-41d8-aefa-40ba957bc6b1"/>
          <p:cNvSpPr/>
          <p:nvPr/>
        </p:nvSpPr>
        <p:spPr>
          <a:xfrm rot="-2700000">
            <a:off x="8586682" y="1521883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5" name="pt:ad81515b-fce5-4b92-abe0-064caf8910bf"/>
          <p:cNvSpPr/>
          <p:nvPr/>
        </p:nvSpPr>
        <p:spPr>
          <a:xfrm rot="2700000">
            <a:off x="8586682" y="5304367"/>
            <a:ext cx="5349240" cy="31750"/>
          </a:xfrm>
          <a:prstGeom prst="rect">
            <a:avLst/>
          </a:prstGeom>
          <a:solidFill>
            <a:srgbClr val="FFFFFF">
              <a:alpha val="59000"/>
            </a:srgbClr>
          </a:solidFill>
          <a:ln/>
        </p:spPr>
      </p:sp>
      <p:sp>
        <p:nvSpPr>
          <p:cNvPr id="16" name="pt:5b988d2c-9620-4825-a079-187d858e540b"/>
          <p:cNvSpPr/>
          <p:nvPr/>
        </p:nvSpPr>
        <p:spPr>
          <a:xfrm rot="-2700000">
            <a:off x="8802582" y="1521883"/>
            <a:ext cx="5349240" cy="31750"/>
          </a:xfrm>
          <a:prstGeom prst="rect">
            <a:avLst/>
          </a:prstGeom>
          <a:solidFill>
            <a:srgbClr val="17BEBB">
              <a:alpha val="54000"/>
            </a:srgbClr>
          </a:solidFill>
          <a:ln/>
        </p:spPr>
      </p:sp>
      <p:sp>
        <p:nvSpPr>
          <p:cNvPr id="17" name="pt:ff594a2e-2f93-466d-b63a-b45d93ae74ae"/>
          <p:cNvSpPr/>
          <p:nvPr/>
        </p:nvSpPr>
        <p:spPr>
          <a:xfrm rot="2700000">
            <a:off x="8802582" y="5304367"/>
            <a:ext cx="5349240" cy="31750"/>
          </a:xfrm>
          <a:prstGeom prst="rect">
            <a:avLst/>
          </a:prstGeom>
          <a:solidFill>
            <a:srgbClr val="17BEBB">
              <a:alpha val="54000"/>
            </a:srgbClr>
          </a:solidFill>
          <a:ln/>
        </p:spPr>
      </p:sp>
      <p:sp>
        <p:nvSpPr>
          <p:cNvPr id="18" name="pt:6dbe1396-f10d-4fe6-bd7f-4a6348b2f292"/>
          <p:cNvSpPr/>
          <p:nvPr/>
        </p:nvSpPr>
        <p:spPr>
          <a:xfrm rot="-2700000">
            <a:off x="9018482" y="1521883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19" name="pt:fc7c7d7f-093c-45ea-b243-0ffe10babab9"/>
          <p:cNvSpPr/>
          <p:nvPr/>
        </p:nvSpPr>
        <p:spPr>
          <a:xfrm rot="2700000">
            <a:off x="9018482" y="5304367"/>
            <a:ext cx="5349240" cy="31750"/>
          </a:xfrm>
          <a:prstGeom prst="rect">
            <a:avLst/>
          </a:prstGeom>
          <a:solidFill>
            <a:srgbClr val="FFFFFF">
              <a:alpha val="49000"/>
            </a:srgbClr>
          </a:solidFill>
          <a:ln/>
        </p:spPr>
      </p:sp>
      <p:sp>
        <p:nvSpPr>
          <p:cNvPr id="20" name="pt:895f5b32-17a8-4092-990c-c866d7fb32df"/>
          <p:cNvSpPr/>
          <p:nvPr/>
        </p:nvSpPr>
        <p:spPr>
          <a:xfrm rot="-2700000">
            <a:off x="9234382" y="1521883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1" name="pt:cdf8bddd-2316-48a4-b865-56b550dd9b80"/>
          <p:cNvSpPr/>
          <p:nvPr/>
        </p:nvSpPr>
        <p:spPr>
          <a:xfrm rot="2700000">
            <a:off x="9234382" y="5304367"/>
            <a:ext cx="5349240" cy="31750"/>
          </a:xfrm>
          <a:prstGeom prst="rect">
            <a:avLst/>
          </a:prstGeom>
          <a:solidFill>
            <a:srgbClr val="FFFFFF">
              <a:alpha val="44000"/>
            </a:srgbClr>
          </a:solidFill>
          <a:ln/>
        </p:spPr>
      </p:sp>
      <p:sp>
        <p:nvSpPr>
          <p:cNvPr id="22" name="pt:b2635be6-07b0-4b86-854d-acb3d6336010"/>
          <p:cNvSpPr/>
          <p:nvPr/>
        </p:nvSpPr>
        <p:spPr>
          <a:xfrm rot="-2700000">
            <a:off x="9450282" y="1521883"/>
            <a:ext cx="5349240" cy="31750"/>
          </a:xfrm>
          <a:prstGeom prst="rect">
            <a:avLst/>
          </a:prstGeom>
          <a:solidFill>
            <a:srgbClr val="17BEBB">
              <a:alpha val="39000"/>
            </a:srgbClr>
          </a:solidFill>
          <a:ln/>
        </p:spPr>
      </p:sp>
      <p:sp>
        <p:nvSpPr>
          <p:cNvPr id="23" name="pt:60eeb3d4-2793-4ec5-8964-01b95f8fe8ac"/>
          <p:cNvSpPr/>
          <p:nvPr/>
        </p:nvSpPr>
        <p:spPr>
          <a:xfrm rot="2700000">
            <a:off x="9450282" y="5304367"/>
            <a:ext cx="5349240" cy="31750"/>
          </a:xfrm>
          <a:prstGeom prst="rect">
            <a:avLst/>
          </a:prstGeom>
          <a:solidFill>
            <a:srgbClr val="17BEBB">
              <a:alpha val="39000"/>
            </a:srgbClr>
          </a:solidFill>
          <a:ln/>
        </p:spPr>
      </p:sp>
      <p:sp>
        <p:nvSpPr>
          <p:cNvPr id="24" name="pt:80b943b7-b5f3-446a-b936-26a07d6d876d"/>
          <p:cNvSpPr/>
          <p:nvPr/>
        </p:nvSpPr>
        <p:spPr>
          <a:xfrm>
            <a:off x="975360" y="1371600"/>
            <a:ext cx="698500" cy="50800"/>
          </a:xfrm>
          <a:prstGeom prst="roundRect">
            <a:avLst>
              <a:gd name="adj" fmla="val 50000"/>
            </a:avLst>
          </a:prstGeom>
          <a:solidFill>
            <a:srgbClr val="17BEBB"/>
          </a:solidFill>
          <a:ln/>
        </p:spPr>
      </p:sp>
      <p:sp>
        <p:nvSpPr>
          <p:cNvPr id="25" name="pt:7754ebfa-8ed0-44dc-82f1-36d5042f8075"/>
          <p:cNvSpPr/>
          <p:nvPr/>
        </p:nvSpPr>
        <p:spPr>
          <a:xfrm>
            <a:off x="975360" y="1562100"/>
            <a:ext cx="6339840" cy="269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Partner with Aroma Coffee Roasters</a:t>
            </a:r>
            <a:endParaRPr lang="en-US" sz="3600" dirty="0"/>
          </a:p>
        </p:txBody>
      </p:sp>
      <p:sp>
        <p:nvSpPr>
          <p:cNvPr id="26" name="pt:0172dc75-3727-43ee-a2f1-a76d114d7f67"/>
          <p:cNvSpPr/>
          <p:nvPr/>
        </p:nvSpPr>
        <p:spPr>
          <a:xfrm>
            <a:off x="975360" y="4292600"/>
            <a:ext cx="633984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0CEC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Join us in scaling our local specialty coffee brand. Contact invest@aromacoffeeroasters.com to request detailed financial disclosures and discuss next steps.</a:t>
            </a:r>
            <a:endParaRPr lang="en-US" sz="1600" dirty="0"/>
          </a:p>
        </p:txBody>
      </p:sp>
      <p:sp>
        <p:nvSpPr>
          <p:cNvPr id="27" name="pt:73803e99-8e13-4b16-b002-7a24d005c3cd"/>
          <p:cNvSpPr/>
          <p:nvPr/>
        </p:nvSpPr>
        <p:spPr>
          <a:xfrm>
            <a:off x="546100" y="6305550"/>
            <a:ext cx="1231900" cy="4953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/>
        </p:spPr>
      </p:sp>
      <p:pic>
        <p:nvPicPr>
          <p:cNvPr id="28" name="pt:a282463b-3988-4f51-8cba-fc0cb274f54d" descr="Journey logo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9600" y="6369050"/>
            <a:ext cx="1104900" cy="368300"/>
          </a:xfrm>
          <a:prstGeom prst="rect">
            <a:avLst/>
          </a:prstGeom>
        </p:spPr>
      </p:pic>
    </p:spTree>
  </p:cSld>
  <p:clrMapOvr>
    <a:masterClrMapping/>
  </p:clrMapOvr>
  <p:transition spd="fast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2" presetClass="entr" presetSubtype="8" fill="hold" decel="10000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decel="10000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4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decel="10000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4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88000" y="8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Aroma Coffee Roasters Investment Pitch</dc:title>
  <dc:subject>PptxGenJS Presentation</dc:subject>
  <dc:creator>PptxGenJS</dc:creator>
  <cp:lastModifiedBy>PptxGenJS</cp:lastModifiedBy>
  <cp:revision>1</cp:revision>
  <dcterms:created xsi:type="dcterms:W3CDTF">2026-10-15T18:02:26Z</dcterms:created>
  <dcterms:modified xsi:type="dcterms:W3CDTF">2026-10-15T18:02:26Z</dcterms:modified>
</cp:coreProperties>
</file>