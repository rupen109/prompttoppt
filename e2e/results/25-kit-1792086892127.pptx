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excited to share the growth story of Aroma Coffee Roasters and present a unique investment opportunity to expand our local footprint. As a dedicated small-batch roastery, we have built a loyal community around exceptional specialty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business rests on a proven foundation. By controlling the roasting process in small batches, we maintain strict quality control while supplying our four existing retail stores. This craft approach creates high customer loyalty and strong store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growth plan is structured into three distinct phases. We will first maximize the potential of our existing four locations, then expand into strategic nearby retail markets, and finally scale our wholesale supply to local business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Financially, our model has proven highly effective across our current footprint. Roasting our own beans grants us favorable unit economics and high gross margins across all four outlets, providing a resilient platform for scalable future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seeking strategic local investor capital to fund our next batch of store openings and expand our small-batch roastery capacity. With four proven locations already operating successfully, your partnership will help us scale a beloved regional brand while sharing in our growth. Please reach out to our team today to review our detailed financial package and discuss equity partnership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e213f2d6-fcc9-497d-8bda-14be8b84f45d" descr="person pouring coffee on coffee cup">    </p:cNvPr>
          <p:cNvPicPr>
            <a:picLocks noChangeAspect="1"/>
          </p:cNvPicPr>
          <p:nvPr/>
        </p:nvPicPr>
        <p:blipFill>
          <a:blip r:embed="rId1"/>
          <a:srcRect l="0" r="0" t="0" b="0"/>
          <a:stretch/>
        </p:blipFill>
        <p:spPr>
          <a:xfrm>
            <a:off x="0" y="0"/>
            <a:ext cx="12192000" cy="6858000"/>
          </a:xfrm>
          <a:prstGeom prst="rect">
            <a:avLst/>
          </a:prstGeom>
        </p:spPr>
      </p:pic>
      <p:pic>
        <p:nvPicPr>
          <p:cNvPr id="3" name="pt:e213f2d6-fcc9-497d-8bda-14be8b84f45d" descr="preencoded.png">    </p:cNvPr>
          <p:cNvPicPr>
            <a:picLocks noChangeAspect="1"/>
          </p:cNvPicPr>
          <p:nvPr/>
        </p:nvPicPr>
        <p:blipFill>
          <a:blip r:embed="rId2"/>
          <a:stretch>
            <a:fillRect/>
          </a:stretch>
        </p:blipFill>
        <p:spPr>
          <a:xfrm>
            <a:off x="0" y="0"/>
            <a:ext cx="12192000" cy="6858000"/>
          </a:xfrm>
          <a:prstGeom prst="rect">
            <a:avLst/>
          </a:prstGeom>
        </p:spPr>
      </p:pic>
      <p:sp>
        <p:nvSpPr>
          <p:cNvPr id="4" name="pt:cdbe4f34-cc86-4ccb-82a2-5786bd6b2f46"/>
          <p:cNvSpPr/>
          <p:nvPr/>
        </p:nvSpPr>
        <p:spPr>
          <a:xfrm rot="-2700000">
            <a:off x="7507182" y="1521883"/>
            <a:ext cx="5349240" cy="31750"/>
          </a:xfrm>
          <a:prstGeom prst="rect">
            <a:avLst/>
          </a:prstGeom>
          <a:solidFill>
            <a:srgbClr val="17BEBB">
              <a:alpha val="85000"/>
            </a:srgbClr>
          </a:solidFill>
          <a:ln/>
        </p:spPr>
      </p:sp>
      <p:sp>
        <p:nvSpPr>
          <p:cNvPr id="5" name="pt:1b532cc6-4635-4b93-9721-33261ae1c376"/>
          <p:cNvSpPr/>
          <p:nvPr/>
        </p:nvSpPr>
        <p:spPr>
          <a:xfrm rot="2700000">
            <a:off x="7507182" y="5304367"/>
            <a:ext cx="5349240" cy="31750"/>
          </a:xfrm>
          <a:prstGeom prst="rect">
            <a:avLst/>
          </a:prstGeom>
          <a:solidFill>
            <a:srgbClr val="17BEBB">
              <a:alpha val="85000"/>
            </a:srgbClr>
          </a:solidFill>
          <a:ln/>
        </p:spPr>
      </p:sp>
      <p:sp>
        <p:nvSpPr>
          <p:cNvPr id="6" name="pt:b33b58a5-c1c9-4973-8bff-574207e6c371"/>
          <p:cNvSpPr/>
          <p:nvPr/>
        </p:nvSpPr>
        <p:spPr>
          <a:xfrm rot="-2700000">
            <a:off x="7723082" y="1521883"/>
            <a:ext cx="5349240" cy="31750"/>
          </a:xfrm>
          <a:prstGeom prst="rect">
            <a:avLst/>
          </a:prstGeom>
          <a:solidFill>
            <a:srgbClr val="FFFFFF">
              <a:alpha val="80000"/>
            </a:srgbClr>
          </a:solidFill>
          <a:ln/>
        </p:spPr>
      </p:sp>
      <p:sp>
        <p:nvSpPr>
          <p:cNvPr id="7" name="pt:05dfec88-aad9-4b2c-87ed-a348fab8f4f9"/>
          <p:cNvSpPr/>
          <p:nvPr/>
        </p:nvSpPr>
        <p:spPr>
          <a:xfrm rot="2700000">
            <a:off x="7723082" y="5304367"/>
            <a:ext cx="5349240" cy="31750"/>
          </a:xfrm>
          <a:prstGeom prst="rect">
            <a:avLst/>
          </a:prstGeom>
          <a:solidFill>
            <a:srgbClr val="FFFFFF">
              <a:alpha val="80000"/>
            </a:srgbClr>
          </a:solidFill>
          <a:ln/>
        </p:spPr>
      </p:sp>
      <p:sp>
        <p:nvSpPr>
          <p:cNvPr id="8" name="pt:c49b47c2-8cd2-45c3-b53e-bb3ded12848a"/>
          <p:cNvSpPr/>
          <p:nvPr/>
        </p:nvSpPr>
        <p:spPr>
          <a:xfrm rot="-2700000">
            <a:off x="7938982" y="1521883"/>
            <a:ext cx="5349240" cy="31750"/>
          </a:xfrm>
          <a:prstGeom prst="rect">
            <a:avLst/>
          </a:prstGeom>
          <a:solidFill>
            <a:srgbClr val="FFFFFF">
              <a:alpha val="75000"/>
            </a:srgbClr>
          </a:solidFill>
          <a:ln/>
        </p:spPr>
      </p:sp>
      <p:sp>
        <p:nvSpPr>
          <p:cNvPr id="9" name="pt:cdea27dd-52a2-4422-a41c-14d0adf9da18"/>
          <p:cNvSpPr/>
          <p:nvPr/>
        </p:nvSpPr>
        <p:spPr>
          <a:xfrm rot="2700000">
            <a:off x="7938982" y="5304367"/>
            <a:ext cx="5349240" cy="31750"/>
          </a:xfrm>
          <a:prstGeom prst="rect">
            <a:avLst/>
          </a:prstGeom>
          <a:solidFill>
            <a:srgbClr val="FFFFFF">
              <a:alpha val="75000"/>
            </a:srgbClr>
          </a:solidFill>
          <a:ln/>
        </p:spPr>
      </p:sp>
      <p:sp>
        <p:nvSpPr>
          <p:cNvPr id="10" name="pt:ac531d58-f64d-4ace-9acf-067773f65de9"/>
          <p:cNvSpPr/>
          <p:nvPr/>
        </p:nvSpPr>
        <p:spPr>
          <a:xfrm rot="-2700000">
            <a:off x="8154882" y="1521883"/>
            <a:ext cx="5349240" cy="31750"/>
          </a:xfrm>
          <a:prstGeom prst="rect">
            <a:avLst/>
          </a:prstGeom>
          <a:solidFill>
            <a:srgbClr val="17BEBB">
              <a:alpha val="70000"/>
            </a:srgbClr>
          </a:solidFill>
          <a:ln/>
        </p:spPr>
      </p:sp>
      <p:sp>
        <p:nvSpPr>
          <p:cNvPr id="11" name="pt:eb271472-baac-4082-99c1-8d4754f37455"/>
          <p:cNvSpPr/>
          <p:nvPr/>
        </p:nvSpPr>
        <p:spPr>
          <a:xfrm rot="2700000">
            <a:off x="8154882" y="5304367"/>
            <a:ext cx="5349240" cy="31750"/>
          </a:xfrm>
          <a:prstGeom prst="rect">
            <a:avLst/>
          </a:prstGeom>
          <a:solidFill>
            <a:srgbClr val="17BEBB">
              <a:alpha val="70000"/>
            </a:srgbClr>
          </a:solidFill>
          <a:ln/>
        </p:spPr>
      </p:sp>
      <p:sp>
        <p:nvSpPr>
          <p:cNvPr id="12" name="pt:91b27af8-5065-4b3b-848c-15fce86b337a"/>
          <p:cNvSpPr/>
          <p:nvPr/>
        </p:nvSpPr>
        <p:spPr>
          <a:xfrm rot="-2700000">
            <a:off x="8370782" y="1521883"/>
            <a:ext cx="5349240" cy="31750"/>
          </a:xfrm>
          <a:prstGeom prst="rect">
            <a:avLst/>
          </a:prstGeom>
          <a:solidFill>
            <a:srgbClr val="FFFFFF">
              <a:alpha val="65000"/>
            </a:srgbClr>
          </a:solidFill>
          <a:ln/>
        </p:spPr>
      </p:sp>
      <p:sp>
        <p:nvSpPr>
          <p:cNvPr id="13" name="pt:1cd18dce-2b67-4cf5-8af0-bd35cff5f434"/>
          <p:cNvSpPr/>
          <p:nvPr/>
        </p:nvSpPr>
        <p:spPr>
          <a:xfrm rot="2700000">
            <a:off x="8370782" y="5304367"/>
            <a:ext cx="5349240" cy="31750"/>
          </a:xfrm>
          <a:prstGeom prst="rect">
            <a:avLst/>
          </a:prstGeom>
          <a:solidFill>
            <a:srgbClr val="FFFFFF">
              <a:alpha val="65000"/>
            </a:srgbClr>
          </a:solidFill>
          <a:ln/>
        </p:spPr>
      </p:sp>
      <p:sp>
        <p:nvSpPr>
          <p:cNvPr id="14" name="pt:c4987b03-46b9-41d9-9343-f4e89b97e481"/>
          <p:cNvSpPr/>
          <p:nvPr/>
        </p:nvSpPr>
        <p:spPr>
          <a:xfrm rot="-2700000">
            <a:off x="8586682" y="1521883"/>
            <a:ext cx="5349240" cy="31750"/>
          </a:xfrm>
          <a:prstGeom prst="rect">
            <a:avLst/>
          </a:prstGeom>
          <a:solidFill>
            <a:srgbClr val="FFFFFF">
              <a:alpha val="59000"/>
            </a:srgbClr>
          </a:solidFill>
          <a:ln/>
        </p:spPr>
      </p:sp>
      <p:sp>
        <p:nvSpPr>
          <p:cNvPr id="15" name="pt:debafaaf-63aa-4f68-ab00-50af4cfb8008"/>
          <p:cNvSpPr/>
          <p:nvPr/>
        </p:nvSpPr>
        <p:spPr>
          <a:xfrm rot="2700000">
            <a:off x="8586682" y="5304367"/>
            <a:ext cx="5349240" cy="31750"/>
          </a:xfrm>
          <a:prstGeom prst="rect">
            <a:avLst/>
          </a:prstGeom>
          <a:solidFill>
            <a:srgbClr val="FFFFFF">
              <a:alpha val="59000"/>
            </a:srgbClr>
          </a:solidFill>
          <a:ln/>
        </p:spPr>
      </p:sp>
      <p:sp>
        <p:nvSpPr>
          <p:cNvPr id="16" name="pt:cf717de3-5600-47c0-b2ee-c8e4c211f7b7"/>
          <p:cNvSpPr/>
          <p:nvPr/>
        </p:nvSpPr>
        <p:spPr>
          <a:xfrm rot="-2700000">
            <a:off x="8802582" y="1521883"/>
            <a:ext cx="5349240" cy="31750"/>
          </a:xfrm>
          <a:prstGeom prst="rect">
            <a:avLst/>
          </a:prstGeom>
          <a:solidFill>
            <a:srgbClr val="17BEBB">
              <a:alpha val="54000"/>
            </a:srgbClr>
          </a:solidFill>
          <a:ln/>
        </p:spPr>
      </p:sp>
      <p:sp>
        <p:nvSpPr>
          <p:cNvPr id="17" name="pt:c066fe91-f86f-4063-b96e-854d5e28f9ed"/>
          <p:cNvSpPr/>
          <p:nvPr/>
        </p:nvSpPr>
        <p:spPr>
          <a:xfrm rot="2700000">
            <a:off x="8802582" y="5304367"/>
            <a:ext cx="5349240" cy="31750"/>
          </a:xfrm>
          <a:prstGeom prst="rect">
            <a:avLst/>
          </a:prstGeom>
          <a:solidFill>
            <a:srgbClr val="17BEBB">
              <a:alpha val="54000"/>
            </a:srgbClr>
          </a:solidFill>
          <a:ln/>
        </p:spPr>
      </p:sp>
      <p:sp>
        <p:nvSpPr>
          <p:cNvPr id="18" name="pt:bf4a5eba-2932-420a-ace9-2def7978e1dc"/>
          <p:cNvSpPr/>
          <p:nvPr/>
        </p:nvSpPr>
        <p:spPr>
          <a:xfrm rot="-2700000">
            <a:off x="9018482" y="1521883"/>
            <a:ext cx="5349240" cy="31750"/>
          </a:xfrm>
          <a:prstGeom prst="rect">
            <a:avLst/>
          </a:prstGeom>
          <a:solidFill>
            <a:srgbClr val="FFFFFF">
              <a:alpha val="49000"/>
            </a:srgbClr>
          </a:solidFill>
          <a:ln/>
        </p:spPr>
      </p:sp>
      <p:sp>
        <p:nvSpPr>
          <p:cNvPr id="19" name="pt:88845d2c-1f43-42ba-97b0-099d315fdaab"/>
          <p:cNvSpPr/>
          <p:nvPr/>
        </p:nvSpPr>
        <p:spPr>
          <a:xfrm rot="2700000">
            <a:off x="9018482" y="5304367"/>
            <a:ext cx="5349240" cy="31750"/>
          </a:xfrm>
          <a:prstGeom prst="rect">
            <a:avLst/>
          </a:prstGeom>
          <a:solidFill>
            <a:srgbClr val="FFFFFF">
              <a:alpha val="49000"/>
            </a:srgbClr>
          </a:solidFill>
          <a:ln/>
        </p:spPr>
      </p:sp>
      <p:sp>
        <p:nvSpPr>
          <p:cNvPr id="20" name="pt:92216969-f4f0-44d6-aeb7-632e0f1eeef4"/>
          <p:cNvSpPr/>
          <p:nvPr/>
        </p:nvSpPr>
        <p:spPr>
          <a:xfrm rot="-2700000">
            <a:off x="9234382" y="1521883"/>
            <a:ext cx="5349240" cy="31750"/>
          </a:xfrm>
          <a:prstGeom prst="rect">
            <a:avLst/>
          </a:prstGeom>
          <a:solidFill>
            <a:srgbClr val="FFFFFF">
              <a:alpha val="44000"/>
            </a:srgbClr>
          </a:solidFill>
          <a:ln/>
        </p:spPr>
      </p:sp>
      <p:sp>
        <p:nvSpPr>
          <p:cNvPr id="21" name="pt:38594a50-b6f4-4562-82db-322098a9910a"/>
          <p:cNvSpPr/>
          <p:nvPr/>
        </p:nvSpPr>
        <p:spPr>
          <a:xfrm rot="2700000">
            <a:off x="9234382" y="5304367"/>
            <a:ext cx="5349240" cy="31750"/>
          </a:xfrm>
          <a:prstGeom prst="rect">
            <a:avLst/>
          </a:prstGeom>
          <a:solidFill>
            <a:srgbClr val="FFFFFF">
              <a:alpha val="44000"/>
            </a:srgbClr>
          </a:solidFill>
          <a:ln/>
        </p:spPr>
      </p:sp>
      <p:sp>
        <p:nvSpPr>
          <p:cNvPr id="22" name="pt:68149527-a164-44c7-8656-c7738298065b"/>
          <p:cNvSpPr/>
          <p:nvPr/>
        </p:nvSpPr>
        <p:spPr>
          <a:xfrm rot="-2700000">
            <a:off x="9450282" y="1521883"/>
            <a:ext cx="5349240" cy="31750"/>
          </a:xfrm>
          <a:prstGeom prst="rect">
            <a:avLst/>
          </a:prstGeom>
          <a:solidFill>
            <a:srgbClr val="17BEBB">
              <a:alpha val="39000"/>
            </a:srgbClr>
          </a:solidFill>
          <a:ln/>
        </p:spPr>
      </p:sp>
      <p:sp>
        <p:nvSpPr>
          <p:cNvPr id="23" name="pt:367965b6-004f-40a3-8ad2-457b2c72cfe5"/>
          <p:cNvSpPr/>
          <p:nvPr/>
        </p:nvSpPr>
        <p:spPr>
          <a:xfrm rot="2700000">
            <a:off x="9450282" y="5304367"/>
            <a:ext cx="5349240" cy="31750"/>
          </a:xfrm>
          <a:prstGeom prst="rect">
            <a:avLst/>
          </a:prstGeom>
          <a:solidFill>
            <a:srgbClr val="17BEBB">
              <a:alpha val="39000"/>
            </a:srgbClr>
          </a:solidFill>
          <a:ln/>
        </p:spPr>
      </p:sp>
      <p:sp>
        <p:nvSpPr>
          <p:cNvPr id="24" name="pt:565a1074-86db-459b-a2f5-5a3be364402c"/>
          <p:cNvSpPr/>
          <p:nvPr/>
        </p:nvSpPr>
        <p:spPr>
          <a:xfrm>
            <a:off x="975360" y="1371600"/>
            <a:ext cx="698500" cy="50800"/>
          </a:xfrm>
          <a:prstGeom prst="roundRect">
            <a:avLst>
              <a:gd name="adj" fmla="val 50000"/>
            </a:avLst>
          </a:prstGeom>
          <a:solidFill>
            <a:srgbClr val="17BEBB"/>
          </a:solidFill>
          <a:ln/>
        </p:spPr>
      </p:sp>
      <p:sp>
        <p:nvSpPr>
          <p:cNvPr id="25" name="pt:7254596c-9c65-4d0b-990c-4c0f863f002f"/>
          <p:cNvSpPr/>
          <p:nvPr/>
        </p:nvSpPr>
        <p:spPr>
          <a:xfrm>
            <a:off x="975360" y="1562100"/>
            <a:ext cx="6339840" cy="2692400"/>
          </a:xfrm>
          <a:prstGeom prst="rect">
            <a:avLst/>
          </a:prstGeom>
          <a:noFill/>
          <a:ln/>
        </p:spPr>
        <p:txBody>
          <a:bodyPr wrap="square" lIns="0" tIns="0" rIns="0" bIns="0" rtlCol="0" anchor="ctr"/>
          <a:lstStyle/>
          <a:p>
            <a:pPr algn="l" indent="0" marL="0">
              <a:lnSpc>
                <a:spcPct val="120000"/>
              </a:lnSpc>
              <a:buNone/>
            </a:pPr>
            <a:r>
              <a:rPr lang="en-US" sz="4200" b="1" dirty="0">
                <a:solidFill>
                  <a:srgbClr val="FFFFFF"/>
                </a:solidFill>
                <a:latin typeface="Playfair Display" pitchFamily="34" charset="0"/>
                <a:ea typeface="Playfair Display" pitchFamily="34" charset="-122"/>
                <a:cs typeface="Playfair Display" pitchFamily="34" charset="-120"/>
              </a:rPr>
              <a:t>Aroma Coffee Roasters: Elevating Local Coffee Culture</a:t>
            </a:r>
            <a:endParaRPr lang="en-US" sz="4200" dirty="0"/>
          </a:p>
        </p:txBody>
      </p:sp>
      <p:sp>
        <p:nvSpPr>
          <p:cNvPr id="26" name="pt:e7975eff-b0ab-4efd-8734-c19a166023bb"/>
          <p:cNvSpPr/>
          <p:nvPr/>
        </p:nvSpPr>
        <p:spPr>
          <a:xfrm>
            <a:off x="975360" y="4292600"/>
            <a:ext cx="633984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Playfair Display" pitchFamily="34" charset="0"/>
                <a:ea typeface="Playfair Display" pitchFamily="34" charset="-122"/>
                <a:cs typeface="Playfair Display" pitchFamily="34" charset="-120"/>
              </a:rPr>
              <a:t>Investment opportunity in a premium small-batch coffee roastery</a:t>
            </a:r>
            <a:endParaRPr lang="en-US" sz="1600" dirty="0"/>
          </a:p>
        </p:txBody>
      </p:sp>
      <p:sp>
        <p:nvSpPr>
          <p:cNvPr id="27" name="pt:4bc3a90c-948c-4f7e-a07d-808f4006d48d"/>
          <p:cNvSpPr/>
          <p:nvPr/>
        </p:nvSpPr>
        <p:spPr>
          <a:xfrm>
            <a:off x="546100" y="6305550"/>
            <a:ext cx="1231900" cy="495300"/>
          </a:xfrm>
          <a:prstGeom prst="roundRect">
            <a:avLst>
              <a:gd name="adj" fmla="val 12821"/>
            </a:avLst>
          </a:prstGeom>
          <a:solidFill>
            <a:srgbClr val="FFFFFF"/>
          </a:solidFill>
          <a:ln/>
        </p:spPr>
      </p:sp>
      <p:pic>
        <p:nvPicPr>
          <p:cNvPr id="28" name="pt:5d13b999-010e-4da9-a085-0bc3f8e8c0d3" descr="Journey logo">    </p:cNvPr>
          <p:cNvPicPr>
            <a:picLocks noChangeAspect="1"/>
          </p:cNvPicPr>
          <p:nvPr/>
        </p:nvPicPr>
        <p:blipFill>
          <a:blip r:embed="rId3"/>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24"/>
                                        </p:tgtEl>
                                        <p:attrNameLst>
                                          <p:attrName>style.visibility</p:attrName>
                                        </p:attrNameLst>
                                      </p:cBhvr>
                                      <p:to>
                                        <p:strVal val="visible"/>
                                      </p:to>
                                    </p:set>
                                    <p:animEffect transition="in" filter="wipe(left)">
                                      <p:cBhvr>
                                        <p:cTn id="6" dur="450"/>
                                        <p:tgtEl>
                                          <p:spTgt spid="2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450"/>
                                        <p:tgtEl>
                                          <p:spTgt spid="25"/>
                                        </p:tgtEl>
                                      </p:cBhvr>
                                    </p:animEffect>
                                    <p:animScale>
                                      <p:cBhvr>
                                        <p:cTn id="10" dur="450" fill="hold"/>
                                        <p:tgtEl>
                                          <p:spTgt spid="2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50"/>
                                        <p:tgtEl>
                                          <p:spTgt spid="26"/>
                                        </p:tgtEl>
                                      </p:cBhvr>
                                    </p:animEffect>
                                    <p:animScale>
                                      <p:cBhvr>
                                        <p:cTn id="14" dur="450" fill="hold"/>
                                        <p:tgtEl>
                                          <p:spTgt spid="2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sp>
        <p:nvSpPr>
          <p:cNvPr id="2" name="pt:d32de746-2f91-45df-b686-55ffb16f835b"/>
          <p:cNvSpPr/>
          <p:nvPr/>
        </p:nvSpPr>
        <p:spPr>
          <a:xfrm>
            <a:off x="0" y="304800"/>
            <a:ext cx="12192000" cy="12700"/>
          </a:xfrm>
          <a:prstGeom prst="rect">
            <a:avLst/>
          </a:prstGeom>
          <a:solidFill>
            <a:srgbClr val="392E2A"/>
          </a:solidFill>
          <a:ln/>
        </p:spPr>
      </p:sp>
      <p:sp>
        <p:nvSpPr>
          <p:cNvPr id="3" name="pt:1a57b189-b877-4f46-96bb-e890fa2c8cf3"/>
          <p:cNvSpPr/>
          <p:nvPr/>
        </p:nvSpPr>
        <p:spPr>
          <a:xfrm>
            <a:off x="609600" y="660400"/>
            <a:ext cx="5283200" cy="952500"/>
          </a:xfrm>
          <a:prstGeom prst="rect">
            <a:avLst/>
          </a:prstGeom>
          <a:noFill/>
          <a:ln/>
        </p:spPr>
        <p:txBody>
          <a:bodyPr wrap="square" lIns="0" tIns="0" rIns="0" bIns="0" rtlCol="0" anchor="ctr"/>
          <a:lstStyle/>
          <a:p>
            <a:pPr algn="l" indent="0" marL="0">
              <a:lnSpc>
                <a:spcPct val="120000"/>
              </a:lnSpc>
              <a:buNone/>
            </a:pPr>
            <a:r>
              <a:rPr lang="en-US" sz="2500" b="1" dirty="0">
                <a:solidFill>
                  <a:srgbClr val="F8F0ED"/>
                </a:solidFill>
                <a:latin typeface="Playfair Display" pitchFamily="34" charset="0"/>
                <a:ea typeface="Playfair Display" pitchFamily="34" charset="-122"/>
                <a:cs typeface="Playfair Display" pitchFamily="34" charset="-120"/>
              </a:rPr>
              <a:t>Our Business Model: Craft Roasting and </a:t>
            </a:r>
            <a:pPr algn="l" indent="0" marL="0">
              <a:lnSpc>
                <a:spcPct val="120000"/>
              </a:lnSpc>
              <a:buNone/>
            </a:pPr>
            <a:r>
              <a:rPr lang="en-US" sz="2500" b="1" dirty="0">
                <a:solidFill>
                  <a:srgbClr val="17BEBB"/>
                </a:solidFill>
                <a:latin typeface="Playfair Display" pitchFamily="34" charset="0"/>
                <a:ea typeface="Playfair Display" pitchFamily="34" charset="-122"/>
                <a:cs typeface="Playfair Display" pitchFamily="34" charset="-120"/>
              </a:rPr>
              <a:t>4 Retail Outlets</a:t>
            </a:r>
            <a:endParaRPr lang="en-US" sz="2500" dirty="0"/>
          </a:p>
        </p:txBody>
      </p:sp>
      <p:sp>
        <p:nvSpPr>
          <p:cNvPr id="4" name="pt:faeed809-4dc0-401f-bcc7-6b0306265772"/>
          <p:cNvSpPr/>
          <p:nvPr/>
        </p:nvSpPr>
        <p:spPr>
          <a:xfrm>
            <a:off x="609600" y="1739900"/>
            <a:ext cx="5283200" cy="45085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Small-batch coffee roasting focus ensures maximum quality and distinct flavor profiles</a:t>
            </a:r>
            <a:endParaRPr lang="en-US" sz="1600" dirty="0"/>
          </a:p>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Currently operates 4 successful retail stores across the local region</a:t>
            </a:r>
            <a:endParaRPr lang="en-US" sz="1600" dirty="0"/>
          </a:p>
          <a:p>
            <a:pPr algn="l" marL="342900" indent="-342900">
              <a:lnSpc>
                <a:spcPct val="120000"/>
              </a:lnSpc>
              <a:buSzPct val="100000"/>
              <a:buChar char="•"/>
            </a:pPr>
            <a:r>
              <a:rPr lang="en-US" sz="1600" dirty="0">
                <a:solidFill>
                  <a:srgbClr val="F8F0ED"/>
                </a:solidFill>
                <a:latin typeface="Lora" pitchFamily="34" charset="0"/>
                <a:ea typeface="Lora" pitchFamily="34" charset="-122"/>
                <a:cs typeface="Lora" pitchFamily="34" charset="-120"/>
              </a:rPr>
              <a:t>Dual revenue streams from direct store sales and packaged bean retail</a:t>
            </a:r>
            <a:endParaRPr lang="en-US" sz="1600" dirty="0"/>
          </a:p>
        </p:txBody>
      </p:sp>
      <p:pic>
        <p:nvPicPr>
          <p:cNvPr id="5" name="pt:6fb168db-0519-4526-9502-fa24f63eca29" descr="Freshly roasted coffee beans pouring from a commercial roaster">    </p:cNvPr>
          <p:cNvPicPr>
            <a:picLocks noChangeAspect="1"/>
          </p:cNvPicPr>
          <p:nvPr/>
        </p:nvPicPr>
        <p:blipFill>
          <a:blip r:embed="rId1"/>
          <a:srcRect l="0" r="0" t="0" b="0"/>
          <a:stretch/>
        </p:blipFill>
        <p:spPr>
          <a:xfrm>
            <a:off x="6299200" y="609600"/>
            <a:ext cx="5283200" cy="5638800"/>
          </a:xfrm>
          <a:prstGeom prst="rect">
            <a:avLst/>
          </a:prstGeom>
        </p:spPr>
      </p:pic>
      <p:sp>
        <p:nvSpPr>
          <p:cNvPr id="6" name="pt:2e93614a-d957-4d92-a83c-c5b8dc20b70a"/>
          <p:cNvSpPr/>
          <p:nvPr/>
        </p:nvSpPr>
        <p:spPr>
          <a:xfrm>
            <a:off x="546100" y="6305550"/>
            <a:ext cx="1231900" cy="495300"/>
          </a:xfrm>
          <a:prstGeom prst="roundRect">
            <a:avLst>
              <a:gd name="adj" fmla="val 12821"/>
            </a:avLst>
          </a:prstGeom>
          <a:solidFill>
            <a:srgbClr val="FFFFFF"/>
          </a:solidFill>
          <a:ln/>
        </p:spPr>
      </p:sp>
      <p:pic>
        <p:nvPicPr>
          <p:cNvPr id="7" name="pt:46fc40af-8d6b-4b79-af92-2f58fd845bda" descr="Journey logo">    </p:cNvPr>
          <p:cNvPicPr>
            <a:picLocks noChangeAspect="1"/>
          </p:cNvPicPr>
          <p:nvPr/>
        </p:nvPicPr>
        <p:blipFill>
          <a:blip r:embed="rId2"/>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grpId="0" nodeType="withEffect">
                                  <p:stCondLst>
                                    <p:cond delay="1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Scale>
                                      <p:cBhvr>
                                        <p:cTn id="11" dur="450" fill="hold"/>
                                        <p:tgtEl>
                                          <p:spTgt spid="4">
                                            <p:txEl>
                                              <p:pRg st="0" end="0"/>
                                            </p:txEl>
                                          </p:spTgt>
                                        </p:tgtEl>
                                      </p:cBhvr>
                                      <p:from x="88000" y="88000"/>
                                      <p:to x="100000" y="100000"/>
                                    </p:animScale>
                                  </p:childTnLst>
                                </p:cTn>
                              </p:par>
                              <p:par>
                                <p:cTn id="16" presetID="53" presetClass="entr" presetSubtype="16" fill="hold" decel="100000" grpId="0" nodeType="withEffect">
                                  <p:stCondLst>
                                    <p:cond delay="18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Scale>
                                      <p:cBhvr>
                                        <p:cTn id="15" dur="450" fill="hold"/>
                                        <p:tgtEl>
                                          <p:spTgt spid="4">
                                            <p:txEl>
                                              <p:pRg st="1" end="1"/>
                                            </p:txEl>
                                          </p:spTgt>
                                        </p:tgtEl>
                                      </p:cBhvr>
                                      <p:from x="88000" y="88000"/>
                                      <p:to x="100000" y="100000"/>
                                    </p:animScale>
                                  </p:childTnLst>
                                </p:cTn>
                              </p:par>
                              <p:par>
                                <p:cTn id="20" presetID="53" presetClass="entr" presetSubtype="16" fill="hold" decel="100000" grpId="0" nodeType="withEffect">
                                  <p:stCondLst>
                                    <p:cond delay="26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Scale>
                                      <p:cBhvr>
                                        <p:cTn id="19" dur="450" fill="hold"/>
                                        <p:tgtEl>
                                          <p:spTgt spid="4">
                                            <p:txEl>
                                              <p:pRg st="2" end="2"/>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75adf1b2-9196-45ef-a60f-4115ff6d7fd1"/>
          <p:cNvSpPr/>
          <p:nvPr/>
        </p:nvSpPr>
        <p:spPr>
          <a:xfrm>
            <a:off x="0" y="304800"/>
            <a:ext cx="12192000" cy="12700"/>
          </a:xfrm>
          <a:prstGeom prst="rect">
            <a:avLst/>
          </a:prstGeom>
          <a:solidFill>
            <a:srgbClr val="392E2A"/>
          </a:solidFill>
          <a:ln/>
        </p:spPr>
      </p:sp>
      <p:sp>
        <p:nvSpPr>
          <p:cNvPr id="3" name="pt:a59af12d-7191-491f-9efb-031804fc46b3"/>
          <p:cNvSpPr/>
          <p:nvPr/>
        </p:nvSpPr>
        <p:spPr>
          <a:xfrm>
            <a:off x="609600" y="660400"/>
            <a:ext cx="109728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F8F0ED"/>
                </a:solidFill>
                <a:latin typeface="Playfair Display" pitchFamily="34" charset="0"/>
                <a:ea typeface="Playfair Display" pitchFamily="34" charset="-122"/>
                <a:cs typeface="Playfair Display" pitchFamily="34" charset="-120"/>
              </a:rPr>
              <a:t>Growth Strategy: Expanding Store </a:t>
            </a:r>
            <a:pPr algn="l" indent="0" marL="0">
              <a:lnSpc>
                <a:spcPct val="120000"/>
              </a:lnSpc>
              <a:buNone/>
            </a:pPr>
            <a:r>
              <a:rPr lang="en-US" sz="2800" b="1" dirty="0">
                <a:solidFill>
                  <a:srgbClr val="17BEBB"/>
                </a:solidFill>
                <a:latin typeface="Playfair Display" pitchFamily="34" charset="0"/>
                <a:ea typeface="Playfair Display" pitchFamily="34" charset="-122"/>
                <a:cs typeface="Playfair Display" pitchFamily="34" charset="-120"/>
              </a:rPr>
              <a:t>Footprint and Wholesale</a:t>
            </a:r>
            <a:endParaRPr lang="en-US" sz="2800" dirty="0"/>
          </a:p>
        </p:txBody>
      </p:sp>
      <p:sp>
        <p:nvSpPr>
          <p:cNvPr id="4" name="pt:4638ad49-b008-46b2-aab0-e9989c80a564"/>
          <p:cNvSpPr/>
          <p:nvPr/>
        </p:nvSpPr>
        <p:spPr>
          <a:xfrm>
            <a:off x="609600" y="1739900"/>
            <a:ext cx="3763433" cy="584200"/>
          </a:xfrm>
          <a:prstGeom prst="chevron">
            <a:avLst/>
          </a:prstGeom>
          <a:solidFill>
            <a:srgbClr val="834634"/>
          </a:solidFill>
          <a:ln/>
        </p:spPr>
      </p:sp>
      <p:sp>
        <p:nvSpPr>
          <p:cNvPr id="5" name="pt:2ae98c4b-3876-41ae-97db-97a7084304d9"/>
          <p:cNvSpPr/>
          <p:nvPr/>
        </p:nvSpPr>
        <p:spPr>
          <a:xfrm>
            <a:off x="863600"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FFFFFF"/>
                </a:solidFill>
                <a:latin typeface="Playfair Display" pitchFamily="34" charset="0"/>
                <a:ea typeface="Playfair Display" pitchFamily="34" charset="-122"/>
                <a:cs typeface="Playfair Display" pitchFamily="34" charset="-120"/>
              </a:rPr>
              <a:t>Phase 1</a:t>
            </a:r>
            <a:endParaRPr lang="en-US" sz="1500" dirty="0"/>
          </a:p>
        </p:txBody>
      </p:sp>
      <p:sp>
        <p:nvSpPr>
          <p:cNvPr id="6" name="pt:761acb8d-a217-4f93-8060-e992aa41f6cc"/>
          <p:cNvSpPr/>
          <p:nvPr/>
        </p:nvSpPr>
        <p:spPr>
          <a:xfrm>
            <a:off x="673100" y="2578100"/>
            <a:ext cx="3598333" cy="3746500"/>
          </a:xfrm>
          <a:prstGeom prst="roundRect">
            <a:avLst>
              <a:gd name="adj" fmla="val 2824"/>
            </a:avLst>
          </a:prstGeom>
          <a:solidFill>
            <a:srgbClr val="F8F0ED">
              <a:alpha val="12000"/>
            </a:srgbClr>
          </a:solidFill>
          <a:ln/>
        </p:spPr>
      </p:sp>
      <p:sp>
        <p:nvSpPr>
          <p:cNvPr id="7" name="pt:6bc6283a-847a-4f21-a3e5-d8cf67c1f2b4"/>
          <p:cNvSpPr/>
          <p:nvPr/>
        </p:nvSpPr>
        <p:spPr>
          <a:xfrm>
            <a:off x="609600" y="2501900"/>
            <a:ext cx="3598333" cy="3746500"/>
          </a:xfrm>
          <a:prstGeom prst="roundRect">
            <a:avLst>
              <a:gd name="adj" fmla="val 2824"/>
            </a:avLst>
          </a:prstGeom>
          <a:solidFill>
            <a:srgbClr val="1B0F0B"/>
          </a:solidFill>
          <a:ln w="12700">
            <a:solidFill>
              <a:srgbClr val="392E2A"/>
            </a:solidFill>
            <a:prstDash val="solid"/>
          </a:ln>
        </p:spPr>
      </p:sp>
      <p:sp>
        <p:nvSpPr>
          <p:cNvPr id="8" name="pt:c40b75bf-18f0-4a09-9efd-ea70aa6c2363"/>
          <p:cNvSpPr/>
          <p:nvPr/>
        </p:nvSpPr>
        <p:spPr>
          <a:xfrm>
            <a:off x="812800" y="2654300"/>
            <a:ext cx="3191933" cy="508000"/>
          </a:xfrm>
          <a:prstGeom prst="rect">
            <a:avLst/>
          </a:prstGeom>
          <a:noFill/>
          <a:ln/>
        </p:spPr>
        <p:txBody>
          <a:bodyPr wrap="square" lIns="0" tIns="0" rIns="0" bIns="0" rtlCol="0" anchor="t"/>
          <a:lstStyle/>
          <a:p>
            <a:pPr algn="l" indent="0" marL="0">
              <a:lnSpc>
                <a:spcPct val="120000"/>
              </a:lnSpc>
              <a:buNone/>
            </a:pPr>
            <a:r>
              <a:rPr lang="en-US" sz="1600" b="1" dirty="0">
                <a:solidFill>
                  <a:srgbClr val="F8F0ED"/>
                </a:solidFill>
                <a:latin typeface="Playfair Display" pitchFamily="34" charset="0"/>
                <a:ea typeface="Playfair Display" pitchFamily="34" charset="-122"/>
                <a:cs typeface="Playfair Display" pitchFamily="34" charset="-120"/>
              </a:rPr>
              <a:t>Store Optimization</a:t>
            </a:r>
            <a:endParaRPr lang="en-US" sz="1600" dirty="0"/>
          </a:p>
        </p:txBody>
      </p:sp>
      <p:sp>
        <p:nvSpPr>
          <p:cNvPr id="9" name="pt:01909585-a608-4356-bf5e-0aed011e4398"/>
          <p:cNvSpPr/>
          <p:nvPr/>
        </p:nvSpPr>
        <p:spPr>
          <a:xfrm>
            <a:off x="812800"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Optimize operations across existing 4 stores</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Deepen local community engagement and loyalty</a:t>
            </a:r>
            <a:endParaRPr lang="en-US" sz="1300" dirty="0"/>
          </a:p>
        </p:txBody>
      </p:sp>
      <p:sp>
        <p:nvSpPr>
          <p:cNvPr id="10" name="pt:7f6b3d0e-f685-434e-b128-4e4f38c03c4b"/>
          <p:cNvSpPr/>
          <p:nvPr/>
        </p:nvSpPr>
        <p:spPr>
          <a:xfrm>
            <a:off x="4296833" y="1739900"/>
            <a:ext cx="3763433" cy="584200"/>
          </a:xfrm>
          <a:prstGeom prst="chevron">
            <a:avLst/>
          </a:prstGeom>
          <a:solidFill>
            <a:srgbClr val="B76148"/>
          </a:solidFill>
          <a:ln/>
        </p:spPr>
      </p:sp>
      <p:sp>
        <p:nvSpPr>
          <p:cNvPr id="11" name="pt:d5e27fe6-9420-499b-94d7-742b5d33b618"/>
          <p:cNvSpPr/>
          <p:nvPr/>
        </p:nvSpPr>
        <p:spPr>
          <a:xfrm>
            <a:off x="4550833"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0B0F1A"/>
                </a:solidFill>
                <a:latin typeface="Playfair Display" pitchFamily="34" charset="0"/>
                <a:ea typeface="Playfair Display" pitchFamily="34" charset="-122"/>
                <a:cs typeface="Playfair Display" pitchFamily="34" charset="-120"/>
              </a:rPr>
              <a:t>Phase 2</a:t>
            </a:r>
            <a:endParaRPr lang="en-US" sz="1500" dirty="0"/>
          </a:p>
        </p:txBody>
      </p:sp>
      <p:sp>
        <p:nvSpPr>
          <p:cNvPr id="12" name="pt:0379aed1-140b-450c-b689-2964b226b8a1"/>
          <p:cNvSpPr/>
          <p:nvPr/>
        </p:nvSpPr>
        <p:spPr>
          <a:xfrm>
            <a:off x="4360333" y="2578100"/>
            <a:ext cx="3598333" cy="3746500"/>
          </a:xfrm>
          <a:prstGeom prst="roundRect">
            <a:avLst>
              <a:gd name="adj" fmla="val 2824"/>
            </a:avLst>
          </a:prstGeom>
          <a:solidFill>
            <a:srgbClr val="F8F0ED">
              <a:alpha val="12000"/>
            </a:srgbClr>
          </a:solidFill>
          <a:ln/>
        </p:spPr>
      </p:sp>
      <p:sp>
        <p:nvSpPr>
          <p:cNvPr id="13" name="pt:564b7f4a-7f17-4d6f-a076-3e658f68fd80"/>
          <p:cNvSpPr/>
          <p:nvPr/>
        </p:nvSpPr>
        <p:spPr>
          <a:xfrm>
            <a:off x="4296833" y="2501900"/>
            <a:ext cx="3598333" cy="3746500"/>
          </a:xfrm>
          <a:prstGeom prst="roundRect">
            <a:avLst>
              <a:gd name="adj" fmla="val 2824"/>
            </a:avLst>
          </a:prstGeom>
          <a:solidFill>
            <a:srgbClr val="1B0F0B"/>
          </a:solidFill>
          <a:ln w="12700">
            <a:solidFill>
              <a:srgbClr val="392E2A"/>
            </a:solidFill>
            <a:prstDash val="solid"/>
          </a:ln>
        </p:spPr>
      </p:sp>
      <p:sp>
        <p:nvSpPr>
          <p:cNvPr id="14" name="pt:6dba9276-3b17-42f2-82e8-836dc462fab3"/>
          <p:cNvSpPr/>
          <p:nvPr/>
        </p:nvSpPr>
        <p:spPr>
          <a:xfrm>
            <a:off x="4500033" y="2654300"/>
            <a:ext cx="3191933" cy="508000"/>
          </a:xfrm>
          <a:prstGeom prst="rect">
            <a:avLst/>
          </a:prstGeom>
          <a:noFill/>
          <a:ln/>
        </p:spPr>
        <p:txBody>
          <a:bodyPr wrap="square" lIns="0" tIns="0" rIns="0" bIns="0" rtlCol="0" anchor="t"/>
          <a:lstStyle/>
          <a:p>
            <a:pPr algn="l" indent="0" marL="0">
              <a:lnSpc>
                <a:spcPct val="120000"/>
              </a:lnSpc>
              <a:buNone/>
            </a:pPr>
            <a:r>
              <a:rPr lang="en-US" sz="1600" b="1" dirty="0">
                <a:solidFill>
                  <a:srgbClr val="F8F0ED"/>
                </a:solidFill>
                <a:latin typeface="Playfair Display" pitchFamily="34" charset="0"/>
                <a:ea typeface="Playfair Display" pitchFamily="34" charset="-122"/>
                <a:cs typeface="Playfair Display" pitchFamily="34" charset="-120"/>
              </a:rPr>
              <a:t>Retail Expansion</a:t>
            </a:r>
            <a:endParaRPr lang="en-US" sz="1600" dirty="0"/>
          </a:p>
        </p:txBody>
      </p:sp>
      <p:sp>
        <p:nvSpPr>
          <p:cNvPr id="15" name="pt:28eccbe5-8070-43ea-aff4-865433ba08ba"/>
          <p:cNvSpPr/>
          <p:nvPr/>
        </p:nvSpPr>
        <p:spPr>
          <a:xfrm>
            <a:off x="4500033"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Identify high-footfall sites in adjacent neighborhoods</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Open new retail store locations</a:t>
            </a:r>
            <a:endParaRPr lang="en-US" sz="1300" dirty="0"/>
          </a:p>
        </p:txBody>
      </p:sp>
      <p:sp>
        <p:nvSpPr>
          <p:cNvPr id="16" name="pt:b503bb30-ad05-4674-99ca-13dba3c81123"/>
          <p:cNvSpPr/>
          <p:nvPr/>
        </p:nvSpPr>
        <p:spPr>
          <a:xfrm>
            <a:off x="7984067" y="1739900"/>
            <a:ext cx="3598333" cy="584200"/>
          </a:xfrm>
          <a:prstGeom prst="chevron">
            <a:avLst/>
          </a:prstGeom>
          <a:solidFill>
            <a:srgbClr val="EA7C5C"/>
          </a:solidFill>
          <a:ln/>
        </p:spPr>
      </p:sp>
      <p:sp>
        <p:nvSpPr>
          <p:cNvPr id="17" name="pt:6eb7c926-3b50-40d1-a336-5779246eded3"/>
          <p:cNvSpPr/>
          <p:nvPr/>
        </p:nvSpPr>
        <p:spPr>
          <a:xfrm>
            <a:off x="8238067"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0B0F1A"/>
                </a:solidFill>
                <a:latin typeface="Playfair Display" pitchFamily="34" charset="0"/>
                <a:ea typeface="Playfair Display" pitchFamily="34" charset="-122"/>
                <a:cs typeface="Playfair Display" pitchFamily="34" charset="-120"/>
              </a:rPr>
              <a:t>Phase 3</a:t>
            </a:r>
            <a:endParaRPr lang="en-US" sz="1500" dirty="0"/>
          </a:p>
        </p:txBody>
      </p:sp>
      <p:sp>
        <p:nvSpPr>
          <p:cNvPr id="18" name="pt:425a6ff8-f9c6-4004-8427-a39840080de1"/>
          <p:cNvSpPr/>
          <p:nvPr/>
        </p:nvSpPr>
        <p:spPr>
          <a:xfrm>
            <a:off x="8047567" y="2578100"/>
            <a:ext cx="3598333" cy="3746500"/>
          </a:xfrm>
          <a:prstGeom prst="roundRect">
            <a:avLst>
              <a:gd name="adj" fmla="val 2824"/>
            </a:avLst>
          </a:prstGeom>
          <a:solidFill>
            <a:srgbClr val="F8F0ED">
              <a:alpha val="12000"/>
            </a:srgbClr>
          </a:solidFill>
          <a:ln/>
        </p:spPr>
      </p:sp>
      <p:sp>
        <p:nvSpPr>
          <p:cNvPr id="19" name="pt:4420237b-eccd-424b-b0c4-8c7ed26e5f94"/>
          <p:cNvSpPr/>
          <p:nvPr/>
        </p:nvSpPr>
        <p:spPr>
          <a:xfrm>
            <a:off x="7984067" y="2501900"/>
            <a:ext cx="3598333" cy="3746500"/>
          </a:xfrm>
          <a:prstGeom prst="roundRect">
            <a:avLst>
              <a:gd name="adj" fmla="val 2824"/>
            </a:avLst>
          </a:prstGeom>
          <a:solidFill>
            <a:srgbClr val="1B0F0B"/>
          </a:solidFill>
          <a:ln w="12700">
            <a:solidFill>
              <a:srgbClr val="392E2A"/>
            </a:solidFill>
            <a:prstDash val="solid"/>
          </a:ln>
        </p:spPr>
      </p:sp>
      <p:sp>
        <p:nvSpPr>
          <p:cNvPr id="20" name="pt:08fc5f48-a73f-4acb-ad84-af525ec3a064"/>
          <p:cNvSpPr/>
          <p:nvPr/>
        </p:nvSpPr>
        <p:spPr>
          <a:xfrm>
            <a:off x="8187267" y="2654300"/>
            <a:ext cx="3191933" cy="508000"/>
          </a:xfrm>
          <a:prstGeom prst="rect">
            <a:avLst/>
          </a:prstGeom>
          <a:noFill/>
          <a:ln/>
        </p:spPr>
        <p:txBody>
          <a:bodyPr wrap="square" lIns="0" tIns="0" rIns="0" bIns="0" rtlCol="0" anchor="t"/>
          <a:lstStyle/>
          <a:p>
            <a:pPr algn="l" indent="0" marL="0">
              <a:lnSpc>
                <a:spcPct val="120000"/>
              </a:lnSpc>
              <a:buNone/>
            </a:pPr>
            <a:r>
              <a:rPr lang="en-US" sz="1600" b="1" dirty="0">
                <a:solidFill>
                  <a:srgbClr val="F8F0ED"/>
                </a:solidFill>
                <a:latin typeface="Playfair Display" pitchFamily="34" charset="0"/>
                <a:ea typeface="Playfair Display" pitchFamily="34" charset="-122"/>
                <a:cs typeface="Playfair Display" pitchFamily="34" charset="-120"/>
              </a:rPr>
              <a:t>Wholesale Scaling</a:t>
            </a:r>
            <a:endParaRPr lang="en-US" sz="1600" dirty="0"/>
          </a:p>
        </p:txBody>
      </p:sp>
      <p:sp>
        <p:nvSpPr>
          <p:cNvPr id="21" name="pt:16bfc634-4926-40ee-b5e8-3b3cce518607"/>
          <p:cNvSpPr/>
          <p:nvPr/>
        </p:nvSpPr>
        <p:spPr>
          <a:xfrm>
            <a:off x="8187267"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Target local offices, restaurants, and grocers</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Build recurring wholesale revenue channels</a:t>
            </a:r>
            <a:endParaRPr lang="en-US" sz="1300" dirty="0"/>
          </a:p>
        </p:txBody>
      </p:sp>
      <p:sp>
        <p:nvSpPr>
          <p:cNvPr id="22" name="pt:3f1320d5-d5fa-4e86-8690-e8ffcf536b1f"/>
          <p:cNvSpPr/>
          <p:nvPr/>
        </p:nvSpPr>
        <p:spPr>
          <a:xfrm>
            <a:off x="546100" y="6305550"/>
            <a:ext cx="1231900" cy="495300"/>
          </a:xfrm>
          <a:prstGeom prst="roundRect">
            <a:avLst>
              <a:gd name="adj" fmla="val 12821"/>
            </a:avLst>
          </a:prstGeom>
          <a:solidFill>
            <a:srgbClr val="FFFFFF"/>
          </a:solidFill>
          <a:ln/>
        </p:spPr>
      </p:sp>
      <p:pic>
        <p:nvPicPr>
          <p:cNvPr id="23" name="pt:6fd7ece0-19c8-4a24-9c0d-d2ceb51c6063" descr="Journey logo">    </p:cNvPr>
          <p:cNvPicPr>
            <a:picLocks noChangeAspect="1"/>
          </p:cNvPicPr>
          <p:nvPr/>
        </p:nvPicPr>
        <p:blipFill>
          <a:blip r:embed="rId1"/>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71"/>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animScale>
                                      <p:cBhvr>
                                        <p:cTn id="11" dur="450" fill="hold"/>
                                        <p:tgtEl>
                                          <p:spTgt spid="4"/>
                                        </p:tgtEl>
                                      </p:cBhvr>
                                      <p:from x="88000" y="88000"/>
                                      <p:to x="100000" y="100000"/>
                                    </p:animScale>
                                  </p:childTnLst>
                                </p:cTn>
                              </p:par>
                              <p:par>
                                <p:cTn id="16" presetID="53" presetClass="entr" presetSubtype="16" fill="hold" decel="100000" nodeType="withEffect">
                                  <p:stCondLst>
                                    <p:cond delay="143"/>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Scale>
                                      <p:cBhvr>
                                        <p:cTn id="15" dur="450" fill="hold"/>
                                        <p:tgtEl>
                                          <p:spTgt spid="7"/>
                                        </p:tgtEl>
                                      </p:cBhvr>
                                      <p:from x="88000" y="88000"/>
                                      <p:to x="100000" y="100000"/>
                                    </p:animScale>
                                  </p:childTnLst>
                                </p:cTn>
                              </p:par>
                              <p:par>
                                <p:cTn id="20" presetID="53" presetClass="entr" presetSubtype="16" fill="hold" decel="100000" grpId="0" nodeType="withEffect">
                                  <p:stCondLst>
                                    <p:cond delay="214"/>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fade">
                                      <p:cBhvr>
                                        <p:cTn id="18" dur="450"/>
                                        <p:tgtEl>
                                          <p:spTgt spid="9">
                                            <p:txEl>
                                              <p:pRg st="0" end="0"/>
                                            </p:txEl>
                                          </p:spTgt>
                                        </p:tgtEl>
                                      </p:cBhvr>
                                    </p:animEffect>
                                    <p:animScale>
                                      <p:cBhvr>
                                        <p:cTn id="19" dur="450" fill="hold"/>
                                        <p:tgtEl>
                                          <p:spTgt spid="9">
                                            <p:txEl>
                                              <p:pRg st="0" end="0"/>
                                            </p:txEl>
                                          </p:spTgt>
                                        </p:tgtEl>
                                      </p:cBhvr>
                                      <p:from x="88000" y="88000"/>
                                      <p:to x="100000" y="100000"/>
                                    </p:animScale>
                                  </p:childTnLst>
                                </p:cTn>
                              </p:par>
                              <p:par>
                                <p:cTn id="24" presetID="53" presetClass="entr" presetSubtype="16" fill="hold" decel="100000" grpId="0" nodeType="withEffect">
                                  <p:stCondLst>
                                    <p:cond delay="271"/>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fade">
                                      <p:cBhvr>
                                        <p:cTn id="22" dur="450"/>
                                        <p:tgtEl>
                                          <p:spTgt spid="9">
                                            <p:txEl>
                                              <p:pRg st="1" end="1"/>
                                            </p:txEl>
                                          </p:spTgt>
                                        </p:tgtEl>
                                      </p:cBhvr>
                                    </p:animEffect>
                                    <p:animScale>
                                      <p:cBhvr>
                                        <p:cTn id="23" dur="450" fill="hold"/>
                                        <p:tgtEl>
                                          <p:spTgt spid="9">
                                            <p:txEl>
                                              <p:pRg st="1" end="1"/>
                                            </p:txEl>
                                          </p:spTgt>
                                        </p:tgtEl>
                                      </p:cBhvr>
                                      <p:from x="88000" y="88000"/>
                                      <p:to x="100000" y="100000"/>
                                    </p:animScale>
                                  </p:childTnLst>
                                </p:cTn>
                              </p:par>
                              <p:par>
                                <p:cTn id="28" presetID="53" presetClass="entr" presetSubtype="16" fill="hold" decel="100000" nodeType="withEffect">
                                  <p:stCondLst>
                                    <p:cond delay="286"/>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animScale>
                                      <p:cBhvr>
                                        <p:cTn id="27" dur="450" fill="hold"/>
                                        <p:tgtEl>
                                          <p:spTgt spid="10"/>
                                        </p:tgtEl>
                                      </p:cBhvr>
                                      <p:from x="88000" y="88000"/>
                                      <p:to x="100000" y="100000"/>
                                    </p:animScale>
                                  </p:childTnLst>
                                </p:cTn>
                              </p:par>
                              <p:par>
                                <p:cTn id="32" presetID="53" presetClass="entr" presetSubtype="16" fill="hold" decel="100000" nodeType="withEffect">
                                  <p:stCondLst>
                                    <p:cond delay="357"/>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animScale>
                                      <p:cBhvr>
                                        <p:cTn id="31" dur="450" fill="hold"/>
                                        <p:tgtEl>
                                          <p:spTgt spid="13"/>
                                        </p:tgtEl>
                                      </p:cBhvr>
                                      <p:from x="88000" y="88000"/>
                                      <p:to x="100000" y="100000"/>
                                    </p:animScale>
                                  </p:childTnLst>
                                </p:cTn>
                              </p:par>
                              <p:par>
                                <p:cTn id="36" presetID="53" presetClass="entr" presetSubtype="16" fill="hold" decel="100000" grpId="0" nodeType="withEffect">
                                  <p:stCondLst>
                                    <p:cond delay="429"/>
                                  </p:stCondLst>
                                  <p:childTnLst>
                                    <p:set>
                                      <p:cBhvr>
                                        <p:cTn id="33" dur="1" fill="hold">
                                          <p:stCondLst>
                                            <p:cond delay="0"/>
                                          </p:stCondLst>
                                        </p:cTn>
                                        <p:tgtEl>
                                          <p:spTgt spid="15">
                                            <p:txEl>
                                              <p:pRg st="0" end="0"/>
                                            </p:txEl>
                                          </p:spTgt>
                                        </p:tgtEl>
                                        <p:attrNameLst>
                                          <p:attrName>style.visibility</p:attrName>
                                        </p:attrNameLst>
                                      </p:cBhvr>
                                      <p:to>
                                        <p:strVal val="visible"/>
                                      </p:to>
                                    </p:set>
                                    <p:animEffect transition="in" filter="fade">
                                      <p:cBhvr>
                                        <p:cTn id="34" dur="450"/>
                                        <p:tgtEl>
                                          <p:spTgt spid="15">
                                            <p:txEl>
                                              <p:pRg st="0" end="0"/>
                                            </p:txEl>
                                          </p:spTgt>
                                        </p:tgtEl>
                                      </p:cBhvr>
                                    </p:animEffect>
                                    <p:animScale>
                                      <p:cBhvr>
                                        <p:cTn id="35" dur="450" fill="hold"/>
                                        <p:tgtEl>
                                          <p:spTgt spid="15">
                                            <p:txEl>
                                              <p:pRg st="0" end="0"/>
                                            </p:txEl>
                                          </p:spTgt>
                                        </p:tgtEl>
                                      </p:cBhvr>
                                      <p:from x="88000" y="88000"/>
                                      <p:to x="100000" y="100000"/>
                                    </p:animScale>
                                  </p:childTnLst>
                                </p:cTn>
                              </p:par>
                              <p:par>
                                <p:cTn id="40" presetID="53" presetClass="entr" presetSubtype="16" fill="hold" decel="100000" grpId="0" nodeType="withEffect">
                                  <p:stCondLst>
                                    <p:cond delay="486"/>
                                  </p:stCondLst>
                                  <p:childTnLst>
                                    <p:set>
                                      <p:cBhvr>
                                        <p:cTn id="37" dur="1" fill="hold">
                                          <p:stCondLst>
                                            <p:cond delay="0"/>
                                          </p:stCondLst>
                                        </p:cTn>
                                        <p:tgtEl>
                                          <p:spTgt spid="15">
                                            <p:txEl>
                                              <p:pRg st="1" end="1"/>
                                            </p:txEl>
                                          </p:spTgt>
                                        </p:tgtEl>
                                        <p:attrNameLst>
                                          <p:attrName>style.visibility</p:attrName>
                                        </p:attrNameLst>
                                      </p:cBhvr>
                                      <p:to>
                                        <p:strVal val="visible"/>
                                      </p:to>
                                    </p:set>
                                    <p:animEffect transition="in" filter="fade">
                                      <p:cBhvr>
                                        <p:cTn id="38" dur="450"/>
                                        <p:tgtEl>
                                          <p:spTgt spid="15">
                                            <p:txEl>
                                              <p:pRg st="1" end="1"/>
                                            </p:txEl>
                                          </p:spTgt>
                                        </p:tgtEl>
                                      </p:cBhvr>
                                    </p:animEffect>
                                    <p:animScale>
                                      <p:cBhvr>
                                        <p:cTn id="39" dur="450" fill="hold"/>
                                        <p:tgtEl>
                                          <p:spTgt spid="15">
                                            <p:txEl>
                                              <p:pRg st="1" end="1"/>
                                            </p:txEl>
                                          </p:spTgt>
                                        </p:tgtEl>
                                      </p:cBhvr>
                                      <p:from x="88000" y="88000"/>
                                      <p:to x="100000" y="100000"/>
                                    </p:animScale>
                                  </p:childTnLst>
                                </p:cTn>
                              </p:par>
                              <p:par>
                                <p:cTn id="44" presetID="53" presetClass="entr" presetSubtype="16" fill="hold" decel="100000" nodeType="withEffect">
                                  <p:stCondLst>
                                    <p:cond delay="5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animScale>
                                      <p:cBhvr>
                                        <p:cTn id="43" dur="450" fill="hold"/>
                                        <p:tgtEl>
                                          <p:spTgt spid="16"/>
                                        </p:tgtEl>
                                      </p:cBhvr>
                                      <p:from x="88000" y="88000"/>
                                      <p:to x="100000" y="100000"/>
                                    </p:animScale>
                                  </p:childTnLst>
                                </p:cTn>
                              </p:par>
                              <p:par>
                                <p:cTn id="48" presetID="53" presetClass="entr" presetSubtype="16" fill="hold" decel="100000" nodeType="withEffect">
                                  <p:stCondLst>
                                    <p:cond delay="571"/>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animScale>
                                      <p:cBhvr>
                                        <p:cTn id="47" dur="450" fill="hold"/>
                                        <p:tgtEl>
                                          <p:spTgt spid="19"/>
                                        </p:tgtEl>
                                      </p:cBhvr>
                                      <p:from x="88000" y="88000"/>
                                      <p:to x="100000" y="100000"/>
                                    </p:animScale>
                                  </p:childTnLst>
                                </p:cTn>
                              </p:par>
                              <p:par>
                                <p:cTn id="52" presetID="53" presetClass="entr" presetSubtype="16" fill="hold" decel="100000" grpId="0" nodeType="withEffect">
                                  <p:stCondLst>
                                    <p:cond delay="643"/>
                                  </p:stCondLst>
                                  <p:childTnLst>
                                    <p:set>
                                      <p:cBhvr>
                                        <p:cTn id="49" dur="1" fill="hold">
                                          <p:stCondLst>
                                            <p:cond delay="0"/>
                                          </p:stCondLst>
                                        </p:cTn>
                                        <p:tgtEl>
                                          <p:spTgt spid="21">
                                            <p:txEl>
                                              <p:pRg st="0" end="0"/>
                                            </p:txEl>
                                          </p:spTgt>
                                        </p:tgtEl>
                                        <p:attrNameLst>
                                          <p:attrName>style.visibility</p:attrName>
                                        </p:attrNameLst>
                                      </p:cBhvr>
                                      <p:to>
                                        <p:strVal val="visible"/>
                                      </p:to>
                                    </p:set>
                                    <p:animEffect transition="in" filter="fade">
                                      <p:cBhvr>
                                        <p:cTn id="50" dur="450"/>
                                        <p:tgtEl>
                                          <p:spTgt spid="21">
                                            <p:txEl>
                                              <p:pRg st="0" end="0"/>
                                            </p:txEl>
                                          </p:spTgt>
                                        </p:tgtEl>
                                      </p:cBhvr>
                                    </p:animEffect>
                                    <p:animScale>
                                      <p:cBhvr>
                                        <p:cTn id="51" dur="450" fill="hold"/>
                                        <p:tgtEl>
                                          <p:spTgt spid="21">
                                            <p:txEl>
                                              <p:pRg st="0" end="0"/>
                                            </p:txEl>
                                          </p:spTgt>
                                        </p:tgtEl>
                                      </p:cBhvr>
                                      <p:from x="88000" y="88000"/>
                                      <p:to x="100000" y="100000"/>
                                    </p:animScale>
                                  </p:childTnLst>
                                </p:cTn>
                              </p:par>
                              <p:par>
                                <p:cTn id="56" presetID="53" presetClass="entr" presetSubtype="16" fill="hold" decel="100000" grpId="0" nodeType="withEffect">
                                  <p:stCondLst>
                                    <p:cond delay="700"/>
                                  </p:stCondLst>
                                  <p:childTnLst>
                                    <p:set>
                                      <p:cBhvr>
                                        <p:cTn id="53" dur="1" fill="hold">
                                          <p:stCondLst>
                                            <p:cond delay="0"/>
                                          </p:stCondLst>
                                        </p:cTn>
                                        <p:tgtEl>
                                          <p:spTgt spid="21">
                                            <p:txEl>
                                              <p:pRg st="1" end="1"/>
                                            </p:txEl>
                                          </p:spTgt>
                                        </p:tgtEl>
                                        <p:attrNameLst>
                                          <p:attrName>style.visibility</p:attrName>
                                        </p:attrNameLst>
                                      </p:cBhvr>
                                      <p:to>
                                        <p:strVal val="visible"/>
                                      </p:to>
                                    </p:set>
                                    <p:animEffect transition="in" filter="fade">
                                      <p:cBhvr>
                                        <p:cTn id="54" dur="450"/>
                                        <p:tgtEl>
                                          <p:spTgt spid="21">
                                            <p:txEl>
                                              <p:pRg st="1" end="1"/>
                                            </p:txEl>
                                          </p:spTgt>
                                        </p:tgtEl>
                                      </p:cBhvr>
                                    </p:animEffect>
                                    <p:animScale>
                                      <p:cBhvr>
                                        <p:cTn id="55" dur="450" fill="hold"/>
                                        <p:tgtEl>
                                          <p:spTgt spid="21">
                                            <p:txEl>
                                              <p:pRg st="1" end="1"/>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5" grpId="0" build="p"/>
      <p:bldP spid="2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0F0B"/>
        </a:solidFill>
      </p:bgPr>
    </p:bg>
    <p:spTree>
      <p:nvGrpSpPr>
        <p:cNvPr id="1" name=""/>
        <p:cNvGrpSpPr/>
        <p:nvPr/>
      </p:nvGrpSpPr>
      <p:grpSpPr>
        <a:xfrm>
          <a:off x="0" y="0"/>
          <a:ext cx="0" cy="0"/>
          <a:chOff x="0" y="0"/>
          <a:chExt cx="0" cy="0"/>
        </a:xfrm>
      </p:grpSpPr>
      <p:sp>
        <p:nvSpPr>
          <p:cNvPr id="2" name="pt:58be4e59-9d3a-4da1-88cb-18e133b1b2a8"/>
          <p:cNvSpPr/>
          <p:nvPr/>
        </p:nvSpPr>
        <p:spPr>
          <a:xfrm>
            <a:off x="0" y="304800"/>
            <a:ext cx="12192000" cy="12700"/>
          </a:xfrm>
          <a:prstGeom prst="rect">
            <a:avLst/>
          </a:prstGeom>
          <a:solidFill>
            <a:srgbClr val="392E2A"/>
          </a:solidFill>
          <a:ln/>
        </p:spPr>
      </p:sp>
      <p:sp>
        <p:nvSpPr>
          <p:cNvPr id="3" name="pt:8c5c1bfc-f83c-4b17-8d96-5b128996b8b1"/>
          <p:cNvSpPr/>
          <p:nvPr/>
        </p:nvSpPr>
        <p:spPr>
          <a:xfrm>
            <a:off x="609600" y="660400"/>
            <a:ext cx="5283200" cy="952500"/>
          </a:xfrm>
          <a:prstGeom prst="rect">
            <a:avLst/>
          </a:prstGeom>
          <a:noFill/>
          <a:ln/>
        </p:spPr>
        <p:txBody>
          <a:bodyPr wrap="square" lIns="0" tIns="0" rIns="0" bIns="0" rtlCol="0" anchor="ctr"/>
          <a:lstStyle/>
          <a:p>
            <a:pPr algn="l" indent="0" marL="0">
              <a:lnSpc>
                <a:spcPct val="120000"/>
              </a:lnSpc>
              <a:buNone/>
            </a:pPr>
            <a:r>
              <a:rPr lang="en-US" sz="2500" b="1" dirty="0">
                <a:solidFill>
                  <a:srgbClr val="F8F0ED"/>
                </a:solidFill>
                <a:latin typeface="Playfair Display" pitchFamily="34" charset="0"/>
                <a:ea typeface="Playfair Display" pitchFamily="34" charset="-122"/>
                <a:cs typeface="Playfair Display" pitchFamily="34" charset="-120"/>
              </a:rPr>
              <a:t>Financial Overview: Solid Foundation </a:t>
            </a:r>
            <a:pPr algn="l" indent="0" marL="0">
              <a:lnSpc>
                <a:spcPct val="120000"/>
              </a:lnSpc>
              <a:buNone/>
            </a:pPr>
            <a:r>
              <a:rPr lang="en-US" sz="2500" b="1" dirty="0">
                <a:solidFill>
                  <a:srgbClr val="17BEBB"/>
                </a:solidFill>
                <a:latin typeface="Playfair Display" pitchFamily="34" charset="0"/>
                <a:ea typeface="Playfair Display" pitchFamily="34" charset="-122"/>
                <a:cs typeface="Playfair Display" pitchFamily="34" charset="-120"/>
              </a:rPr>
              <a:t>Across 4 Locations</a:t>
            </a:r>
            <a:endParaRPr lang="en-US" sz="2500" dirty="0"/>
          </a:p>
        </p:txBody>
      </p:sp>
      <p:sp>
        <p:nvSpPr>
          <p:cNvPr id="4" name="pt:020b6ed3-39d6-4f94-91eb-76ef7cfde171"/>
          <p:cNvSpPr/>
          <p:nvPr/>
        </p:nvSpPr>
        <p:spPr>
          <a:xfrm>
            <a:off x="609600" y="1739900"/>
            <a:ext cx="5283200" cy="45085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Strong store-level profitability maintained across all 4 operating locations</a:t>
            </a:r>
            <a:endParaRPr lang="en-US" sz="1600" dirty="0"/>
          </a:p>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High gross margins sustained through in-house craft roasting operations</a:t>
            </a:r>
            <a:endParaRPr lang="en-US" sz="1600" dirty="0"/>
          </a:p>
          <a:p>
            <a:pPr algn="l" marL="342900" indent="-342900">
              <a:lnSpc>
                <a:spcPct val="120000"/>
              </a:lnSpc>
              <a:buSzPct val="100000"/>
              <a:buChar char="•"/>
            </a:pPr>
            <a:r>
              <a:rPr lang="en-US" sz="1600" dirty="0">
                <a:solidFill>
                  <a:srgbClr val="F8F0ED"/>
                </a:solidFill>
                <a:latin typeface="Lora" pitchFamily="34" charset="0"/>
                <a:ea typeface="Lora" pitchFamily="34" charset="-122"/>
                <a:cs typeface="Lora" pitchFamily="34" charset="-120"/>
              </a:rPr>
              <a:t>Consistent customer retention supported by growing average transaction value</a:t>
            </a:r>
            <a:endParaRPr lang="en-US" sz="1600" dirty="0"/>
          </a:p>
        </p:txBody>
      </p:sp>
      <p:pic>
        <p:nvPicPr>
          <p:cNvPr id="5" name="pt:0b213027-8a25-47c8-876f-5996c0bfbf43" descr="Artisanal packaged coffee bags on a clean cafe counter">    </p:cNvPr>
          <p:cNvPicPr>
            <a:picLocks noChangeAspect="1"/>
          </p:cNvPicPr>
          <p:nvPr/>
        </p:nvPicPr>
        <p:blipFill>
          <a:blip r:embed="rId1"/>
          <a:srcRect l="0" r="0" t="0" b="0"/>
          <a:stretch/>
        </p:blipFill>
        <p:spPr>
          <a:xfrm>
            <a:off x="6299200" y="609600"/>
            <a:ext cx="5283200" cy="5638800"/>
          </a:xfrm>
          <a:prstGeom prst="rect">
            <a:avLst/>
          </a:prstGeom>
        </p:spPr>
      </p:pic>
      <p:sp>
        <p:nvSpPr>
          <p:cNvPr id="6" name="pt:3ab47cc6-0210-453f-bee3-dabd3b2bbcd3"/>
          <p:cNvSpPr/>
          <p:nvPr/>
        </p:nvSpPr>
        <p:spPr>
          <a:xfrm>
            <a:off x="546100" y="6305550"/>
            <a:ext cx="1231900" cy="495300"/>
          </a:xfrm>
          <a:prstGeom prst="roundRect">
            <a:avLst>
              <a:gd name="adj" fmla="val 12821"/>
            </a:avLst>
          </a:prstGeom>
          <a:solidFill>
            <a:srgbClr val="FFFFFF"/>
          </a:solidFill>
          <a:ln/>
        </p:spPr>
      </p:sp>
      <p:pic>
        <p:nvPicPr>
          <p:cNvPr id="7" name="pt:09b042d9-fdbf-4920-b67e-9ec259e2b0ed" descr="Journey logo">    </p:cNvPr>
          <p:cNvPicPr>
            <a:picLocks noChangeAspect="1"/>
          </p:cNvPicPr>
          <p:nvPr/>
        </p:nvPicPr>
        <p:blipFill>
          <a:blip r:embed="rId2"/>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grpId="0" nodeType="withEffect">
                                  <p:stCondLst>
                                    <p:cond delay="1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Scale>
                                      <p:cBhvr>
                                        <p:cTn id="11" dur="450" fill="hold"/>
                                        <p:tgtEl>
                                          <p:spTgt spid="4">
                                            <p:txEl>
                                              <p:pRg st="0" end="0"/>
                                            </p:txEl>
                                          </p:spTgt>
                                        </p:tgtEl>
                                      </p:cBhvr>
                                      <p:from x="88000" y="88000"/>
                                      <p:to x="100000" y="100000"/>
                                    </p:animScale>
                                  </p:childTnLst>
                                </p:cTn>
                              </p:par>
                              <p:par>
                                <p:cTn id="16" presetID="53" presetClass="entr" presetSubtype="16" fill="hold" decel="100000" grpId="0" nodeType="withEffect">
                                  <p:stCondLst>
                                    <p:cond delay="18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Scale>
                                      <p:cBhvr>
                                        <p:cTn id="15" dur="450" fill="hold"/>
                                        <p:tgtEl>
                                          <p:spTgt spid="4">
                                            <p:txEl>
                                              <p:pRg st="1" end="1"/>
                                            </p:txEl>
                                          </p:spTgt>
                                        </p:tgtEl>
                                      </p:cBhvr>
                                      <p:from x="88000" y="88000"/>
                                      <p:to x="100000" y="100000"/>
                                    </p:animScale>
                                  </p:childTnLst>
                                </p:cTn>
                              </p:par>
                              <p:par>
                                <p:cTn id="20" presetID="53" presetClass="entr" presetSubtype="16" fill="hold" decel="100000" grpId="0" nodeType="withEffect">
                                  <p:stCondLst>
                                    <p:cond delay="26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Scale>
                                      <p:cBhvr>
                                        <p:cTn id="19" dur="450" fill="hold"/>
                                        <p:tgtEl>
                                          <p:spTgt spid="4">
                                            <p:txEl>
                                              <p:pRg st="2" end="2"/>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0C09"/>
        </a:solidFill>
      </p:bgPr>
    </p:bg>
    <p:spTree>
      <p:nvGrpSpPr>
        <p:cNvPr id="1" name=""/>
        <p:cNvGrpSpPr/>
        <p:nvPr/>
      </p:nvGrpSpPr>
      <p:grpSpPr>
        <a:xfrm>
          <a:off x="0" y="0"/>
          <a:ext cx="0" cy="0"/>
          <a:chOff x="0" y="0"/>
          <a:chExt cx="0" cy="0"/>
        </a:xfrm>
      </p:grpSpPr>
      <p:pic>
        <p:nvPicPr>
          <p:cNvPr id="2" name="pt:a4dc0ad6-9bb1-4ea3-a491-8c644c6c3f4f" descr="a coffee shop with lots of coffee machines">    </p:cNvPr>
          <p:cNvPicPr>
            <a:picLocks noChangeAspect="1"/>
          </p:cNvPicPr>
          <p:nvPr/>
        </p:nvPicPr>
        <p:blipFill>
          <a:blip r:embed="rId1"/>
          <a:srcRect l="0" r="0" t="0" b="0"/>
          <a:stretch/>
        </p:blipFill>
        <p:spPr>
          <a:xfrm>
            <a:off x="0" y="0"/>
            <a:ext cx="12192000" cy="6858000"/>
          </a:xfrm>
          <a:prstGeom prst="rect">
            <a:avLst/>
          </a:prstGeom>
        </p:spPr>
      </p:pic>
      <p:pic>
        <p:nvPicPr>
          <p:cNvPr id="3" name="pt:a4dc0ad6-9bb1-4ea3-a491-8c644c6c3f4f" descr="preencoded.png">    </p:cNvPr>
          <p:cNvPicPr>
            <a:picLocks noChangeAspect="1"/>
          </p:cNvPicPr>
          <p:nvPr/>
        </p:nvPicPr>
        <p:blipFill>
          <a:blip r:embed="rId2"/>
          <a:stretch>
            <a:fillRect/>
          </a:stretch>
        </p:blipFill>
        <p:spPr>
          <a:xfrm>
            <a:off x="0" y="0"/>
            <a:ext cx="12192000" cy="6858000"/>
          </a:xfrm>
          <a:prstGeom prst="rect">
            <a:avLst/>
          </a:prstGeom>
        </p:spPr>
      </p:pic>
      <p:sp>
        <p:nvSpPr>
          <p:cNvPr id="4" name="pt:2a0bf88f-c5b9-47b1-8e39-41421cb3b78f"/>
          <p:cNvSpPr/>
          <p:nvPr/>
        </p:nvSpPr>
        <p:spPr>
          <a:xfrm rot="-2700000">
            <a:off x="7507182" y="1521883"/>
            <a:ext cx="5349240" cy="31750"/>
          </a:xfrm>
          <a:prstGeom prst="rect">
            <a:avLst/>
          </a:prstGeom>
          <a:solidFill>
            <a:srgbClr val="17BEBB">
              <a:alpha val="85000"/>
            </a:srgbClr>
          </a:solidFill>
          <a:ln/>
        </p:spPr>
      </p:sp>
      <p:sp>
        <p:nvSpPr>
          <p:cNvPr id="5" name="pt:c63bffbb-39ea-49b0-8caf-021144e183df"/>
          <p:cNvSpPr/>
          <p:nvPr/>
        </p:nvSpPr>
        <p:spPr>
          <a:xfrm rot="2700000">
            <a:off x="7507182" y="5304367"/>
            <a:ext cx="5349240" cy="31750"/>
          </a:xfrm>
          <a:prstGeom prst="rect">
            <a:avLst/>
          </a:prstGeom>
          <a:solidFill>
            <a:srgbClr val="17BEBB">
              <a:alpha val="85000"/>
            </a:srgbClr>
          </a:solidFill>
          <a:ln/>
        </p:spPr>
      </p:sp>
      <p:sp>
        <p:nvSpPr>
          <p:cNvPr id="6" name="pt:7396c828-0898-4a0b-99b0-f801eb4bfa86"/>
          <p:cNvSpPr/>
          <p:nvPr/>
        </p:nvSpPr>
        <p:spPr>
          <a:xfrm rot="-2700000">
            <a:off x="7723082" y="1521883"/>
            <a:ext cx="5349240" cy="31750"/>
          </a:xfrm>
          <a:prstGeom prst="rect">
            <a:avLst/>
          </a:prstGeom>
          <a:solidFill>
            <a:srgbClr val="FFFFFF">
              <a:alpha val="80000"/>
            </a:srgbClr>
          </a:solidFill>
          <a:ln/>
        </p:spPr>
      </p:sp>
      <p:sp>
        <p:nvSpPr>
          <p:cNvPr id="7" name="pt:c26c358c-b5e4-42bf-b248-b571f3a804fe"/>
          <p:cNvSpPr/>
          <p:nvPr/>
        </p:nvSpPr>
        <p:spPr>
          <a:xfrm rot="2700000">
            <a:off x="7723082" y="5304367"/>
            <a:ext cx="5349240" cy="31750"/>
          </a:xfrm>
          <a:prstGeom prst="rect">
            <a:avLst/>
          </a:prstGeom>
          <a:solidFill>
            <a:srgbClr val="FFFFFF">
              <a:alpha val="80000"/>
            </a:srgbClr>
          </a:solidFill>
          <a:ln/>
        </p:spPr>
      </p:sp>
      <p:sp>
        <p:nvSpPr>
          <p:cNvPr id="8" name="pt:a6db7205-a947-4f8d-b2e1-f33c1123a9da"/>
          <p:cNvSpPr/>
          <p:nvPr/>
        </p:nvSpPr>
        <p:spPr>
          <a:xfrm rot="-2700000">
            <a:off x="7938982" y="1521883"/>
            <a:ext cx="5349240" cy="31750"/>
          </a:xfrm>
          <a:prstGeom prst="rect">
            <a:avLst/>
          </a:prstGeom>
          <a:solidFill>
            <a:srgbClr val="FFFFFF">
              <a:alpha val="75000"/>
            </a:srgbClr>
          </a:solidFill>
          <a:ln/>
        </p:spPr>
      </p:sp>
      <p:sp>
        <p:nvSpPr>
          <p:cNvPr id="9" name="pt:a9ee8cee-ed32-42b1-bed7-787fba487096"/>
          <p:cNvSpPr/>
          <p:nvPr/>
        </p:nvSpPr>
        <p:spPr>
          <a:xfrm rot="2700000">
            <a:off x="7938982" y="5304367"/>
            <a:ext cx="5349240" cy="31750"/>
          </a:xfrm>
          <a:prstGeom prst="rect">
            <a:avLst/>
          </a:prstGeom>
          <a:solidFill>
            <a:srgbClr val="FFFFFF">
              <a:alpha val="75000"/>
            </a:srgbClr>
          </a:solidFill>
          <a:ln/>
        </p:spPr>
      </p:sp>
      <p:sp>
        <p:nvSpPr>
          <p:cNvPr id="10" name="pt:4c6cccbc-8a1f-499a-b956-f7f049ad2356"/>
          <p:cNvSpPr/>
          <p:nvPr/>
        </p:nvSpPr>
        <p:spPr>
          <a:xfrm rot="-2700000">
            <a:off x="8154882" y="1521883"/>
            <a:ext cx="5349240" cy="31750"/>
          </a:xfrm>
          <a:prstGeom prst="rect">
            <a:avLst/>
          </a:prstGeom>
          <a:solidFill>
            <a:srgbClr val="17BEBB">
              <a:alpha val="70000"/>
            </a:srgbClr>
          </a:solidFill>
          <a:ln/>
        </p:spPr>
      </p:sp>
      <p:sp>
        <p:nvSpPr>
          <p:cNvPr id="11" name="pt:590942d3-29e5-44a5-a88c-d57c51353cd2"/>
          <p:cNvSpPr/>
          <p:nvPr/>
        </p:nvSpPr>
        <p:spPr>
          <a:xfrm rot="2700000">
            <a:off x="8154882" y="5304367"/>
            <a:ext cx="5349240" cy="31750"/>
          </a:xfrm>
          <a:prstGeom prst="rect">
            <a:avLst/>
          </a:prstGeom>
          <a:solidFill>
            <a:srgbClr val="17BEBB">
              <a:alpha val="70000"/>
            </a:srgbClr>
          </a:solidFill>
          <a:ln/>
        </p:spPr>
      </p:sp>
      <p:sp>
        <p:nvSpPr>
          <p:cNvPr id="12" name="pt:017bebd9-e5e4-4c15-9dbf-833e9b45b440"/>
          <p:cNvSpPr/>
          <p:nvPr/>
        </p:nvSpPr>
        <p:spPr>
          <a:xfrm rot="-2700000">
            <a:off x="8370782" y="1521883"/>
            <a:ext cx="5349240" cy="31750"/>
          </a:xfrm>
          <a:prstGeom prst="rect">
            <a:avLst/>
          </a:prstGeom>
          <a:solidFill>
            <a:srgbClr val="FFFFFF">
              <a:alpha val="65000"/>
            </a:srgbClr>
          </a:solidFill>
          <a:ln/>
        </p:spPr>
      </p:sp>
      <p:sp>
        <p:nvSpPr>
          <p:cNvPr id="13" name="pt:5cc061bc-5ae2-4604-8c1e-3e627bb464b7"/>
          <p:cNvSpPr/>
          <p:nvPr/>
        </p:nvSpPr>
        <p:spPr>
          <a:xfrm rot="2700000">
            <a:off x="8370782" y="5304367"/>
            <a:ext cx="5349240" cy="31750"/>
          </a:xfrm>
          <a:prstGeom prst="rect">
            <a:avLst/>
          </a:prstGeom>
          <a:solidFill>
            <a:srgbClr val="FFFFFF">
              <a:alpha val="65000"/>
            </a:srgbClr>
          </a:solidFill>
          <a:ln/>
        </p:spPr>
      </p:sp>
      <p:sp>
        <p:nvSpPr>
          <p:cNvPr id="14" name="pt:68dd6205-ff9e-4ea1-8ec2-6d82fcad6fe4"/>
          <p:cNvSpPr/>
          <p:nvPr/>
        </p:nvSpPr>
        <p:spPr>
          <a:xfrm rot="-2700000">
            <a:off x="8586682" y="1521883"/>
            <a:ext cx="5349240" cy="31750"/>
          </a:xfrm>
          <a:prstGeom prst="rect">
            <a:avLst/>
          </a:prstGeom>
          <a:solidFill>
            <a:srgbClr val="FFFFFF">
              <a:alpha val="59000"/>
            </a:srgbClr>
          </a:solidFill>
          <a:ln/>
        </p:spPr>
      </p:sp>
      <p:sp>
        <p:nvSpPr>
          <p:cNvPr id="15" name="pt:64cd964e-bb49-4834-ac07-31b6c91d25c0"/>
          <p:cNvSpPr/>
          <p:nvPr/>
        </p:nvSpPr>
        <p:spPr>
          <a:xfrm rot="2700000">
            <a:off x="8586682" y="5304367"/>
            <a:ext cx="5349240" cy="31750"/>
          </a:xfrm>
          <a:prstGeom prst="rect">
            <a:avLst/>
          </a:prstGeom>
          <a:solidFill>
            <a:srgbClr val="FFFFFF">
              <a:alpha val="59000"/>
            </a:srgbClr>
          </a:solidFill>
          <a:ln/>
        </p:spPr>
      </p:sp>
      <p:sp>
        <p:nvSpPr>
          <p:cNvPr id="16" name="pt:9b8aa6c7-8775-4016-ab4d-be5bb27541de"/>
          <p:cNvSpPr/>
          <p:nvPr/>
        </p:nvSpPr>
        <p:spPr>
          <a:xfrm rot="-2700000">
            <a:off x="8802582" y="1521883"/>
            <a:ext cx="5349240" cy="31750"/>
          </a:xfrm>
          <a:prstGeom prst="rect">
            <a:avLst/>
          </a:prstGeom>
          <a:solidFill>
            <a:srgbClr val="17BEBB">
              <a:alpha val="54000"/>
            </a:srgbClr>
          </a:solidFill>
          <a:ln/>
        </p:spPr>
      </p:sp>
      <p:sp>
        <p:nvSpPr>
          <p:cNvPr id="17" name="pt:d9fb4d05-e9da-4868-8dc0-5a0412afd3d8"/>
          <p:cNvSpPr/>
          <p:nvPr/>
        </p:nvSpPr>
        <p:spPr>
          <a:xfrm rot="2700000">
            <a:off x="8802582" y="5304367"/>
            <a:ext cx="5349240" cy="31750"/>
          </a:xfrm>
          <a:prstGeom prst="rect">
            <a:avLst/>
          </a:prstGeom>
          <a:solidFill>
            <a:srgbClr val="17BEBB">
              <a:alpha val="54000"/>
            </a:srgbClr>
          </a:solidFill>
          <a:ln/>
        </p:spPr>
      </p:sp>
      <p:sp>
        <p:nvSpPr>
          <p:cNvPr id="18" name="pt:bb0e778e-88e8-4c21-a9ee-236f8bb3f3ff"/>
          <p:cNvSpPr/>
          <p:nvPr/>
        </p:nvSpPr>
        <p:spPr>
          <a:xfrm rot="-2700000">
            <a:off x="9018482" y="1521883"/>
            <a:ext cx="5349240" cy="31750"/>
          </a:xfrm>
          <a:prstGeom prst="rect">
            <a:avLst/>
          </a:prstGeom>
          <a:solidFill>
            <a:srgbClr val="FFFFFF">
              <a:alpha val="49000"/>
            </a:srgbClr>
          </a:solidFill>
          <a:ln/>
        </p:spPr>
      </p:sp>
      <p:sp>
        <p:nvSpPr>
          <p:cNvPr id="19" name="pt:4cb6b119-9632-4eac-ab6a-f6a8202eaa6a"/>
          <p:cNvSpPr/>
          <p:nvPr/>
        </p:nvSpPr>
        <p:spPr>
          <a:xfrm rot="2700000">
            <a:off x="9018482" y="5304367"/>
            <a:ext cx="5349240" cy="31750"/>
          </a:xfrm>
          <a:prstGeom prst="rect">
            <a:avLst/>
          </a:prstGeom>
          <a:solidFill>
            <a:srgbClr val="FFFFFF">
              <a:alpha val="49000"/>
            </a:srgbClr>
          </a:solidFill>
          <a:ln/>
        </p:spPr>
      </p:sp>
      <p:sp>
        <p:nvSpPr>
          <p:cNvPr id="20" name="pt:95dfc34f-625e-4d91-beac-21625c53c88c"/>
          <p:cNvSpPr/>
          <p:nvPr/>
        </p:nvSpPr>
        <p:spPr>
          <a:xfrm rot="-2700000">
            <a:off x="9234382" y="1521883"/>
            <a:ext cx="5349240" cy="31750"/>
          </a:xfrm>
          <a:prstGeom prst="rect">
            <a:avLst/>
          </a:prstGeom>
          <a:solidFill>
            <a:srgbClr val="FFFFFF">
              <a:alpha val="44000"/>
            </a:srgbClr>
          </a:solidFill>
          <a:ln/>
        </p:spPr>
      </p:sp>
      <p:sp>
        <p:nvSpPr>
          <p:cNvPr id="21" name="pt:45885b76-d9ef-4251-99cc-08a1412628d6"/>
          <p:cNvSpPr/>
          <p:nvPr/>
        </p:nvSpPr>
        <p:spPr>
          <a:xfrm rot="2700000">
            <a:off x="9234382" y="5304367"/>
            <a:ext cx="5349240" cy="31750"/>
          </a:xfrm>
          <a:prstGeom prst="rect">
            <a:avLst/>
          </a:prstGeom>
          <a:solidFill>
            <a:srgbClr val="FFFFFF">
              <a:alpha val="44000"/>
            </a:srgbClr>
          </a:solidFill>
          <a:ln/>
        </p:spPr>
      </p:sp>
      <p:sp>
        <p:nvSpPr>
          <p:cNvPr id="22" name="pt:62202893-e4f8-44de-b84f-1d03ff709925"/>
          <p:cNvSpPr/>
          <p:nvPr/>
        </p:nvSpPr>
        <p:spPr>
          <a:xfrm rot="-2700000">
            <a:off x="9450282" y="1521883"/>
            <a:ext cx="5349240" cy="31750"/>
          </a:xfrm>
          <a:prstGeom prst="rect">
            <a:avLst/>
          </a:prstGeom>
          <a:solidFill>
            <a:srgbClr val="17BEBB">
              <a:alpha val="39000"/>
            </a:srgbClr>
          </a:solidFill>
          <a:ln/>
        </p:spPr>
      </p:sp>
      <p:sp>
        <p:nvSpPr>
          <p:cNvPr id="23" name="pt:8a471caa-6921-486a-bb98-b991f64f05fb"/>
          <p:cNvSpPr/>
          <p:nvPr/>
        </p:nvSpPr>
        <p:spPr>
          <a:xfrm rot="2700000">
            <a:off x="9450282" y="5304367"/>
            <a:ext cx="5349240" cy="31750"/>
          </a:xfrm>
          <a:prstGeom prst="rect">
            <a:avLst/>
          </a:prstGeom>
          <a:solidFill>
            <a:srgbClr val="17BEBB">
              <a:alpha val="39000"/>
            </a:srgbClr>
          </a:solidFill>
          <a:ln/>
        </p:spPr>
      </p:sp>
      <p:sp>
        <p:nvSpPr>
          <p:cNvPr id="24" name="pt:9db3e948-1271-44bb-9487-d0aec38fba96"/>
          <p:cNvSpPr/>
          <p:nvPr/>
        </p:nvSpPr>
        <p:spPr>
          <a:xfrm>
            <a:off x="975360" y="1371600"/>
            <a:ext cx="698500" cy="50800"/>
          </a:xfrm>
          <a:prstGeom prst="roundRect">
            <a:avLst>
              <a:gd name="adj" fmla="val 50000"/>
            </a:avLst>
          </a:prstGeom>
          <a:solidFill>
            <a:srgbClr val="17BEBB"/>
          </a:solidFill>
          <a:ln/>
        </p:spPr>
      </p:sp>
      <p:sp>
        <p:nvSpPr>
          <p:cNvPr id="25" name="pt:025818d5-5b2e-4795-adc3-6157a179b541"/>
          <p:cNvSpPr/>
          <p:nvPr/>
        </p:nvSpPr>
        <p:spPr>
          <a:xfrm>
            <a:off x="975360" y="1562100"/>
            <a:ext cx="6339840" cy="269240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Playfair Display" pitchFamily="34" charset="0"/>
                <a:ea typeface="Playfair Display" pitchFamily="34" charset="-122"/>
                <a:cs typeface="Playfair Display" pitchFamily="34" charset="-120"/>
              </a:rPr>
              <a:t>The Ask: Partnering with Local Investors for Next-Stage Growth</a:t>
            </a:r>
            <a:endParaRPr lang="en-US" sz="3600" dirty="0"/>
          </a:p>
        </p:txBody>
      </p:sp>
      <p:sp>
        <p:nvSpPr>
          <p:cNvPr id="26" name="pt:0fdc35ef-58ae-4a36-9853-afe4055a9b35"/>
          <p:cNvSpPr/>
          <p:nvPr/>
        </p:nvSpPr>
        <p:spPr>
          <a:xfrm>
            <a:off x="975360" y="4292600"/>
            <a:ext cx="633984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Playfair Display" pitchFamily="34" charset="0"/>
                <a:ea typeface="Playfair Display" pitchFamily="34" charset="-122"/>
                <a:cs typeface="Playfair Display" pitchFamily="34" charset="-120"/>
              </a:rPr>
              <a:t>Join us in scaling Aroma Coffee Roasters from 4 thriving stores into the region's leading specialty coffee brand.</a:t>
            </a:r>
            <a:endParaRPr lang="en-US" sz="1600" dirty="0"/>
          </a:p>
        </p:txBody>
      </p:sp>
      <p:sp>
        <p:nvSpPr>
          <p:cNvPr id="27" name="pt:ac8f23e2-b0ed-4677-9ae7-b2b242742e81"/>
          <p:cNvSpPr/>
          <p:nvPr/>
        </p:nvSpPr>
        <p:spPr>
          <a:xfrm>
            <a:off x="546100" y="6305550"/>
            <a:ext cx="1231900" cy="495300"/>
          </a:xfrm>
          <a:prstGeom prst="roundRect">
            <a:avLst>
              <a:gd name="adj" fmla="val 12821"/>
            </a:avLst>
          </a:prstGeom>
          <a:solidFill>
            <a:srgbClr val="FFFFFF"/>
          </a:solidFill>
          <a:ln/>
        </p:spPr>
      </p:sp>
      <p:pic>
        <p:nvPicPr>
          <p:cNvPr id="28" name="pt:f6f5ac41-7145-46ee-9003-758acf0064bf" descr="Journey logo">    </p:cNvPr>
          <p:cNvPicPr>
            <a:picLocks noChangeAspect="1"/>
          </p:cNvPicPr>
          <p:nvPr/>
        </p:nvPicPr>
        <p:blipFill>
          <a:blip r:embed="rId3"/>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24"/>
                                        </p:tgtEl>
                                        <p:attrNameLst>
                                          <p:attrName>style.visibility</p:attrName>
                                        </p:attrNameLst>
                                      </p:cBhvr>
                                      <p:to>
                                        <p:strVal val="visible"/>
                                      </p:to>
                                    </p:set>
                                    <p:animEffect transition="in" filter="wipe(left)">
                                      <p:cBhvr>
                                        <p:cTn id="6" dur="450"/>
                                        <p:tgtEl>
                                          <p:spTgt spid="2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450"/>
                                        <p:tgtEl>
                                          <p:spTgt spid="25"/>
                                        </p:tgtEl>
                                      </p:cBhvr>
                                    </p:animEffect>
                                    <p:animScale>
                                      <p:cBhvr>
                                        <p:cTn id="10" dur="450" fill="hold"/>
                                        <p:tgtEl>
                                          <p:spTgt spid="2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50"/>
                                        <p:tgtEl>
                                          <p:spTgt spid="26"/>
                                        </p:tgtEl>
                                      </p:cBhvr>
                                    </p:animEffect>
                                    <p:animScale>
                                      <p:cBhvr>
                                        <p:cTn id="14" dur="450" fill="hold"/>
                                        <p:tgtEl>
                                          <p:spTgt spid="2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or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Aroma Coffee Roasters Investment Opportunity</dc:title>
  <dc:subject>PptxGenJS Presentation</dc:subject>
  <dc:creator>PptxGenJS</dc:creator>
  <cp:lastModifiedBy>PptxGenJS</cp:lastModifiedBy>
  <cp:revision>1</cp:revision>
  <dcterms:created xsi:type="dcterms:W3CDTF">2026-10-15T17:54:51Z</dcterms:created>
  <dcterms:modified xsi:type="dcterms:W3CDTF">2026-10-15T17:54:51Z</dcterms:modified>
</cp:coreProperties>
</file>