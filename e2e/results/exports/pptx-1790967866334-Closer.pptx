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Personalise the client name before every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Agree the agenda, then ask if anything is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client’s own words wherever you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each point back to something they said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how little the client has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option you recommend.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a date, not a “let us know”.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the decision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sales &amp; proposal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858000" cy="38404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38404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42900" y="315468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5" name="Text 1"/>
          <p:cNvSpPr/>
          <p:nvPr/>
        </p:nvSpPr>
        <p:spPr>
          <a:xfrm>
            <a:off x="342900" y="3370580"/>
            <a:ext cx="6172200" cy="197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1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faster way to run support at Contoso</a:t>
            </a:r>
            <a:endParaRPr lang="en-US" sz="4100" dirty="0"/>
          </a:p>
        </p:txBody>
      </p:sp>
      <p:sp>
        <p:nvSpPr>
          <p:cNvPr id="6" name="Text 2"/>
          <p:cNvSpPr/>
          <p:nvPr/>
        </p:nvSpPr>
        <p:spPr>
          <a:xfrm>
            <a:off x="342900" y="5384800"/>
            <a:ext cx="6172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451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Proposal prepared for the Contoso leadership team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Today’s conversation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42900" y="1911350"/>
            <a:ext cx="482600" cy="4826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7" name="Text 5"/>
          <p:cNvSpPr/>
          <p:nvPr/>
        </p:nvSpPr>
        <p:spPr>
          <a:xfrm>
            <a:off x="342900" y="19113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03300" y="16764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3300" y="22193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Your goals and constraints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2900" y="30416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" y="30416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03300" y="28067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can help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3300" y="33496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Solution and fit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2900" y="4171950"/>
            <a:ext cx="482600" cy="4826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" y="41719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003300" y="39370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from similar teams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3300" y="44799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Proof, not promises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2900" y="53022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9" name="Text 17"/>
          <p:cNvSpPr/>
          <p:nvPr/>
        </p:nvSpPr>
        <p:spPr>
          <a:xfrm>
            <a:off x="342900" y="53022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003300" y="50673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and timeline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3300" y="56102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Options and next steps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42900" y="1676400"/>
            <a:ext cx="6172200" cy="483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Ticket volume has doubled while the team stayed the same size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Customers wait more than a day for a first reply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spend half their time on repeat questions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 want results within one quarter, without a big migration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28829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help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42900" y="1676400"/>
            <a:ext cx="2882900" cy="483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assistant that answers common questions instantly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Hand-off to your agents with full context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Reporting that shows what is working</a:t>
            </a:r>
            <a:endParaRPr lang="en-US" sz="1600" dirty="0"/>
          </a:p>
        </p:txBody>
      </p:sp>
      <p:pic>
        <p:nvPicPr>
          <p:cNvPr id="7" name="Image 0" descr="Support team at wor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32200" y="342900"/>
            <a:ext cx="28829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first 90 days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42900" y="167640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FBEFE6"/>
          </a:solidFill>
          <a:ln/>
        </p:spPr>
      </p:sp>
      <p:sp>
        <p:nvSpPr>
          <p:cNvPr id="7" name="Text 5"/>
          <p:cNvSpPr/>
          <p:nvPr/>
        </p:nvSpPr>
        <p:spPr>
          <a:xfrm>
            <a:off x="520700" y="1828800"/>
            <a:ext cx="1566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20700" y="2400300"/>
            <a:ext cx="15663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20700" y="3098800"/>
            <a:ext cx="15663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 your help desk and knowledge base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68033" y="167640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FBEFE6"/>
          </a:solidFill>
          <a:ln/>
        </p:spPr>
      </p:sp>
      <p:sp>
        <p:nvSpPr>
          <p:cNvPr id="11" name="Text 9"/>
          <p:cNvSpPr/>
          <p:nvPr/>
        </p:nvSpPr>
        <p:spPr>
          <a:xfrm>
            <a:off x="2645833" y="1828800"/>
            <a:ext cx="1566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45833" y="2400300"/>
            <a:ext cx="15663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2–4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645833" y="3098800"/>
            <a:ext cx="15663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 with one queue and tune answers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93167" y="167640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FBEFE6"/>
          </a:solidFill>
          <a:ln/>
        </p:spPr>
      </p:sp>
      <p:sp>
        <p:nvSpPr>
          <p:cNvPr id="15" name="Text 13"/>
          <p:cNvSpPr/>
          <p:nvPr/>
        </p:nvSpPr>
        <p:spPr>
          <a:xfrm>
            <a:off x="4770967" y="1828800"/>
            <a:ext cx="1566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70967" y="2400300"/>
            <a:ext cx="15663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5–8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770967" y="3098800"/>
            <a:ext cx="15663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Roll out to all queues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2900" y="419735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FBEFE6"/>
          </a:solidFill>
          <a:ln/>
        </p:spPr>
      </p:sp>
      <p:sp>
        <p:nvSpPr>
          <p:cNvPr id="19" name="Text 17"/>
          <p:cNvSpPr/>
          <p:nvPr/>
        </p:nvSpPr>
        <p:spPr>
          <a:xfrm>
            <a:off x="520700" y="4349750"/>
            <a:ext cx="1566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20700" y="4921250"/>
            <a:ext cx="15663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9–12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20700" y="5619750"/>
            <a:ext cx="15663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Review results and plan expansion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teams like yours achieve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2900" y="1676400"/>
            <a:ext cx="2959100" cy="2292350"/>
          </a:xfrm>
          <a:prstGeom prst="roundRect">
            <a:avLst>
              <a:gd name="adj" fmla="val 4432"/>
            </a:avLst>
          </a:prstGeom>
          <a:solidFill>
            <a:srgbClr val="FBEFE6"/>
          </a:solidFill>
          <a:ln/>
        </p:spPr>
      </p:sp>
      <p:sp>
        <p:nvSpPr>
          <p:cNvPr id="7" name="Text 5"/>
          <p:cNvSpPr/>
          <p:nvPr/>
        </p:nvSpPr>
        <p:spPr>
          <a:xfrm>
            <a:off x="546100" y="1803400"/>
            <a:ext cx="2552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6100" y="2311400"/>
            <a:ext cx="25527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Fewer tickets reach an agent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56000" y="1676400"/>
            <a:ext cx="2959100" cy="2292350"/>
          </a:xfrm>
          <a:prstGeom prst="roundRect">
            <a:avLst>
              <a:gd name="adj" fmla="val 4432"/>
            </a:avLst>
          </a:prstGeom>
          <a:solidFill>
            <a:srgbClr val="FBEFE6"/>
          </a:solidFill>
          <a:ln/>
        </p:spPr>
      </p:sp>
      <p:sp>
        <p:nvSpPr>
          <p:cNvPr id="10" name="Text 8"/>
          <p:cNvSpPr/>
          <p:nvPr/>
        </p:nvSpPr>
        <p:spPr>
          <a:xfrm>
            <a:off x="3759200" y="1803400"/>
            <a:ext cx="2552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min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759200" y="2311400"/>
            <a:ext cx="25527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Median first reply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2900" y="4222750"/>
            <a:ext cx="2959100" cy="2292350"/>
          </a:xfrm>
          <a:prstGeom prst="roundRect">
            <a:avLst>
              <a:gd name="adj" fmla="val 4432"/>
            </a:avLst>
          </a:prstGeom>
          <a:solidFill>
            <a:srgbClr val="FBEFE6"/>
          </a:solidFill>
          <a:ln/>
        </p:spPr>
      </p:sp>
      <p:sp>
        <p:nvSpPr>
          <p:cNvPr id="13" name="Text 11"/>
          <p:cNvSpPr/>
          <p:nvPr/>
        </p:nvSpPr>
        <p:spPr>
          <a:xfrm>
            <a:off x="546100" y="4349750"/>
            <a:ext cx="2552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+18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46100" y="4857750"/>
            <a:ext cx="25527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CSAT points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Fabrikam halved resolution time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2900" y="1676400"/>
            <a:ext cx="1921933" cy="4838700"/>
          </a:xfrm>
          <a:prstGeom prst="roundRect">
            <a:avLst>
              <a:gd name="adj" fmla="val 5286"/>
            </a:avLst>
          </a:prstGeom>
          <a:solidFill>
            <a:srgbClr val="FBEFE6"/>
          </a:solidFill>
          <a:ln/>
        </p:spPr>
      </p:sp>
      <p:sp>
        <p:nvSpPr>
          <p:cNvPr id="7" name="Text 5"/>
          <p:cNvSpPr/>
          <p:nvPr/>
        </p:nvSpPr>
        <p:spPr>
          <a:xfrm>
            <a:off x="546100" y="1854200"/>
            <a:ext cx="15155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50" kern="0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 · FABRIKAM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6100" y="2374900"/>
            <a:ext cx="1515533" cy="394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Fabrikam’s support queue grew faster than its team, and customers waited days for answers.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68033" y="1676400"/>
            <a:ext cx="1921933" cy="4838700"/>
          </a:xfrm>
          <a:prstGeom prst="roundRect">
            <a:avLst>
              <a:gd name="adj" fmla="val 5286"/>
            </a:avLst>
          </a:prstGeom>
          <a:solidFill>
            <a:srgbClr val="FBEFE6"/>
          </a:solidFill>
          <a:ln/>
        </p:spPr>
      </p:sp>
      <p:sp>
        <p:nvSpPr>
          <p:cNvPr id="10" name="Text 8"/>
          <p:cNvSpPr/>
          <p:nvPr/>
        </p:nvSpPr>
        <p:spPr>
          <a:xfrm>
            <a:off x="2671233" y="1854200"/>
            <a:ext cx="15155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50" kern="0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APPROACH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71233" y="2374900"/>
            <a:ext cx="1515533" cy="394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Connected the existing help desk in a day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Piloted on the three busiest topics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Trained agents on the hand-off view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93167" y="1676400"/>
            <a:ext cx="1921933" cy="4838700"/>
          </a:xfrm>
          <a:prstGeom prst="roundRect">
            <a:avLst>
              <a:gd name="adj" fmla="val 5286"/>
            </a:avLst>
          </a:prstGeom>
          <a:solidFill>
            <a:srgbClr val="C2410C"/>
          </a:solidFill>
          <a:ln/>
        </p:spPr>
      </p:sp>
      <p:sp>
        <p:nvSpPr>
          <p:cNvPr id="13" name="Text 11"/>
          <p:cNvSpPr/>
          <p:nvPr/>
        </p:nvSpPr>
        <p:spPr>
          <a:xfrm>
            <a:off x="4796367" y="1854200"/>
            <a:ext cx="1515533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-52%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4796367" y="2819400"/>
            <a:ext cx="15155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 to resolution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96367" y="33401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16" name="Text 14"/>
          <p:cNvSpPr/>
          <p:nvPr/>
        </p:nvSpPr>
        <p:spPr>
          <a:xfrm>
            <a:off x="4796367" y="3556000"/>
            <a:ext cx="1515533" cy="276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Resolution time cut by half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Backlog cleared in six weeks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moved to higher-value work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Options and investment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2900" y="1676400"/>
          <a:ext cx="6172200" cy="914400"/>
        </p:xfrm>
        <a:graphic>
          <a:graphicData uri="http://schemas.openxmlformats.org/drawingml/2006/table">
            <a:tbl>
              <a:tblPr/>
              <a:tblGrid>
                <a:gridCol w="1543050"/>
                <a:gridCol w="1543050"/>
                <a:gridCol w="1543050"/>
                <a:gridCol w="154305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Plan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Starter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Growth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Enterprise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Agents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10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50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Unlimited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Support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Email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Priority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Dedicated manager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Price / month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$1,499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Custom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42900" y="1854200"/>
            <a:ext cx="6172200" cy="508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7" name="Shape 5"/>
          <p:cNvSpPr/>
          <p:nvPr/>
        </p:nvSpPr>
        <p:spPr>
          <a:xfrm>
            <a:off x="342900" y="17272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" y="2120900"/>
            <a:ext cx="192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2900" y="2692400"/>
            <a:ext cx="1921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week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42900" y="3390900"/>
            <a:ext cx="1921933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Confirm scope and stakeholders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68033" y="17272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033" y="2120900"/>
            <a:ext cx="192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68033" y="2692400"/>
            <a:ext cx="1921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week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468033" y="3390900"/>
            <a:ext cx="1921933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Security review and contract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93167" y="17272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6" name="Text 14"/>
          <p:cNvSpPr/>
          <p:nvPr/>
        </p:nvSpPr>
        <p:spPr>
          <a:xfrm>
            <a:off x="4593167" y="2120900"/>
            <a:ext cx="192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93167" y="2692400"/>
            <a:ext cx="1921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two weeks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93167" y="3390900"/>
            <a:ext cx="1921933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Kick-off and pilot start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84048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685800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Photograph for a sales &amp; proposals presentation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42900" y="315468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3370580"/>
            <a:ext cx="6172200" cy="197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42900" y="5384800"/>
            <a:ext cx="6172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451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Questions? alex@example.com · +1 555 0100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Closer</dc:title>
  <dc:subject>PptxGenJS Presentation</dc:subject>
  <dc:creator>PptxGenJS</dc:creator>
  <cp:lastModifiedBy>PptxGenJS</cp:lastModifiedBy>
  <cp:revision>1</cp:revision>
  <dcterms:created xsi:type="dcterms:W3CDTF">2026-10-02T19:04:26Z</dcterms:created>
  <dcterms:modified xsi:type="dcterms:W3CDTF">2026-10-02T19:04:26Z</dcterms:modified>
</cp:coreProperties>
</file>