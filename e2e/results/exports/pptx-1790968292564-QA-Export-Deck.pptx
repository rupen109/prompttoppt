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7474F3"/>
            </a:solidFill>
            <a:effectLst/>
          </c:spPr>
          <c:invertIfNegative val="0"/>
          <c:dLbls>
            <c:numFmt formatCode="#,##0.##&quot;$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DEDF8"/>
                    </a:solidFill>
                    <a:latin typeface="Inte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22</c:v>
                </c:pt>
                <c:pt idx="2">
                  <c:v>27</c:v>
                </c:pt>
                <c:pt idx="3">
                  <c:v>33</c:v>
                </c:pt>
                <c:pt idx="4">
                  <c:v>41</c:v>
                </c:pt>
              </c:numCache>
            </c:numRef>
          </c:val>
        </c:ser>
        <c:dLbls>
          <c:numFmt formatCode="#,##0.##&quot;$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DEDF8"/>
                  </a:solidFill>
                  <a:latin typeface="In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2A3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A5B1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Pause, then introduce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pain concrete. 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 not list. Keep this to the three things that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 Cite your market-size source on the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in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competitors out loud if asked; keep the slide neutral.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phase to a number investors can hold you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credible line per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this slide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EXPORTED-92209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· Investor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609600"/>
            <a:ext cx="4632960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583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spc="150" kern="0" dirty="0">
                <a:solidFill>
                  <a:srgbClr val="22D3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09600" y="1173480"/>
            <a:ext cx="5831840" cy="2142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23%</a:t>
            </a:r>
            <a:endParaRPr lang="en-US" sz="12000" dirty="0"/>
          </a:p>
        </p:txBody>
      </p:sp>
      <p:sp>
        <p:nvSpPr>
          <p:cNvPr id="5" name="Text 2"/>
          <p:cNvSpPr/>
          <p:nvPr/>
        </p:nvSpPr>
        <p:spPr>
          <a:xfrm>
            <a:off x="609600" y="3429000"/>
            <a:ext cx="583184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of delivery spend is wasted on empty miles and failed first attempts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09600" y="4556760"/>
            <a:ext cx="583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carriers plan routes by hand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vague delivery windows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tool fits a fleet under 200 vehicles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5283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283200" cy="439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route planning in under a minute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delivery windows customers can trust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with the vans and phones fleets already have</a:t>
            </a:r>
            <a:endParaRPr lang="en-US" sz="1600" dirty="0"/>
          </a:p>
        </p:txBody>
      </p:sp>
      <p:pic>
        <p:nvPicPr>
          <p:cNvPr id="7" name="Image 0" descr="Delivery van in a city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99200" y="609600"/>
            <a:ext cx="5283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market that is growing fast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graphicFrame>
        <p:nvGraphicFramePr>
          <p:cNvPr id="6" name="Chart 0" descr=""/>
          <p:cNvGraphicFramePr/>
          <p:nvPr/>
        </p:nvGraphicFramePr>
        <p:xfrm>
          <a:off x="609600" y="1854200"/>
          <a:ext cx="6803136" cy="4394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30236" y="19304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666736" y="1854200"/>
            <a:ext cx="3915664" cy="4394200"/>
          </a:xfrm>
          <a:prstGeom prst="roundRect">
            <a:avLst>
              <a:gd name="adj" fmla="val 2595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9936" y="2082800"/>
            <a:ext cx="3509264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Last-mile software is on track to more than double in five years.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87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87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the day’s orders or sync your system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67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03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1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81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81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are optimised for time, cost and capacity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197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75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5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75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follow turn-by-turn routes in the app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55100" y="19304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991600" y="1854200"/>
            <a:ext cx="2590800" cy="3302000"/>
          </a:xfrm>
          <a:prstGeom prst="roundRect">
            <a:avLst>
              <a:gd name="adj" fmla="val 392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69400" y="2006600"/>
            <a:ext cx="223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169400" y="2578100"/>
            <a:ext cx="2235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169400" y="3276600"/>
            <a:ext cx="22352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Customers get live windows and proof of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Traction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84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28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Paying fleets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695700"/>
            <a:ext cx="21463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from 12 a year ago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798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4163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95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$610K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36195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Annual recurring revenue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865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2230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62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17%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64262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Month-on-month growth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93200" y="19304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029700" y="1854200"/>
            <a:ext cx="2552700" cy="2794000"/>
          </a:xfrm>
          <a:prstGeom prst="roundRect">
            <a:avLst>
              <a:gd name="adj" fmla="val 3980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32900" y="1981200"/>
            <a:ext cx="2146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9232900" y="3060700"/>
            <a:ext cx="214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 retention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we win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2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Typical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82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enterprise fleets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onboarding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Per-vehicle pricing that punishes growth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11900" y="19304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48400" y="1854200"/>
            <a:ext cx="5334000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7000" y="20828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Northwind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77000" y="2679700"/>
            <a:ext cx="4876800" cy="337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fleets of 5 to 200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 single afternoon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flat pricing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of funds and milestones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54200"/>
            <a:ext cx="2841625" cy="584200"/>
          </a:xfrm>
          <a:prstGeom prst="chevron">
            <a:avLst/>
          </a:prstGeom>
          <a:solidFill>
            <a:srgbClr val="7474F3"/>
          </a:solidFill>
          <a:ln/>
        </p:spPr>
      </p:sp>
      <p:sp>
        <p:nvSpPr>
          <p:cNvPr id="7" name="Text 5"/>
          <p:cNvSpPr/>
          <p:nvPr/>
        </p:nvSpPr>
        <p:spPr>
          <a:xfrm>
            <a:off x="86360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310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80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app 2.0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API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75025" y="1854200"/>
            <a:ext cx="2841625" cy="584200"/>
          </a:xfrm>
          <a:prstGeom prst="chevron">
            <a:avLst/>
          </a:prstGeom>
          <a:solidFill>
            <a:srgbClr val="5994F1"/>
          </a:solidFill>
          <a:ln/>
        </p:spPr>
      </p:sp>
      <p:sp>
        <p:nvSpPr>
          <p:cNvPr id="13" name="Text 11"/>
          <p:cNvSpPr/>
          <p:nvPr/>
        </p:nvSpPr>
        <p:spPr>
          <a:xfrm>
            <a:off x="362902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3852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37502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822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 to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7822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team of 4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 partners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40450" y="1854200"/>
            <a:ext cx="2841625" cy="584200"/>
          </a:xfrm>
          <a:prstGeom prst="chevron">
            <a:avLst/>
          </a:prstGeom>
          <a:solidFill>
            <a:srgbClr val="3DB3F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4450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03950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140450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43650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43650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regions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05875" y="1854200"/>
            <a:ext cx="2676525" cy="584200"/>
          </a:xfrm>
          <a:prstGeom prst="chevron">
            <a:avLst/>
          </a:prstGeom>
          <a:solidFill>
            <a:srgbClr val="22D3EE"/>
          </a:solidFill>
          <a:ln/>
        </p:spPr>
      </p:sp>
      <p:sp>
        <p:nvSpPr>
          <p:cNvPr id="25" name="Text 23"/>
          <p:cNvSpPr/>
          <p:nvPr/>
        </p:nvSpPr>
        <p:spPr>
          <a:xfrm>
            <a:off x="9159875" y="1854200"/>
            <a:ext cx="2257425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969375" y="26924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905875" y="2616200"/>
            <a:ext cx="2676525" cy="3632200"/>
          </a:xfrm>
          <a:prstGeom prst="roundRect">
            <a:avLst>
              <a:gd name="adj" fmla="val 3796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9075" y="2768600"/>
            <a:ext cx="227012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Profit path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09075" y="3327400"/>
            <a:ext cx="2270125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Break-even routes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A readiness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team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Shape 4"/>
          <p:cNvSpPr/>
          <p:nvPr/>
        </p:nvSpPr>
        <p:spPr>
          <a:xfrm>
            <a:off x="6731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2800" y="2057400"/>
            <a:ext cx="952500" cy="952500"/>
          </a:xfrm>
          <a:prstGeom prst="ellipse">
            <a:avLst/>
          </a:prstGeom>
          <a:solidFill>
            <a:srgbClr val="5F5FC8"/>
          </a:solidFill>
          <a:ln/>
        </p:spPr>
      </p:sp>
      <p:sp>
        <p:nvSpPr>
          <p:cNvPr id="9" name="Text 7"/>
          <p:cNvSpPr/>
          <p:nvPr/>
        </p:nvSpPr>
        <p:spPr>
          <a:xfrm>
            <a:off x="8128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128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 Nair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128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 operations for a 300-van courier network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069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6600" y="2057400"/>
            <a:ext cx="952500" cy="952500"/>
          </a:xfrm>
          <a:prstGeom prst="ellipse">
            <a:avLst/>
          </a:prstGeom>
          <a:solidFill>
            <a:srgbClr val="1DABC4"/>
          </a:solidFill>
          <a:ln/>
        </p:spPr>
      </p:sp>
      <p:sp>
        <p:nvSpPr>
          <p:cNvPr id="16" name="Text 14"/>
          <p:cNvSpPr/>
          <p:nvPr/>
        </p:nvSpPr>
        <p:spPr>
          <a:xfrm>
            <a:off x="45466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0B0F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45466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Daniel Okafor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466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466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routing engines at a global logistics firm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40700" y="19304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77200" y="1854200"/>
            <a:ext cx="3505200" cy="3556000"/>
          </a:xfrm>
          <a:prstGeom prst="roundRect">
            <a:avLst>
              <a:gd name="adj" fmla="val 2899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80400" y="2057400"/>
            <a:ext cx="952500" cy="952500"/>
          </a:xfrm>
          <a:prstGeom prst="ellipse">
            <a:avLst/>
          </a:prstGeom>
          <a:solidFill>
            <a:srgbClr val="3E74C6"/>
          </a:solidFill>
          <a:ln/>
        </p:spPr>
      </p:sp>
      <p:sp>
        <p:nvSpPr>
          <p:cNvPr id="23" name="Text 21"/>
          <p:cNvSpPr/>
          <p:nvPr/>
        </p:nvSpPr>
        <p:spPr>
          <a:xfrm>
            <a:off x="8280400" y="2057400"/>
            <a:ext cx="95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MT</a:t>
            </a:r>
            <a:endParaRPr lang="en-US" sz="2850" dirty="0"/>
          </a:p>
        </p:txBody>
      </p:sp>
      <p:sp>
        <p:nvSpPr>
          <p:cNvPr id="24" name="Text 22"/>
          <p:cNvSpPr/>
          <p:nvPr/>
        </p:nvSpPr>
        <p:spPr>
          <a:xfrm>
            <a:off x="8280400" y="312420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Mei Tanaka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80400" y="3479800"/>
            <a:ext cx="3098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80400" y="3784600"/>
            <a:ext cx="30988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5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two B2B SaaS products to $10M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040" y="-2606040"/>
            <a:ext cx="6515100" cy="6515100"/>
          </a:xfrm>
          <a:prstGeom prst="ellipse">
            <a:avLst/>
          </a:prstGeom>
          <a:solidFill>
            <a:srgbClr val="7474F3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822960" y="4937760"/>
            <a:ext cx="3429000" cy="3429000"/>
          </a:xfrm>
          <a:prstGeom prst="ellipse">
            <a:avLst/>
          </a:prstGeom>
          <a:solidFill>
            <a:srgbClr val="22D3EE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09600" y="609600"/>
            <a:ext cx="109728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ask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09600" y="15748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B8EF1"/>
          </a:solidFill>
          <a:ln/>
        </p:spPr>
      </p:sp>
      <p:sp>
        <p:nvSpPr>
          <p:cNvPr id="6" name="Text 4"/>
          <p:cNvSpPr/>
          <p:nvPr/>
        </p:nvSpPr>
        <p:spPr>
          <a:xfrm>
            <a:off x="609600" y="1854200"/>
            <a:ext cx="5705856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0" b="1" dirty="0">
                <a:solidFill>
                  <a:srgbClr val="747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$2.5M</a:t>
            </a:r>
            <a:endParaRPr lang="en-US" sz="10000" dirty="0"/>
          </a:p>
        </p:txBody>
      </p:sp>
      <p:sp>
        <p:nvSpPr>
          <p:cNvPr id="7" name="Shape 5"/>
          <p:cNvSpPr/>
          <p:nvPr/>
        </p:nvSpPr>
        <p:spPr>
          <a:xfrm>
            <a:off x="609600" y="4127500"/>
            <a:ext cx="6985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09600" y="4318000"/>
            <a:ext cx="5705856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Seed round to reach 300 fleets and break-even routes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734556" y="19304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EDEDF8">
              <a:alpha val="1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71056" y="1854200"/>
            <a:ext cx="4911344" cy="4394200"/>
          </a:xfrm>
          <a:prstGeom prst="roundRect">
            <a:avLst>
              <a:gd name="adj" fmla="val 2312"/>
            </a:avLst>
          </a:prstGeom>
          <a:solidFill>
            <a:srgbClr val="0B0B1B"/>
          </a:solidFill>
          <a:ln w="12700">
            <a:solidFill>
              <a:srgbClr val="2A2A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4256" y="2057400"/>
            <a:ext cx="4504944" cy="398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months of runway</a:t>
            </a:r>
            <a:endParaRPr lang="en-US" sz="15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EDE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Led by [lead investor], with room for a few angels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pitch &amp; investor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2560" y="0"/>
            <a:ext cx="7457440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600" y="196850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1"/>
          <p:cNvSpPr/>
          <p:nvPr/>
        </p:nvSpPr>
        <p:spPr>
          <a:xfrm>
            <a:off x="609600" y="2184400"/>
            <a:ext cx="4267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DE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609600" y="4102100"/>
            <a:ext cx="4267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5A5B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priya@northwind.example · northwind.example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Export Deck</dc:title>
  <dc:subject>PptxGenJS Presentation</dc:subject>
  <dc:creator>PptxGenJS</dc:creator>
  <cp:lastModifiedBy>PptxGenJS</cp:lastModifiedBy>
  <cp:revision>1</cp:revision>
  <dcterms:created xsi:type="dcterms:W3CDTF">2026-10-02T19:11:32Z</dcterms:created>
  <dcterms:modified xsi:type="dcterms:W3CDTF">2026-10-02T19:11:32Z</dcterms:modified>
</cp:coreProperties>
</file>