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Personalise the client name before every meeting.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Agree the agenda, then ask if anything is missing.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client’s own words wherever you can.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each point back to something they said earlier.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 how little the client has to 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figures — replace with your own numbers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figures — replace with your own numbers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option you recommend.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with a date, not a “let us know”.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for the decision date.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0E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Photograph for a sales &amp; proposals presentation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2880360"/>
            <a:ext cx="698500" cy="50800"/>
          </a:xfrm>
          <a:prstGeom prst="roundRect">
            <a:avLst>
              <a:gd name="adj" fmla="val 50000"/>
            </a:avLst>
          </a:prstGeom>
          <a:solidFill>
            <a:srgbClr val="FACC15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070860"/>
            <a:ext cx="8229600" cy="2075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faster way to run support at Contoso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5184140"/>
            <a:ext cx="82296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D0CFC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Proposal prepared for the Contoso leadership team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C12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CAFB4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85800"/>
            <a:ext cx="82296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Today’s conversation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2025650"/>
            <a:ext cx="482600" cy="482600"/>
          </a:xfrm>
          <a:prstGeom prst="ellipse">
            <a:avLst/>
          </a:prstGeom>
          <a:solidFill>
            <a:srgbClr val="FB923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025650"/>
            <a:ext cx="4826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0B0F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17600" y="1790700"/>
            <a:ext cx="75692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we heard from you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17600" y="2333625"/>
            <a:ext cx="756920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2AAA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Your goals and constraints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155950"/>
            <a:ext cx="482600" cy="482600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3155950"/>
            <a:ext cx="4826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0B0F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117600" y="2921000"/>
            <a:ext cx="75692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we can help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17600" y="3463925"/>
            <a:ext cx="756920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2AAA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Solution and fit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4286250"/>
            <a:ext cx="482600" cy="482600"/>
          </a:xfrm>
          <a:prstGeom prst="ellipse">
            <a:avLst/>
          </a:prstGeom>
          <a:solidFill>
            <a:srgbClr val="FB923C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4286250"/>
            <a:ext cx="4826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0B0F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117600" y="4051300"/>
            <a:ext cx="75692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Results from similar teams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17600" y="4594225"/>
            <a:ext cx="756920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2AAA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Proof, not promises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5416550"/>
            <a:ext cx="482600" cy="482600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5416550"/>
            <a:ext cx="4826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0B0F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1117600" y="5181600"/>
            <a:ext cx="75692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Investment and timeline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17600" y="5724525"/>
            <a:ext cx="756920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2AAA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Options and next steps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12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CAFB4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85800"/>
            <a:ext cx="3124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we heard from you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937000" y="457200"/>
            <a:ext cx="4749800" cy="5943600"/>
          </a:xfrm>
          <a:prstGeom prst="roundRect">
            <a:avLst>
              <a:gd name="adj" fmla="val 2139"/>
            </a:avLst>
          </a:prstGeom>
          <a:solidFill>
            <a:srgbClr val="FB923C"/>
          </a:solidFill>
          <a:ln/>
        </p:spPr>
      </p:sp>
      <p:sp>
        <p:nvSpPr>
          <p:cNvPr id="5" name="Text 3"/>
          <p:cNvSpPr/>
          <p:nvPr/>
        </p:nvSpPr>
        <p:spPr>
          <a:xfrm>
            <a:off x="4165600" y="660400"/>
            <a:ext cx="609600" cy="138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B0F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889500" y="660400"/>
            <a:ext cx="3543300" cy="138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0B0F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Ticket volume has doubled while the team stayed the same size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165600" y="2044700"/>
            <a:ext cx="4292600" cy="12700"/>
          </a:xfrm>
          <a:prstGeom prst="rect">
            <a:avLst/>
          </a:prstGeom>
          <a:solidFill>
            <a:srgbClr val="A76430"/>
          </a:solidFill>
          <a:ln/>
        </p:spPr>
      </p:sp>
      <p:sp>
        <p:nvSpPr>
          <p:cNvPr id="8" name="Text 6"/>
          <p:cNvSpPr/>
          <p:nvPr/>
        </p:nvSpPr>
        <p:spPr>
          <a:xfrm>
            <a:off x="4165600" y="2044700"/>
            <a:ext cx="609600" cy="138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B0F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889500" y="2044700"/>
            <a:ext cx="3543300" cy="138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0B0F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Customers wait more than a day for a first reply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165600" y="3429000"/>
            <a:ext cx="4292600" cy="12700"/>
          </a:xfrm>
          <a:prstGeom prst="rect">
            <a:avLst/>
          </a:prstGeom>
          <a:solidFill>
            <a:srgbClr val="A76430"/>
          </a:solidFill>
          <a:ln/>
        </p:spPr>
      </p:sp>
      <p:sp>
        <p:nvSpPr>
          <p:cNvPr id="11" name="Text 9"/>
          <p:cNvSpPr/>
          <p:nvPr/>
        </p:nvSpPr>
        <p:spPr>
          <a:xfrm>
            <a:off x="4165600" y="3429000"/>
            <a:ext cx="609600" cy="138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B0F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89500" y="3429000"/>
            <a:ext cx="3543300" cy="138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0B0F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Agents spend half their time on repeat questions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165600" y="4813300"/>
            <a:ext cx="4292600" cy="12700"/>
          </a:xfrm>
          <a:prstGeom prst="rect">
            <a:avLst/>
          </a:prstGeom>
          <a:solidFill>
            <a:srgbClr val="A76430"/>
          </a:solidFill>
          <a:ln/>
        </p:spPr>
      </p:sp>
      <p:sp>
        <p:nvSpPr>
          <p:cNvPr id="14" name="Text 12"/>
          <p:cNvSpPr/>
          <p:nvPr/>
        </p:nvSpPr>
        <p:spPr>
          <a:xfrm>
            <a:off x="4165600" y="4813300"/>
            <a:ext cx="609600" cy="138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B0F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889500" y="4813300"/>
            <a:ext cx="3543300" cy="138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0B0F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You want results within one quarter, without a big migration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12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CAFB4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85800"/>
            <a:ext cx="39116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we help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790700"/>
            <a:ext cx="3911600" cy="461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8F2E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An assistant that answers common questions instantly</a:t>
            </a:r>
            <a:endParaRPr lang="en-US" sz="16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8F2E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Hand-off to your agents with full context</a:t>
            </a:r>
            <a:endParaRPr lang="en-US" sz="16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F8F2E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Reporting that shows what is working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775200" y="457200"/>
            <a:ext cx="3911600" cy="594360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Text 4"/>
          <p:cNvSpPr/>
          <p:nvPr/>
        </p:nvSpPr>
        <p:spPr>
          <a:xfrm>
            <a:off x="4775200" y="457200"/>
            <a:ext cx="3911600" cy="59436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Support team at work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12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CAFB4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85800"/>
            <a:ext cx="82296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Your first 90 days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790700"/>
            <a:ext cx="1905000" cy="3302000"/>
          </a:xfrm>
          <a:prstGeom prst="roundRect">
            <a:avLst>
              <a:gd name="adj" fmla="val 5333"/>
            </a:avLst>
          </a:prstGeom>
          <a:solidFill>
            <a:srgbClr val="2D241C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790700"/>
            <a:ext cx="76200" cy="3302000"/>
          </a:xfrm>
          <a:prstGeom prst="roundRect">
            <a:avLst>
              <a:gd name="adj" fmla="val 50000"/>
            </a:avLst>
          </a:prstGeom>
          <a:solidFill>
            <a:srgbClr val="FB923C"/>
          </a:solidFill>
          <a:ln/>
        </p:spPr>
      </p:sp>
      <p:sp>
        <p:nvSpPr>
          <p:cNvPr id="6" name="Text 4"/>
          <p:cNvSpPr/>
          <p:nvPr/>
        </p:nvSpPr>
        <p:spPr>
          <a:xfrm>
            <a:off x="711200" y="1943100"/>
            <a:ext cx="1397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B92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11200" y="2514600"/>
            <a:ext cx="1397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Week 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11200" y="3213100"/>
            <a:ext cx="1397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B2AAA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Connect your help desk and knowledge base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565400" y="1790700"/>
            <a:ext cx="1905000" cy="3302000"/>
          </a:xfrm>
          <a:prstGeom prst="roundRect">
            <a:avLst>
              <a:gd name="adj" fmla="val 5333"/>
            </a:avLst>
          </a:prstGeom>
          <a:solidFill>
            <a:srgbClr val="2D241C"/>
          </a:solidFill>
          <a:ln/>
        </p:spPr>
      </p:sp>
      <p:sp>
        <p:nvSpPr>
          <p:cNvPr id="10" name="Shape 8"/>
          <p:cNvSpPr/>
          <p:nvPr/>
        </p:nvSpPr>
        <p:spPr>
          <a:xfrm>
            <a:off x="2565400" y="1790700"/>
            <a:ext cx="76200" cy="3302000"/>
          </a:xfrm>
          <a:prstGeom prst="roundRect">
            <a:avLst>
              <a:gd name="adj" fmla="val 50000"/>
            </a:avLst>
          </a:prstGeom>
          <a:solidFill>
            <a:srgbClr val="FACC15"/>
          </a:solidFill>
          <a:ln/>
        </p:spPr>
      </p:sp>
      <p:sp>
        <p:nvSpPr>
          <p:cNvPr id="11" name="Text 9"/>
          <p:cNvSpPr/>
          <p:nvPr/>
        </p:nvSpPr>
        <p:spPr>
          <a:xfrm>
            <a:off x="2819400" y="1943100"/>
            <a:ext cx="1397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B92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819400" y="2514600"/>
            <a:ext cx="1397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Weeks 2–4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2819400" y="3213100"/>
            <a:ext cx="1397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B2AAA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Pilot with one queue and tune answers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73600" y="1790700"/>
            <a:ext cx="1905000" cy="3302000"/>
          </a:xfrm>
          <a:prstGeom prst="roundRect">
            <a:avLst>
              <a:gd name="adj" fmla="val 5333"/>
            </a:avLst>
          </a:prstGeom>
          <a:solidFill>
            <a:srgbClr val="2D241C"/>
          </a:solidFill>
          <a:ln/>
        </p:spPr>
      </p:sp>
      <p:sp>
        <p:nvSpPr>
          <p:cNvPr id="15" name="Shape 13"/>
          <p:cNvSpPr/>
          <p:nvPr/>
        </p:nvSpPr>
        <p:spPr>
          <a:xfrm>
            <a:off x="4673600" y="1790700"/>
            <a:ext cx="76200" cy="3302000"/>
          </a:xfrm>
          <a:prstGeom prst="roundRect">
            <a:avLst>
              <a:gd name="adj" fmla="val 50000"/>
            </a:avLst>
          </a:prstGeom>
          <a:solidFill>
            <a:srgbClr val="FB923C"/>
          </a:solidFill>
          <a:ln/>
        </p:spPr>
      </p:sp>
      <p:sp>
        <p:nvSpPr>
          <p:cNvPr id="16" name="Text 14"/>
          <p:cNvSpPr/>
          <p:nvPr/>
        </p:nvSpPr>
        <p:spPr>
          <a:xfrm>
            <a:off x="4927600" y="1943100"/>
            <a:ext cx="1397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B92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927600" y="2514600"/>
            <a:ext cx="1397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Weeks 5–8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927600" y="3213100"/>
            <a:ext cx="1397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B2AAA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Roll out to all queues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781800" y="1790700"/>
            <a:ext cx="1905000" cy="3302000"/>
          </a:xfrm>
          <a:prstGeom prst="roundRect">
            <a:avLst>
              <a:gd name="adj" fmla="val 5333"/>
            </a:avLst>
          </a:prstGeom>
          <a:solidFill>
            <a:srgbClr val="2D241C"/>
          </a:solidFill>
          <a:ln/>
        </p:spPr>
      </p:sp>
      <p:sp>
        <p:nvSpPr>
          <p:cNvPr id="20" name="Shape 18"/>
          <p:cNvSpPr/>
          <p:nvPr/>
        </p:nvSpPr>
        <p:spPr>
          <a:xfrm>
            <a:off x="6781800" y="1790700"/>
            <a:ext cx="76200" cy="3302000"/>
          </a:xfrm>
          <a:prstGeom prst="roundRect">
            <a:avLst>
              <a:gd name="adj" fmla="val 50000"/>
            </a:avLst>
          </a:prstGeom>
          <a:solidFill>
            <a:srgbClr val="FACC15"/>
          </a:solidFill>
          <a:ln/>
        </p:spPr>
      </p:sp>
      <p:sp>
        <p:nvSpPr>
          <p:cNvPr id="21" name="Text 19"/>
          <p:cNvSpPr/>
          <p:nvPr/>
        </p:nvSpPr>
        <p:spPr>
          <a:xfrm>
            <a:off x="7035800" y="1943100"/>
            <a:ext cx="1397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B92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7035800" y="2514600"/>
            <a:ext cx="1397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Weeks 9–12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035800" y="3213100"/>
            <a:ext cx="1397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B2AAA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Review results and plan expansion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12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CAFB4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85800"/>
            <a:ext cx="82296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teams like yours achieve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790700"/>
            <a:ext cx="2573867" cy="2794000"/>
          </a:xfrm>
          <a:prstGeom prst="roundRect">
            <a:avLst>
              <a:gd name="adj" fmla="val 3947"/>
            </a:avLst>
          </a:prstGeom>
          <a:solidFill>
            <a:srgbClr val="2D241C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790700"/>
            <a:ext cx="76200" cy="2794000"/>
          </a:xfrm>
          <a:prstGeom prst="roundRect">
            <a:avLst>
              <a:gd name="adj" fmla="val 50000"/>
            </a:avLst>
          </a:prstGeom>
          <a:solidFill>
            <a:srgbClr val="FB923C"/>
          </a:solidFill>
          <a:ln/>
        </p:spPr>
      </p:sp>
      <p:sp>
        <p:nvSpPr>
          <p:cNvPr id="6" name="Text 4"/>
          <p:cNvSpPr/>
          <p:nvPr/>
        </p:nvSpPr>
        <p:spPr>
          <a:xfrm>
            <a:off x="711200" y="1917700"/>
            <a:ext cx="2065867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FB92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45%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711200" y="2997200"/>
            <a:ext cx="2065867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Fewer tickets reach an agent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285067" y="1790700"/>
            <a:ext cx="2573867" cy="2794000"/>
          </a:xfrm>
          <a:prstGeom prst="roundRect">
            <a:avLst>
              <a:gd name="adj" fmla="val 3947"/>
            </a:avLst>
          </a:prstGeom>
          <a:solidFill>
            <a:srgbClr val="2D241C"/>
          </a:solidFill>
          <a:ln/>
        </p:spPr>
      </p:sp>
      <p:sp>
        <p:nvSpPr>
          <p:cNvPr id="9" name="Shape 7"/>
          <p:cNvSpPr/>
          <p:nvPr/>
        </p:nvSpPr>
        <p:spPr>
          <a:xfrm>
            <a:off x="3285067" y="1790700"/>
            <a:ext cx="76200" cy="2794000"/>
          </a:xfrm>
          <a:prstGeom prst="roundRect">
            <a:avLst>
              <a:gd name="adj" fmla="val 50000"/>
            </a:avLst>
          </a:prstGeom>
          <a:solidFill>
            <a:srgbClr val="FACC15"/>
          </a:solidFill>
          <a:ln/>
        </p:spPr>
      </p:sp>
      <p:sp>
        <p:nvSpPr>
          <p:cNvPr id="10" name="Text 8"/>
          <p:cNvSpPr/>
          <p:nvPr/>
        </p:nvSpPr>
        <p:spPr>
          <a:xfrm>
            <a:off x="3539067" y="1917700"/>
            <a:ext cx="2065867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FB92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 min</a:t>
            </a:r>
            <a:endParaRPr lang="en-US" sz="5000" dirty="0"/>
          </a:p>
        </p:txBody>
      </p:sp>
      <p:sp>
        <p:nvSpPr>
          <p:cNvPr id="11" name="Text 9"/>
          <p:cNvSpPr/>
          <p:nvPr/>
        </p:nvSpPr>
        <p:spPr>
          <a:xfrm>
            <a:off x="3539067" y="2997200"/>
            <a:ext cx="2065867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Median first reply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112933" y="1790700"/>
            <a:ext cx="2573867" cy="2794000"/>
          </a:xfrm>
          <a:prstGeom prst="roundRect">
            <a:avLst>
              <a:gd name="adj" fmla="val 3947"/>
            </a:avLst>
          </a:prstGeom>
          <a:solidFill>
            <a:srgbClr val="2D241C"/>
          </a:solidFill>
          <a:ln/>
        </p:spPr>
      </p:sp>
      <p:sp>
        <p:nvSpPr>
          <p:cNvPr id="13" name="Shape 11"/>
          <p:cNvSpPr/>
          <p:nvPr/>
        </p:nvSpPr>
        <p:spPr>
          <a:xfrm>
            <a:off x="6112933" y="1790700"/>
            <a:ext cx="76200" cy="2794000"/>
          </a:xfrm>
          <a:prstGeom prst="roundRect">
            <a:avLst>
              <a:gd name="adj" fmla="val 50000"/>
            </a:avLst>
          </a:prstGeom>
          <a:solidFill>
            <a:srgbClr val="FB923C"/>
          </a:solidFill>
          <a:ln/>
        </p:spPr>
      </p:sp>
      <p:sp>
        <p:nvSpPr>
          <p:cNvPr id="14" name="Text 12"/>
          <p:cNvSpPr/>
          <p:nvPr/>
        </p:nvSpPr>
        <p:spPr>
          <a:xfrm>
            <a:off x="6366933" y="1917700"/>
            <a:ext cx="2065867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FB92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+18</a:t>
            </a:r>
            <a:endParaRPr lang="en-US" sz="5000" dirty="0"/>
          </a:p>
        </p:txBody>
      </p:sp>
      <p:sp>
        <p:nvSpPr>
          <p:cNvPr id="15" name="Text 13"/>
          <p:cNvSpPr/>
          <p:nvPr/>
        </p:nvSpPr>
        <p:spPr>
          <a:xfrm>
            <a:off x="6366933" y="2997200"/>
            <a:ext cx="2065867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CSAT points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12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CAFB4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85800"/>
            <a:ext cx="82296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9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Fabrikam halved resolution time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457200" y="1790700"/>
            <a:ext cx="2607733" cy="4610100"/>
          </a:xfrm>
          <a:prstGeom prst="roundRect">
            <a:avLst>
              <a:gd name="adj" fmla="val 3896"/>
            </a:avLst>
          </a:prstGeom>
          <a:solidFill>
            <a:srgbClr val="2D241C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790700"/>
            <a:ext cx="76200" cy="4610100"/>
          </a:xfrm>
          <a:prstGeom prst="roundRect">
            <a:avLst>
              <a:gd name="adj" fmla="val 50000"/>
            </a:avLst>
          </a:prstGeom>
          <a:solidFill>
            <a:srgbClr val="FB923C"/>
          </a:solidFill>
          <a:ln/>
        </p:spPr>
      </p:sp>
      <p:sp>
        <p:nvSpPr>
          <p:cNvPr id="6" name="Text 4"/>
          <p:cNvSpPr/>
          <p:nvPr/>
        </p:nvSpPr>
        <p:spPr>
          <a:xfrm>
            <a:off x="711200" y="1968500"/>
            <a:ext cx="2099733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spc="50" kern="0" dirty="0">
                <a:solidFill>
                  <a:srgbClr val="FB92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CHALLENGE · FABRIKAM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11200" y="2489200"/>
            <a:ext cx="2099733" cy="3721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8F2E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Fabrikam’s support queue grew faster than its team, and customers waited days for answers.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68133" y="1790700"/>
            <a:ext cx="2607733" cy="4610100"/>
          </a:xfrm>
          <a:prstGeom prst="roundRect">
            <a:avLst>
              <a:gd name="adj" fmla="val 3896"/>
            </a:avLst>
          </a:prstGeom>
          <a:solidFill>
            <a:srgbClr val="2D241C"/>
          </a:solidFill>
          <a:ln/>
        </p:spPr>
      </p:sp>
      <p:sp>
        <p:nvSpPr>
          <p:cNvPr id="9" name="Shape 7"/>
          <p:cNvSpPr/>
          <p:nvPr/>
        </p:nvSpPr>
        <p:spPr>
          <a:xfrm>
            <a:off x="3268133" y="1790700"/>
            <a:ext cx="76200" cy="4610100"/>
          </a:xfrm>
          <a:prstGeom prst="roundRect">
            <a:avLst>
              <a:gd name="adj" fmla="val 50000"/>
            </a:avLst>
          </a:prstGeom>
          <a:solidFill>
            <a:srgbClr val="FACC15"/>
          </a:solidFill>
          <a:ln/>
        </p:spPr>
      </p:sp>
      <p:sp>
        <p:nvSpPr>
          <p:cNvPr id="10" name="Text 8"/>
          <p:cNvSpPr/>
          <p:nvPr/>
        </p:nvSpPr>
        <p:spPr>
          <a:xfrm>
            <a:off x="3522133" y="1968500"/>
            <a:ext cx="2099733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50" kern="0" dirty="0">
                <a:solidFill>
                  <a:srgbClr val="FB92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APPROACH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522133" y="2489200"/>
            <a:ext cx="2099733" cy="3721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8F2E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Connected the existing help desk in a day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8F2E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Piloted on the three busiest topics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F8F2E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Trained agents on the hand-off view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79067" y="1790700"/>
            <a:ext cx="2607733" cy="4610100"/>
          </a:xfrm>
          <a:prstGeom prst="roundRect">
            <a:avLst>
              <a:gd name="adj" fmla="val 3896"/>
            </a:avLst>
          </a:prstGeom>
          <a:solidFill>
            <a:srgbClr val="FB923C"/>
          </a:solidFill>
          <a:ln/>
        </p:spPr>
      </p:sp>
      <p:sp>
        <p:nvSpPr>
          <p:cNvPr id="13" name="Text 11"/>
          <p:cNvSpPr/>
          <p:nvPr/>
        </p:nvSpPr>
        <p:spPr>
          <a:xfrm>
            <a:off x="6282267" y="1968500"/>
            <a:ext cx="2201333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800" b="1" dirty="0">
                <a:solidFill>
                  <a:srgbClr val="0B0F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-52%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6282267" y="2933700"/>
            <a:ext cx="2201333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B0F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Time to resolution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82267" y="3454400"/>
            <a:ext cx="508000" cy="50800"/>
          </a:xfrm>
          <a:prstGeom prst="roundRect">
            <a:avLst>
              <a:gd name="adj" fmla="val 50000"/>
            </a:avLst>
          </a:prstGeom>
          <a:solidFill>
            <a:srgbClr val="CAFB41"/>
          </a:solidFill>
          <a:ln/>
        </p:spPr>
      </p:sp>
      <p:sp>
        <p:nvSpPr>
          <p:cNvPr id="16" name="Text 14"/>
          <p:cNvSpPr/>
          <p:nvPr/>
        </p:nvSpPr>
        <p:spPr>
          <a:xfrm>
            <a:off x="6282267" y="3670300"/>
            <a:ext cx="2201333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B0F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Resolution time cut by half</a:t>
            </a:r>
            <a:endParaRPr lang="en-US" sz="1200" dirty="0"/>
          </a:p>
          <a:p>
            <a:pPr algn="l"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B0F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Backlog cleared in six weeks</a:t>
            </a:r>
            <a:endParaRPr lang="en-US" sz="12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0B0F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Agents moved to higher-value work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12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CAFB4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85800"/>
            <a:ext cx="82296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Options and investment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90700"/>
          <a:ext cx="8229600" cy="91440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F1A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Plan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92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F1A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Starter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92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F1A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Growth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92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F1A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Enterprise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923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2E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Agents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2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2E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Up to 10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2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2E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Up to 50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2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2E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Unlimited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20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2E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Support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2E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Email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2E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Priority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2E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Dedicated manager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41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2E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Price / month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2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2E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$499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2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2E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$1,499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2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2E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Custom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20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12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CAFB4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85800"/>
            <a:ext cx="82296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Next steps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968500"/>
            <a:ext cx="8229600" cy="50800"/>
          </a:xfrm>
          <a:prstGeom prst="roundRect">
            <a:avLst>
              <a:gd name="adj" fmla="val 50000"/>
            </a:avLst>
          </a:prstGeom>
          <a:solidFill>
            <a:srgbClr val="FB923C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841500"/>
            <a:ext cx="304800" cy="304800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235200"/>
            <a:ext cx="26077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B92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2806700"/>
            <a:ext cx="260773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This week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57200" y="3505200"/>
            <a:ext cx="2607733" cy="289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B2AAA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Confirm scope and stakeholders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68133" y="1841500"/>
            <a:ext cx="304800" cy="304800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10" name="Text 8"/>
          <p:cNvSpPr/>
          <p:nvPr/>
        </p:nvSpPr>
        <p:spPr>
          <a:xfrm>
            <a:off x="3268133" y="2235200"/>
            <a:ext cx="26077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B92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268133" y="2806700"/>
            <a:ext cx="260773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Next week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268133" y="3505200"/>
            <a:ext cx="2607733" cy="289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B2AAA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Security review and contract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079067" y="1841500"/>
            <a:ext cx="304800" cy="304800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14" name="Text 12"/>
          <p:cNvSpPr/>
          <p:nvPr/>
        </p:nvSpPr>
        <p:spPr>
          <a:xfrm>
            <a:off x="6079067" y="2235200"/>
            <a:ext cx="26077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B92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079067" y="2806700"/>
            <a:ext cx="260773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 two weeks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079067" y="3505200"/>
            <a:ext cx="2607733" cy="289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B2AAA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Kick-off and pilot start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0E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Photograph for a sales &amp; proposals presentation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2880360"/>
            <a:ext cx="698500" cy="50800"/>
          </a:xfrm>
          <a:prstGeom prst="roundRect">
            <a:avLst>
              <a:gd name="adj" fmla="val 50000"/>
            </a:avLst>
          </a:prstGeom>
          <a:solidFill>
            <a:srgbClr val="FACC15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070860"/>
            <a:ext cx="8229600" cy="2075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5184140"/>
            <a:ext cx="82296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D0CFC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Questions? alex@example.com · +1 555 0100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ontserra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a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promptToPpt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Closer</dc:title>
  <dc:subject>PptxGenJS Presentation</dc:subject>
  <dc:creator>PptxGenJS</dc:creator>
  <cp:lastModifiedBy>PptxGenJS</cp:lastModifiedBy>
  <cp:revision>1</cp:revision>
  <dcterms:created xsi:type="dcterms:W3CDTF">2026-10-05T09:49:56Z</dcterms:created>
  <dcterms:modified xsi:type="dcterms:W3CDTF">2026-10-05T09:49:56Z</dcterms:modified>
</cp:coreProperties>
</file>