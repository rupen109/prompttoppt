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Market size</c:v>
                </c:pt>
              </c:strCache>
            </c:strRef>
          </c:tx>
          <c:spPr>
            <a:solidFill>
              <a:srgbClr val="7474F3"/>
            </a:solidFill>
            <a:effectLst/>
          </c:spPr>
          <c:invertIfNegative val="0"/>
          <c:dLbls>
            <c:numFmt formatCode="#,##0.##&quot;$B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EDEDF8"/>
                    </a:solidFill>
                    <a:latin typeface="Inter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2022</c:v>
                  </c:pt>
                  <c:pt idx="1">
                    <c:v>2023</c:v>
                  </c:pt>
                  <c:pt idx="2">
                    <c:v>2024</c:v>
                  </c:pt>
                  <c:pt idx="3">
                    <c:v>2025</c:v>
                  </c:pt>
                  <c:pt idx="4">
                    <c:v>2026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18</c:v>
                </c:pt>
                <c:pt idx="1">
                  <c:v>22</c:v>
                </c:pt>
                <c:pt idx="2">
                  <c:v>27</c:v>
                </c:pt>
                <c:pt idx="3">
                  <c:v>33</c:v>
                </c:pt>
                <c:pt idx="4">
                  <c:v>41</c:v>
                </c:pt>
              </c:numCache>
            </c:numRef>
          </c:val>
        </c:ser>
        <c:dLbls>
          <c:numFmt formatCode="#,##0.##&quot;$B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EDEDF8"/>
                  </a:solidFill>
                  <a:latin typeface="Inter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5A5B1"/>
                </a:solidFill>
                <a:latin typeface="Inter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A2A3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5A5B1"/>
                </a:solidFill>
                <a:latin typeface="Inter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one-line promise. Pause, then introduce yourself.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Make the pain concrete. Sample figures — replace with your own numbers before presenting.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Show, do not list. Keep this to the three things that matter.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Sample figures — replace with your own numbers before presenting. Cite your market-size source on the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left to right in under 30 seconds.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Sample figures — replace with your own numbers before presenting.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Name competitors out loud if asked; keep the slide neutral.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 each phase to a number investors can hold you 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credible line per person.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Sample figures — replace with your own numbers before presenting.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Invite questions. Keep this slide up during Q&amp;A.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909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t:TInr5z09JMtM" descr="Photograph for a pitch &amp; investors presentation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t:TInr5z09JMtM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pt:841FnkkeUL9m"/>
          <p:cNvSpPr/>
          <p:nvPr/>
        </p:nvSpPr>
        <p:spPr>
          <a:xfrm rot="-2700000">
            <a:off x="7507182" y="1521883"/>
            <a:ext cx="5349240" cy="31750"/>
          </a:xfrm>
          <a:prstGeom prst="rect">
            <a:avLst/>
          </a:prstGeom>
          <a:solidFill>
            <a:srgbClr val="22D3EE">
              <a:alpha val="85000"/>
            </a:srgbClr>
          </a:solidFill>
          <a:ln/>
        </p:spPr>
      </p:sp>
      <p:sp>
        <p:nvSpPr>
          <p:cNvPr id="5" name="pt:h32jGP4dJ5C3"/>
          <p:cNvSpPr/>
          <p:nvPr/>
        </p:nvSpPr>
        <p:spPr>
          <a:xfrm rot="2700000">
            <a:off x="7507182" y="5304367"/>
            <a:ext cx="5349240" cy="31750"/>
          </a:xfrm>
          <a:prstGeom prst="rect">
            <a:avLst/>
          </a:prstGeom>
          <a:solidFill>
            <a:srgbClr val="22D3EE">
              <a:alpha val="85000"/>
            </a:srgbClr>
          </a:solidFill>
          <a:ln/>
        </p:spPr>
      </p:sp>
      <p:sp>
        <p:nvSpPr>
          <p:cNvPr id="6" name="pt:AjWBymcZGklC"/>
          <p:cNvSpPr/>
          <p:nvPr/>
        </p:nvSpPr>
        <p:spPr>
          <a:xfrm rot="-2700000">
            <a:off x="7723082" y="1521883"/>
            <a:ext cx="5349240" cy="31750"/>
          </a:xfrm>
          <a:prstGeom prst="rect">
            <a:avLst/>
          </a:prstGeom>
          <a:solidFill>
            <a:srgbClr val="FFFFFF">
              <a:alpha val="80000"/>
            </a:srgbClr>
          </a:solidFill>
          <a:ln/>
        </p:spPr>
      </p:sp>
      <p:sp>
        <p:nvSpPr>
          <p:cNvPr id="7" name="pt:FsN1-dS1k9QF"/>
          <p:cNvSpPr/>
          <p:nvPr/>
        </p:nvSpPr>
        <p:spPr>
          <a:xfrm rot="2700000">
            <a:off x="7723082" y="5304367"/>
            <a:ext cx="5349240" cy="31750"/>
          </a:xfrm>
          <a:prstGeom prst="rect">
            <a:avLst/>
          </a:prstGeom>
          <a:solidFill>
            <a:srgbClr val="FFFFFF">
              <a:alpha val="80000"/>
            </a:srgbClr>
          </a:solidFill>
          <a:ln/>
        </p:spPr>
      </p:sp>
      <p:sp>
        <p:nvSpPr>
          <p:cNvPr id="8" name="pt:jVnSD0wtXbTc"/>
          <p:cNvSpPr/>
          <p:nvPr/>
        </p:nvSpPr>
        <p:spPr>
          <a:xfrm rot="-2700000">
            <a:off x="7938982" y="1521883"/>
            <a:ext cx="5349240" cy="31750"/>
          </a:xfrm>
          <a:prstGeom prst="rect">
            <a:avLst/>
          </a:prstGeom>
          <a:solidFill>
            <a:srgbClr val="FFFFFF">
              <a:alpha val="75000"/>
            </a:srgbClr>
          </a:solidFill>
          <a:ln/>
        </p:spPr>
      </p:sp>
      <p:sp>
        <p:nvSpPr>
          <p:cNvPr id="9" name="pt:SNdgJX7n5TtC"/>
          <p:cNvSpPr/>
          <p:nvPr/>
        </p:nvSpPr>
        <p:spPr>
          <a:xfrm rot="2700000">
            <a:off x="7938982" y="5304367"/>
            <a:ext cx="5349240" cy="31750"/>
          </a:xfrm>
          <a:prstGeom prst="rect">
            <a:avLst/>
          </a:prstGeom>
          <a:solidFill>
            <a:srgbClr val="FFFFFF">
              <a:alpha val="75000"/>
            </a:srgbClr>
          </a:solidFill>
          <a:ln/>
        </p:spPr>
      </p:sp>
      <p:sp>
        <p:nvSpPr>
          <p:cNvPr id="10" name="pt:CAj1sFNU7i6r"/>
          <p:cNvSpPr/>
          <p:nvPr/>
        </p:nvSpPr>
        <p:spPr>
          <a:xfrm rot="-2700000">
            <a:off x="8154882" y="1521883"/>
            <a:ext cx="5349240" cy="31750"/>
          </a:xfrm>
          <a:prstGeom prst="rect">
            <a:avLst/>
          </a:prstGeom>
          <a:solidFill>
            <a:srgbClr val="22D3EE">
              <a:alpha val="70000"/>
            </a:srgbClr>
          </a:solidFill>
          <a:ln/>
        </p:spPr>
      </p:sp>
      <p:sp>
        <p:nvSpPr>
          <p:cNvPr id="11" name="pt:VfCFHtiv9fzL"/>
          <p:cNvSpPr/>
          <p:nvPr/>
        </p:nvSpPr>
        <p:spPr>
          <a:xfrm rot="2700000">
            <a:off x="8154882" y="5304367"/>
            <a:ext cx="5349240" cy="31750"/>
          </a:xfrm>
          <a:prstGeom prst="rect">
            <a:avLst/>
          </a:prstGeom>
          <a:solidFill>
            <a:srgbClr val="22D3EE">
              <a:alpha val="70000"/>
            </a:srgbClr>
          </a:solidFill>
          <a:ln/>
        </p:spPr>
      </p:sp>
      <p:sp>
        <p:nvSpPr>
          <p:cNvPr id="12" name="pt:LsLdjqCL2i8w"/>
          <p:cNvSpPr/>
          <p:nvPr/>
        </p:nvSpPr>
        <p:spPr>
          <a:xfrm rot="-2700000">
            <a:off x="8370782" y="1521883"/>
            <a:ext cx="5349240" cy="31750"/>
          </a:xfrm>
          <a:prstGeom prst="rect">
            <a:avLst/>
          </a:prstGeom>
          <a:solidFill>
            <a:srgbClr val="FFFFFF">
              <a:alpha val="65000"/>
            </a:srgbClr>
          </a:solidFill>
          <a:ln/>
        </p:spPr>
      </p:sp>
      <p:sp>
        <p:nvSpPr>
          <p:cNvPr id="13" name="pt:Cj9Zev3yh_-U"/>
          <p:cNvSpPr/>
          <p:nvPr/>
        </p:nvSpPr>
        <p:spPr>
          <a:xfrm rot="2700000">
            <a:off x="8370782" y="5304367"/>
            <a:ext cx="5349240" cy="31750"/>
          </a:xfrm>
          <a:prstGeom prst="rect">
            <a:avLst/>
          </a:prstGeom>
          <a:solidFill>
            <a:srgbClr val="FFFFFF">
              <a:alpha val="65000"/>
            </a:srgbClr>
          </a:solidFill>
          <a:ln/>
        </p:spPr>
      </p:sp>
      <p:sp>
        <p:nvSpPr>
          <p:cNvPr id="14" name="pt:rc817ed0tnfN"/>
          <p:cNvSpPr/>
          <p:nvPr/>
        </p:nvSpPr>
        <p:spPr>
          <a:xfrm rot="-2700000">
            <a:off x="8586682" y="1521883"/>
            <a:ext cx="5349240" cy="31750"/>
          </a:xfrm>
          <a:prstGeom prst="rect">
            <a:avLst/>
          </a:prstGeom>
          <a:solidFill>
            <a:srgbClr val="FFFFFF">
              <a:alpha val="59000"/>
            </a:srgbClr>
          </a:solidFill>
          <a:ln/>
        </p:spPr>
      </p:sp>
      <p:sp>
        <p:nvSpPr>
          <p:cNvPr id="15" name="pt:kP1PUZyB2NIZ"/>
          <p:cNvSpPr/>
          <p:nvPr/>
        </p:nvSpPr>
        <p:spPr>
          <a:xfrm rot="2700000">
            <a:off x="8586682" y="5304367"/>
            <a:ext cx="5349240" cy="31750"/>
          </a:xfrm>
          <a:prstGeom prst="rect">
            <a:avLst/>
          </a:prstGeom>
          <a:solidFill>
            <a:srgbClr val="FFFFFF">
              <a:alpha val="59000"/>
            </a:srgbClr>
          </a:solidFill>
          <a:ln/>
        </p:spPr>
      </p:sp>
      <p:sp>
        <p:nvSpPr>
          <p:cNvPr id="16" name="pt:C99-uD35vjLU"/>
          <p:cNvSpPr/>
          <p:nvPr/>
        </p:nvSpPr>
        <p:spPr>
          <a:xfrm rot="-2700000">
            <a:off x="8802582" y="1521883"/>
            <a:ext cx="5349240" cy="31750"/>
          </a:xfrm>
          <a:prstGeom prst="rect">
            <a:avLst/>
          </a:prstGeom>
          <a:solidFill>
            <a:srgbClr val="22D3EE">
              <a:alpha val="54000"/>
            </a:srgbClr>
          </a:solidFill>
          <a:ln/>
        </p:spPr>
      </p:sp>
      <p:sp>
        <p:nvSpPr>
          <p:cNvPr id="17" name="pt:4VH4SwWbXcfX"/>
          <p:cNvSpPr/>
          <p:nvPr/>
        </p:nvSpPr>
        <p:spPr>
          <a:xfrm rot="2700000">
            <a:off x="8802582" y="5304367"/>
            <a:ext cx="5349240" cy="31750"/>
          </a:xfrm>
          <a:prstGeom prst="rect">
            <a:avLst/>
          </a:prstGeom>
          <a:solidFill>
            <a:srgbClr val="22D3EE">
              <a:alpha val="54000"/>
            </a:srgbClr>
          </a:solidFill>
          <a:ln/>
        </p:spPr>
      </p:sp>
      <p:sp>
        <p:nvSpPr>
          <p:cNvPr id="18" name="pt:2vGOySlPW2gc"/>
          <p:cNvSpPr/>
          <p:nvPr/>
        </p:nvSpPr>
        <p:spPr>
          <a:xfrm rot="-2700000">
            <a:off x="9018482" y="1521883"/>
            <a:ext cx="5349240" cy="31750"/>
          </a:xfrm>
          <a:prstGeom prst="rect">
            <a:avLst/>
          </a:prstGeom>
          <a:solidFill>
            <a:srgbClr val="FFFFFF">
              <a:alpha val="49000"/>
            </a:srgbClr>
          </a:solidFill>
          <a:ln/>
        </p:spPr>
      </p:sp>
      <p:sp>
        <p:nvSpPr>
          <p:cNvPr id="19" name="pt:k1_kBgjBjV4F"/>
          <p:cNvSpPr/>
          <p:nvPr/>
        </p:nvSpPr>
        <p:spPr>
          <a:xfrm rot="2700000">
            <a:off x="9018482" y="5304367"/>
            <a:ext cx="5349240" cy="31750"/>
          </a:xfrm>
          <a:prstGeom prst="rect">
            <a:avLst/>
          </a:prstGeom>
          <a:solidFill>
            <a:srgbClr val="FFFFFF">
              <a:alpha val="49000"/>
            </a:srgbClr>
          </a:solidFill>
          <a:ln/>
        </p:spPr>
      </p:sp>
      <p:sp>
        <p:nvSpPr>
          <p:cNvPr id="20" name="pt:S9i15NVbAFvC"/>
          <p:cNvSpPr/>
          <p:nvPr/>
        </p:nvSpPr>
        <p:spPr>
          <a:xfrm rot="-2700000">
            <a:off x="9234382" y="1521883"/>
            <a:ext cx="5349240" cy="31750"/>
          </a:xfrm>
          <a:prstGeom prst="rect">
            <a:avLst/>
          </a:prstGeom>
          <a:solidFill>
            <a:srgbClr val="FFFFFF">
              <a:alpha val="44000"/>
            </a:srgbClr>
          </a:solidFill>
          <a:ln/>
        </p:spPr>
      </p:sp>
      <p:sp>
        <p:nvSpPr>
          <p:cNvPr id="21" name="pt:lOdHvy3xdoVh"/>
          <p:cNvSpPr/>
          <p:nvPr/>
        </p:nvSpPr>
        <p:spPr>
          <a:xfrm rot="2700000">
            <a:off x="9234382" y="5304367"/>
            <a:ext cx="5349240" cy="31750"/>
          </a:xfrm>
          <a:prstGeom prst="rect">
            <a:avLst/>
          </a:prstGeom>
          <a:solidFill>
            <a:srgbClr val="FFFFFF">
              <a:alpha val="44000"/>
            </a:srgbClr>
          </a:solidFill>
          <a:ln/>
        </p:spPr>
      </p:sp>
      <p:sp>
        <p:nvSpPr>
          <p:cNvPr id="22" name="pt:Z18UXTbqbH0g"/>
          <p:cNvSpPr/>
          <p:nvPr/>
        </p:nvSpPr>
        <p:spPr>
          <a:xfrm rot="-2700000">
            <a:off x="9450282" y="1521883"/>
            <a:ext cx="5349240" cy="31750"/>
          </a:xfrm>
          <a:prstGeom prst="rect">
            <a:avLst/>
          </a:prstGeom>
          <a:solidFill>
            <a:srgbClr val="22D3EE">
              <a:alpha val="39000"/>
            </a:srgbClr>
          </a:solidFill>
          <a:ln/>
        </p:spPr>
      </p:sp>
      <p:sp>
        <p:nvSpPr>
          <p:cNvPr id="23" name="pt:YkN2D30Oa48H"/>
          <p:cNvSpPr/>
          <p:nvPr/>
        </p:nvSpPr>
        <p:spPr>
          <a:xfrm rot="2700000">
            <a:off x="9450282" y="5304367"/>
            <a:ext cx="5349240" cy="31750"/>
          </a:xfrm>
          <a:prstGeom prst="rect">
            <a:avLst/>
          </a:prstGeom>
          <a:solidFill>
            <a:srgbClr val="22D3EE">
              <a:alpha val="39000"/>
            </a:srgbClr>
          </a:solidFill>
          <a:ln/>
        </p:spPr>
      </p:sp>
      <p:sp>
        <p:nvSpPr>
          <p:cNvPr id="24" name="pt:nyd7JZb96_ea"/>
          <p:cNvSpPr/>
          <p:nvPr/>
        </p:nvSpPr>
        <p:spPr>
          <a:xfrm>
            <a:off x="975360" y="1371600"/>
            <a:ext cx="698500" cy="5080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/>
        </p:spPr>
      </p:sp>
      <p:sp>
        <p:nvSpPr>
          <p:cNvPr id="25" name="pt:_yJVNN1Z-Oul"/>
          <p:cNvSpPr/>
          <p:nvPr/>
        </p:nvSpPr>
        <p:spPr>
          <a:xfrm>
            <a:off x="975360" y="1562100"/>
            <a:ext cx="6339840" cy="269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EXPORTED-92271</a:t>
            </a:r>
            <a:endParaRPr lang="en-US" sz="4200" dirty="0"/>
          </a:p>
        </p:txBody>
      </p:sp>
      <p:sp>
        <p:nvSpPr>
          <p:cNvPr id="26" name="pt:Jyqmuh9do5s8"/>
          <p:cNvSpPr/>
          <p:nvPr/>
        </p:nvSpPr>
        <p:spPr>
          <a:xfrm>
            <a:off x="975360" y="4292600"/>
            <a:ext cx="6339840" cy="850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CECED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Seed round · Investor presentation</a:t>
            </a:r>
            <a:endParaRPr lang="en-US" sz="1600" dirty="0"/>
          </a:p>
        </p:txBody>
      </p:sp>
    </p:spTree>
  </p:cSld>
  <p:clrMapOvr>
    <a:masterClrMapping/>
  </p:clrMapOvr>
  <p:transition spd="med"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6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53" presetClass="entr" presetSubtype="16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6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0" dur="600" fill="hold"/>
                                        <p:tgtEl>
                                          <p:spTgt spid="25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6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4" dur="600" fill="hold"/>
                                        <p:tgtEl>
                                          <p:spTgt spid="26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t:h9X7eqBAsCwS" descr="Photograph for a pitch &amp; investors presentation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949440" y="609600"/>
            <a:ext cx="4632960" cy="5638800"/>
          </a:xfrm>
          <a:prstGeom prst="rect">
            <a:avLst/>
          </a:prstGeom>
        </p:spPr>
      </p:pic>
      <p:sp>
        <p:nvSpPr>
          <p:cNvPr id="3" name="pt:tPXtr7jtr_KG"/>
          <p:cNvSpPr/>
          <p:nvPr/>
        </p:nvSpPr>
        <p:spPr>
          <a:xfrm>
            <a:off x="609600" y="609600"/>
            <a:ext cx="5831840" cy="563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000" b="1" spc="150" kern="0" dirty="0">
                <a:solidFill>
                  <a:srgbClr val="22D3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PROBLEM</a:t>
            </a:r>
            <a:endParaRPr lang="en-US" sz="2000" dirty="0"/>
          </a:p>
        </p:txBody>
      </p:sp>
      <p:sp>
        <p:nvSpPr>
          <p:cNvPr id="4" name="pt:NuT9vYtLl2ar"/>
          <p:cNvSpPr/>
          <p:nvPr/>
        </p:nvSpPr>
        <p:spPr>
          <a:xfrm>
            <a:off x="609600" y="1173480"/>
            <a:ext cx="5831840" cy="2142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23%</a:t>
            </a:r>
            <a:endParaRPr lang="en-US" sz="12000" dirty="0"/>
          </a:p>
        </p:txBody>
      </p:sp>
      <p:sp>
        <p:nvSpPr>
          <p:cNvPr id="5" name="pt:DdWvIRPWst54"/>
          <p:cNvSpPr/>
          <p:nvPr/>
        </p:nvSpPr>
        <p:spPr>
          <a:xfrm>
            <a:off x="609600" y="3429000"/>
            <a:ext cx="583184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of delivery spend is wasted on empty miles and failed first attempts</a:t>
            </a:r>
            <a:endParaRPr lang="en-US" sz="2200" dirty="0"/>
          </a:p>
        </p:txBody>
      </p:sp>
      <p:sp>
        <p:nvSpPr>
          <p:cNvPr id="6" name="pt:g9Teb1dTfp6F"/>
          <p:cNvSpPr/>
          <p:nvPr/>
        </p:nvSpPr>
        <p:spPr>
          <a:xfrm>
            <a:off x="609600" y="4556760"/>
            <a:ext cx="58318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Small carriers plan routes by hand</a:t>
            </a:r>
            <a:endParaRPr lang="en-US" sz="1500" dirty="0"/>
          </a:p>
          <a:p>
            <a:pPr algn="l"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Customers get vague delivery windows</a:t>
            </a:r>
            <a:endParaRPr lang="en-US" sz="15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5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tool fits a fleet under 200 vehicles</a:t>
            </a:r>
            <a:endParaRPr lang="en-US" sz="1500" dirty="0"/>
          </a:p>
        </p:txBody>
      </p:sp>
    </p:spTree>
  </p:cSld>
  <p:clrMapOvr>
    <a:masterClrMapping/>
  </p:clrMapOvr>
  <p:transition spd="med"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600" fill="hold"/>
                                        <p:tgtEl>
                                          <p:spTgt spid="3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4" dur="600" fill="hold"/>
                                        <p:tgtEl>
                                          <p:spTgt spid="5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9" presetID="53" presetClass="entr" presetSubtype="16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8" dur="600" fill="hold"/>
                                        <p:tgtEl>
                                          <p:spTgt spid="6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t:j0w8jLILNjUh"/>
          <p:cNvSpPr/>
          <p:nvPr/>
        </p:nvSpPr>
        <p:spPr>
          <a:xfrm>
            <a:off x="0" y="304800"/>
            <a:ext cx="12192000" cy="12700"/>
          </a:xfrm>
          <a:prstGeom prst="rect">
            <a:avLst/>
          </a:prstGeom>
          <a:solidFill>
            <a:srgbClr val="2A2A39"/>
          </a:solidFill>
          <a:ln/>
        </p:spPr>
      </p:sp>
      <p:sp>
        <p:nvSpPr>
          <p:cNvPr id="3" name="pt:oYp_k6yBU2s_"/>
          <p:cNvSpPr/>
          <p:nvPr/>
        </p:nvSpPr>
        <p:spPr>
          <a:xfrm>
            <a:off x="609600" y="660400"/>
            <a:ext cx="52832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Our solution</a:t>
            </a:r>
            <a:endParaRPr lang="en-US" sz="3000" dirty="0"/>
          </a:p>
        </p:txBody>
      </p:sp>
      <p:sp>
        <p:nvSpPr>
          <p:cNvPr id="4" name="pt:xN9rOwb-WT4X"/>
          <p:cNvSpPr/>
          <p:nvPr/>
        </p:nvSpPr>
        <p:spPr>
          <a:xfrm>
            <a:off x="609600" y="1739900"/>
            <a:ext cx="5283200" cy="450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EDE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Automatic route planning in under a minute</a:t>
            </a:r>
            <a:endParaRPr lang="en-US" sz="1600" dirty="0"/>
          </a:p>
          <a:p>
            <a:pPr algn="l"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EDE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Live delivery windows customers can trust</a:t>
            </a:r>
            <a:endParaRPr lang="en-US" sz="16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600" dirty="0">
                <a:solidFill>
                  <a:srgbClr val="EDE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Works with the vans and phones fleets already have</a:t>
            </a:r>
            <a:endParaRPr lang="en-US" sz="1600" dirty="0"/>
          </a:p>
        </p:txBody>
      </p:sp>
      <p:pic>
        <p:nvPicPr>
          <p:cNvPr id="5" name="pt:e06ClgVMYJm4" descr="Delivery van in a city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299200" y="609600"/>
            <a:ext cx="5283200" cy="5638800"/>
          </a:xfrm>
          <a:prstGeom prst="rect">
            <a:avLst/>
          </a:prstGeom>
        </p:spPr>
      </p:pic>
    </p:spTree>
  </p:cSld>
  <p:clrMapOvr>
    <a:masterClrMapping/>
  </p:clrMapOvr>
  <p:transition spd="med"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600" fill="hold"/>
                                        <p:tgtEl>
                                          <p:spTgt spid="3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2" presetID="53" presetClass="entr" presetSubtype="16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" dur="6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6" presetID="53" presetClass="entr" presetSubtype="16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5" dur="6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9" dur="6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t:8clxFWWb7JGA"/>
          <p:cNvSpPr/>
          <p:nvPr/>
        </p:nvSpPr>
        <p:spPr>
          <a:xfrm>
            <a:off x="0" y="304800"/>
            <a:ext cx="12192000" cy="12700"/>
          </a:xfrm>
          <a:prstGeom prst="rect">
            <a:avLst/>
          </a:prstGeom>
          <a:solidFill>
            <a:srgbClr val="2A2A39"/>
          </a:solidFill>
          <a:ln/>
        </p:spPr>
      </p:sp>
      <p:sp>
        <p:nvSpPr>
          <p:cNvPr id="3" name="pt:R3HRGVWP4rtQ"/>
          <p:cNvSpPr/>
          <p:nvPr/>
        </p:nvSpPr>
        <p:spPr>
          <a:xfrm>
            <a:off x="609600" y="660400"/>
            <a:ext cx="109728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 market that is </a:t>
            </a:r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22D3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growing fast</a:t>
            </a:r>
            <a:endParaRPr lang="en-US" sz="3000" dirty="0"/>
          </a:p>
        </p:txBody>
      </p:sp>
      <p:graphicFrame>
        <p:nvGraphicFramePr>
          <p:cNvPr id="4" name="pt:iIKKC__SjoOJ" descr=""/>
          <p:cNvGraphicFramePr/>
          <p:nvPr/>
        </p:nvGraphicFramePr>
        <p:xfrm>
          <a:off x="609600" y="1739900"/>
          <a:ext cx="6803136" cy="45085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pt:6n9xfrfP30Ey"/>
          <p:cNvSpPr/>
          <p:nvPr/>
        </p:nvSpPr>
        <p:spPr>
          <a:xfrm>
            <a:off x="7730236" y="1816100"/>
            <a:ext cx="3915664" cy="4508500"/>
          </a:xfrm>
          <a:prstGeom prst="roundRect">
            <a:avLst>
              <a:gd name="adj" fmla="val 2595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6" name="pt:kr4sQa-hSwvc"/>
          <p:cNvSpPr/>
          <p:nvPr/>
        </p:nvSpPr>
        <p:spPr>
          <a:xfrm>
            <a:off x="7666736" y="1739900"/>
            <a:ext cx="3915664" cy="4508500"/>
          </a:xfrm>
          <a:prstGeom prst="roundRect">
            <a:avLst>
              <a:gd name="adj" fmla="val 2595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7" name="pt:_cd2hDT6JXqX"/>
          <p:cNvSpPr/>
          <p:nvPr/>
        </p:nvSpPr>
        <p:spPr>
          <a:xfrm>
            <a:off x="7869936" y="1968500"/>
            <a:ext cx="3509264" cy="4051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EDE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Last-mile software is on track to more than double in five years.</a:t>
            </a:r>
            <a:endParaRPr lang="en-US" sz="1600" dirty="0"/>
          </a:p>
        </p:txBody>
      </p:sp>
    </p:spTree>
  </p:cSld>
  <p:clrMapOvr>
    <a:masterClrMapping/>
  </p:clrMapOvr>
  <p:transition spd="med"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600" fill="hold"/>
                                        <p:tgtEl>
                                          <p:spTgt spid="3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2" presetID="53" presetClass="entr" presetSubtype="16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" dur="600" fill="hold"/>
                                        <p:tgtEl>
                                          <p:spTgt spid="4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6" presetID="53" presetClass="entr" presetSubtype="16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5" dur="600" fill="hold"/>
                                        <p:tgtEl>
                                          <p:spTgt spid="6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9" dur="600" fill="hold"/>
                                        <p:tgtEl>
                                          <p:spTgt spid="7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t:teuJ9Vsv-RoH"/>
          <p:cNvSpPr/>
          <p:nvPr/>
        </p:nvSpPr>
        <p:spPr>
          <a:xfrm>
            <a:off x="0" y="304800"/>
            <a:ext cx="12192000" cy="12700"/>
          </a:xfrm>
          <a:prstGeom prst="rect">
            <a:avLst/>
          </a:prstGeom>
          <a:solidFill>
            <a:srgbClr val="2A2A39"/>
          </a:solidFill>
          <a:ln/>
        </p:spPr>
      </p:sp>
      <p:sp>
        <p:nvSpPr>
          <p:cNvPr id="3" name="pt:XH563VebntZl"/>
          <p:cNvSpPr/>
          <p:nvPr/>
        </p:nvSpPr>
        <p:spPr>
          <a:xfrm>
            <a:off x="609600" y="660400"/>
            <a:ext cx="109728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How it </a:t>
            </a:r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22D3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works</a:t>
            </a:r>
            <a:endParaRPr lang="en-US" sz="3000" dirty="0"/>
          </a:p>
        </p:txBody>
      </p:sp>
      <p:sp>
        <p:nvSpPr>
          <p:cNvPr id="4" name="pt:Gxbvh6kQCEEX"/>
          <p:cNvSpPr/>
          <p:nvPr/>
        </p:nvSpPr>
        <p:spPr>
          <a:xfrm>
            <a:off x="1476375" y="2280920"/>
            <a:ext cx="406400" cy="355600"/>
          </a:xfrm>
          <a:prstGeom prst="chevron">
            <a:avLst/>
          </a:prstGeom>
          <a:solidFill>
            <a:srgbClr val="7474F3"/>
          </a:solidFill>
          <a:ln/>
        </p:spPr>
      </p:sp>
      <p:sp>
        <p:nvSpPr>
          <p:cNvPr id="5" name="pt:zDt10M9h3y0k"/>
          <p:cNvSpPr/>
          <p:nvPr/>
        </p:nvSpPr>
        <p:spPr>
          <a:xfrm>
            <a:off x="1755775" y="2280920"/>
            <a:ext cx="406400" cy="355600"/>
          </a:xfrm>
          <a:prstGeom prst="chevron">
            <a:avLst/>
          </a:prstGeom>
          <a:solidFill>
            <a:srgbClr val="6767D9"/>
          </a:solidFill>
          <a:ln/>
        </p:spPr>
      </p:sp>
      <p:sp>
        <p:nvSpPr>
          <p:cNvPr id="6" name="pt:1QolC27rEAx8"/>
          <p:cNvSpPr/>
          <p:nvPr/>
        </p:nvSpPr>
        <p:spPr>
          <a:xfrm>
            <a:off x="2035175" y="2280920"/>
            <a:ext cx="406400" cy="355600"/>
          </a:xfrm>
          <a:prstGeom prst="chevron">
            <a:avLst/>
          </a:prstGeom>
          <a:solidFill>
            <a:srgbClr val="5555B2"/>
          </a:solidFill>
          <a:ln/>
        </p:spPr>
      </p:sp>
      <p:sp>
        <p:nvSpPr>
          <p:cNvPr id="7" name="pt:zoD5FiA2Owgk"/>
          <p:cNvSpPr/>
          <p:nvPr/>
        </p:nvSpPr>
        <p:spPr>
          <a:xfrm>
            <a:off x="1889125" y="2763520"/>
            <a:ext cx="12700" cy="342900"/>
          </a:xfrm>
          <a:prstGeom prst="rect">
            <a:avLst/>
          </a:prstGeom>
          <a:solidFill>
            <a:srgbClr val="2D2D3C"/>
          </a:solidFill>
          <a:ln/>
        </p:spPr>
      </p:sp>
      <p:sp>
        <p:nvSpPr>
          <p:cNvPr id="8" name="pt:-Qvvh_EvLoLi"/>
          <p:cNvSpPr/>
          <p:nvPr/>
        </p:nvSpPr>
        <p:spPr>
          <a:xfrm>
            <a:off x="609600" y="3182620"/>
            <a:ext cx="25717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Import</a:t>
            </a:r>
            <a:endParaRPr lang="en-US" sz="2000" dirty="0"/>
          </a:p>
        </p:txBody>
      </p:sp>
      <p:sp>
        <p:nvSpPr>
          <p:cNvPr id="9" name="pt:qEylUlERphCc"/>
          <p:cNvSpPr/>
          <p:nvPr/>
        </p:nvSpPr>
        <p:spPr>
          <a:xfrm>
            <a:off x="609600" y="3804920"/>
            <a:ext cx="2571750" cy="2443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Upload the day’s orders or sync your system</a:t>
            </a:r>
            <a:endParaRPr lang="en-US" sz="1600" dirty="0"/>
          </a:p>
        </p:txBody>
      </p:sp>
      <p:sp>
        <p:nvSpPr>
          <p:cNvPr id="10" name="pt:OfimsUncM-bV"/>
          <p:cNvSpPr/>
          <p:nvPr/>
        </p:nvSpPr>
        <p:spPr>
          <a:xfrm>
            <a:off x="4276725" y="2280920"/>
            <a:ext cx="406400" cy="355600"/>
          </a:xfrm>
          <a:prstGeom prst="chevron">
            <a:avLst/>
          </a:prstGeom>
          <a:solidFill>
            <a:srgbClr val="5994F1"/>
          </a:solidFill>
          <a:ln/>
        </p:spPr>
      </p:sp>
      <p:sp>
        <p:nvSpPr>
          <p:cNvPr id="11" name="pt:d4Dd-FDa0Rc1"/>
          <p:cNvSpPr/>
          <p:nvPr/>
        </p:nvSpPr>
        <p:spPr>
          <a:xfrm>
            <a:off x="4556125" y="2280920"/>
            <a:ext cx="406400" cy="355600"/>
          </a:xfrm>
          <a:prstGeom prst="chevron">
            <a:avLst/>
          </a:prstGeom>
          <a:solidFill>
            <a:srgbClr val="5084D7"/>
          </a:solidFill>
          <a:ln/>
        </p:spPr>
      </p:sp>
      <p:sp>
        <p:nvSpPr>
          <p:cNvPr id="12" name="pt:y_KvNfUPQPoN"/>
          <p:cNvSpPr/>
          <p:nvPr/>
        </p:nvSpPr>
        <p:spPr>
          <a:xfrm>
            <a:off x="4835525" y="2280920"/>
            <a:ext cx="406400" cy="355600"/>
          </a:xfrm>
          <a:prstGeom prst="chevron">
            <a:avLst/>
          </a:prstGeom>
          <a:solidFill>
            <a:srgbClr val="426BB1"/>
          </a:solidFill>
          <a:ln/>
        </p:spPr>
      </p:sp>
      <p:sp>
        <p:nvSpPr>
          <p:cNvPr id="13" name="pt:Kxx5hx0LGHk3"/>
          <p:cNvSpPr/>
          <p:nvPr/>
        </p:nvSpPr>
        <p:spPr>
          <a:xfrm>
            <a:off x="4689475" y="2763520"/>
            <a:ext cx="12700" cy="342900"/>
          </a:xfrm>
          <a:prstGeom prst="rect">
            <a:avLst/>
          </a:prstGeom>
          <a:solidFill>
            <a:srgbClr val="2D2D3C"/>
          </a:solidFill>
          <a:ln/>
        </p:spPr>
      </p:sp>
      <p:sp>
        <p:nvSpPr>
          <p:cNvPr id="14" name="pt:7ITrMmmG5DvI"/>
          <p:cNvSpPr/>
          <p:nvPr/>
        </p:nvSpPr>
        <p:spPr>
          <a:xfrm>
            <a:off x="3409950" y="3182620"/>
            <a:ext cx="25717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Plan</a:t>
            </a:r>
            <a:endParaRPr lang="en-US" sz="2000" dirty="0"/>
          </a:p>
        </p:txBody>
      </p:sp>
      <p:sp>
        <p:nvSpPr>
          <p:cNvPr id="15" name="pt:AP9GvNWVE0Vp"/>
          <p:cNvSpPr/>
          <p:nvPr/>
        </p:nvSpPr>
        <p:spPr>
          <a:xfrm>
            <a:off x="3409950" y="3804920"/>
            <a:ext cx="2571750" cy="2443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Routes are optimised for time, cost and capacity</a:t>
            </a:r>
            <a:endParaRPr lang="en-US" sz="1600" dirty="0"/>
          </a:p>
        </p:txBody>
      </p:sp>
      <p:sp>
        <p:nvSpPr>
          <p:cNvPr id="16" name="pt:ejeVjOhCoSvJ"/>
          <p:cNvSpPr/>
          <p:nvPr/>
        </p:nvSpPr>
        <p:spPr>
          <a:xfrm>
            <a:off x="7077075" y="2280920"/>
            <a:ext cx="406400" cy="355600"/>
          </a:xfrm>
          <a:prstGeom prst="chevron">
            <a:avLst/>
          </a:prstGeom>
          <a:solidFill>
            <a:srgbClr val="3DB3F0"/>
          </a:solidFill>
          <a:ln/>
        </p:spPr>
      </p:sp>
      <p:sp>
        <p:nvSpPr>
          <p:cNvPr id="17" name="pt:ckk71VTFNKTo"/>
          <p:cNvSpPr/>
          <p:nvPr/>
        </p:nvSpPr>
        <p:spPr>
          <a:xfrm>
            <a:off x="7356475" y="2280920"/>
            <a:ext cx="406400" cy="355600"/>
          </a:xfrm>
          <a:prstGeom prst="chevron">
            <a:avLst/>
          </a:prstGeom>
          <a:solidFill>
            <a:srgbClr val="379FD6"/>
          </a:solidFill>
          <a:ln/>
        </p:spPr>
      </p:sp>
      <p:sp>
        <p:nvSpPr>
          <p:cNvPr id="18" name="pt:bZojuQkrN7CZ"/>
          <p:cNvSpPr/>
          <p:nvPr/>
        </p:nvSpPr>
        <p:spPr>
          <a:xfrm>
            <a:off x="7635875" y="2280920"/>
            <a:ext cx="406400" cy="355600"/>
          </a:xfrm>
          <a:prstGeom prst="chevron">
            <a:avLst/>
          </a:prstGeom>
          <a:solidFill>
            <a:srgbClr val="2E81B0"/>
          </a:solidFill>
          <a:ln/>
        </p:spPr>
      </p:sp>
      <p:sp>
        <p:nvSpPr>
          <p:cNvPr id="19" name="pt:-AZm0KRb24Ur"/>
          <p:cNvSpPr/>
          <p:nvPr/>
        </p:nvSpPr>
        <p:spPr>
          <a:xfrm>
            <a:off x="7489825" y="2763520"/>
            <a:ext cx="12700" cy="342900"/>
          </a:xfrm>
          <a:prstGeom prst="rect">
            <a:avLst/>
          </a:prstGeom>
          <a:solidFill>
            <a:srgbClr val="2D2D3C"/>
          </a:solidFill>
          <a:ln/>
        </p:spPr>
      </p:sp>
      <p:sp>
        <p:nvSpPr>
          <p:cNvPr id="20" name="pt:odFQw9EHtZoL"/>
          <p:cNvSpPr/>
          <p:nvPr/>
        </p:nvSpPr>
        <p:spPr>
          <a:xfrm>
            <a:off x="6210300" y="3182620"/>
            <a:ext cx="25717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Deliver</a:t>
            </a:r>
            <a:endParaRPr lang="en-US" sz="2000" dirty="0"/>
          </a:p>
        </p:txBody>
      </p:sp>
      <p:sp>
        <p:nvSpPr>
          <p:cNvPr id="21" name="pt:O5LQg8F8RzeG"/>
          <p:cNvSpPr/>
          <p:nvPr/>
        </p:nvSpPr>
        <p:spPr>
          <a:xfrm>
            <a:off x="6210300" y="3804920"/>
            <a:ext cx="2571750" cy="2443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Drivers follow turn-by-turn routes in the app</a:t>
            </a:r>
            <a:endParaRPr lang="en-US" sz="1600" dirty="0"/>
          </a:p>
        </p:txBody>
      </p:sp>
      <p:sp>
        <p:nvSpPr>
          <p:cNvPr id="22" name="pt:_3uwsWBZsA_O"/>
          <p:cNvSpPr/>
          <p:nvPr/>
        </p:nvSpPr>
        <p:spPr>
          <a:xfrm>
            <a:off x="9877425" y="2280920"/>
            <a:ext cx="406400" cy="355600"/>
          </a:xfrm>
          <a:prstGeom prst="chevron">
            <a:avLst/>
          </a:prstGeom>
          <a:solidFill>
            <a:srgbClr val="22D3EE"/>
          </a:solidFill>
          <a:ln/>
        </p:spPr>
      </p:sp>
      <p:sp>
        <p:nvSpPr>
          <p:cNvPr id="23" name="pt:LTYBg3571EHm"/>
          <p:cNvSpPr/>
          <p:nvPr/>
        </p:nvSpPr>
        <p:spPr>
          <a:xfrm>
            <a:off x="10156825" y="2280920"/>
            <a:ext cx="406400" cy="355600"/>
          </a:xfrm>
          <a:prstGeom prst="chevron">
            <a:avLst/>
          </a:prstGeom>
          <a:solidFill>
            <a:srgbClr val="1FBBD5"/>
          </a:solidFill>
          <a:ln/>
        </p:spPr>
      </p:sp>
      <p:sp>
        <p:nvSpPr>
          <p:cNvPr id="24" name="pt:uhPiQTi9wszf"/>
          <p:cNvSpPr/>
          <p:nvPr/>
        </p:nvSpPr>
        <p:spPr>
          <a:xfrm>
            <a:off x="10436225" y="2280920"/>
            <a:ext cx="406400" cy="355600"/>
          </a:xfrm>
          <a:prstGeom prst="chevron">
            <a:avLst/>
          </a:prstGeom>
          <a:solidFill>
            <a:srgbClr val="1B97AF"/>
          </a:solidFill>
          <a:ln/>
        </p:spPr>
      </p:sp>
      <p:sp>
        <p:nvSpPr>
          <p:cNvPr id="25" name="pt:xIZ_QrwNIWil"/>
          <p:cNvSpPr/>
          <p:nvPr/>
        </p:nvSpPr>
        <p:spPr>
          <a:xfrm>
            <a:off x="10290175" y="2763520"/>
            <a:ext cx="12700" cy="342900"/>
          </a:xfrm>
          <a:prstGeom prst="rect">
            <a:avLst/>
          </a:prstGeom>
          <a:solidFill>
            <a:srgbClr val="2D2D3C"/>
          </a:solidFill>
          <a:ln/>
        </p:spPr>
      </p:sp>
      <p:sp>
        <p:nvSpPr>
          <p:cNvPr id="26" name="pt:6C2MWgoS4mQf"/>
          <p:cNvSpPr/>
          <p:nvPr/>
        </p:nvSpPr>
        <p:spPr>
          <a:xfrm>
            <a:off x="9010650" y="3182620"/>
            <a:ext cx="25717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Notify</a:t>
            </a:r>
            <a:endParaRPr lang="en-US" sz="2000" dirty="0"/>
          </a:p>
        </p:txBody>
      </p:sp>
      <p:sp>
        <p:nvSpPr>
          <p:cNvPr id="27" name="pt:qwf_fuIzCTvq"/>
          <p:cNvSpPr/>
          <p:nvPr/>
        </p:nvSpPr>
        <p:spPr>
          <a:xfrm>
            <a:off x="9010650" y="3804920"/>
            <a:ext cx="2571750" cy="2443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Customers get live windows and proof of delivery</a:t>
            </a:r>
            <a:endParaRPr lang="en-US" sz="1600" dirty="0"/>
          </a:p>
        </p:txBody>
      </p:sp>
    </p:spTree>
  </p:cSld>
  <p:clrMapOvr>
    <a:masterClrMapping/>
  </p:clrMapOvr>
  <p:transition spd="med"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600" fill="hold"/>
                                        <p:tgtEl>
                                          <p:spTgt spid="3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2" presetID="53" presetClass="entr" presetSubtype="16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" dur="600" fill="hold"/>
                                        <p:tgtEl>
                                          <p:spTgt spid="4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6" presetID="53" presetClass="entr" presetSubtype="16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5" dur="600" fill="hold"/>
                                        <p:tgtEl>
                                          <p:spTgt spid="8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9" dur="600" fill="hold"/>
                                        <p:tgtEl>
                                          <p:spTgt spid="14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4" presetID="53" presetClass="entr" presetSubtype="16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3" dur="600" fill="hold"/>
                                        <p:tgtEl>
                                          <p:spTgt spid="20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8" presetID="53" presetClass="entr" presetSubtype="16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6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7" dur="600" fill="hold"/>
                                        <p:tgtEl>
                                          <p:spTgt spid="26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t:Z_y-vHdhEBuf"/>
          <p:cNvSpPr/>
          <p:nvPr/>
        </p:nvSpPr>
        <p:spPr>
          <a:xfrm>
            <a:off x="0" y="304800"/>
            <a:ext cx="12192000" cy="12700"/>
          </a:xfrm>
          <a:prstGeom prst="rect">
            <a:avLst/>
          </a:prstGeom>
          <a:solidFill>
            <a:srgbClr val="2A2A39"/>
          </a:solidFill>
          <a:ln/>
        </p:spPr>
      </p:sp>
      <p:sp>
        <p:nvSpPr>
          <p:cNvPr id="3" name="pt:1mDgPuSjZBRM"/>
          <p:cNvSpPr/>
          <p:nvPr/>
        </p:nvSpPr>
        <p:spPr>
          <a:xfrm>
            <a:off x="609600" y="660400"/>
            <a:ext cx="109728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Traction so </a:t>
            </a:r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22D3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far</a:t>
            </a:r>
            <a:endParaRPr lang="en-US" sz="3000" dirty="0"/>
          </a:p>
        </p:txBody>
      </p:sp>
      <p:pic>
        <p:nvPicPr>
          <p:cNvPr id="4" name="pt:-8ET-2MW2T-z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600" y="2533650"/>
            <a:ext cx="2590800" cy="2921000"/>
          </a:xfrm>
          <a:prstGeom prst="rect">
            <a:avLst/>
          </a:prstGeom>
        </p:spPr>
      </p:pic>
      <p:sp>
        <p:nvSpPr>
          <p:cNvPr id="5" name="pt:fXtHT9rrgdSi"/>
          <p:cNvSpPr/>
          <p:nvPr/>
        </p:nvSpPr>
        <p:spPr>
          <a:xfrm>
            <a:off x="609600" y="2533650"/>
            <a:ext cx="50800" cy="2921000"/>
          </a:xfrm>
          <a:prstGeom prst="roundRect">
            <a:avLst>
              <a:gd name="adj" fmla="val 50000"/>
            </a:avLst>
          </a:prstGeom>
          <a:solidFill>
            <a:srgbClr val="7474F3"/>
          </a:solidFill>
          <a:ln/>
        </p:spPr>
      </p:sp>
      <p:sp>
        <p:nvSpPr>
          <p:cNvPr id="6" name="pt:4bRTENVAbPmQ"/>
          <p:cNvSpPr/>
          <p:nvPr/>
        </p:nvSpPr>
        <p:spPr>
          <a:xfrm>
            <a:off x="863600" y="2686050"/>
            <a:ext cx="2146300" cy="993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5500" b="1" dirty="0">
                <a:solidFill>
                  <a:srgbClr val="7474F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84</a:t>
            </a:r>
            <a:endParaRPr lang="en-US" sz="5500" dirty="0"/>
          </a:p>
        </p:txBody>
      </p:sp>
      <p:sp>
        <p:nvSpPr>
          <p:cNvPr id="7" name="pt:yI0DTmt_ae3-"/>
          <p:cNvSpPr/>
          <p:nvPr/>
        </p:nvSpPr>
        <p:spPr>
          <a:xfrm>
            <a:off x="863600" y="3760470"/>
            <a:ext cx="21463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Paying fleets</a:t>
            </a:r>
            <a:endParaRPr lang="en-US" sz="1700" dirty="0"/>
          </a:p>
        </p:txBody>
      </p:sp>
      <p:sp>
        <p:nvSpPr>
          <p:cNvPr id="8" name="pt:Uu1CYoO3d_WY"/>
          <p:cNvSpPr/>
          <p:nvPr/>
        </p:nvSpPr>
        <p:spPr>
          <a:xfrm>
            <a:off x="863600" y="4403090"/>
            <a:ext cx="2146300" cy="876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Up from 12 a year ago</a:t>
            </a:r>
            <a:endParaRPr lang="en-US" sz="1200" dirty="0"/>
          </a:p>
        </p:txBody>
      </p:sp>
      <p:pic>
        <p:nvPicPr>
          <p:cNvPr id="9" name="pt:mmiG8qnDyuFX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3600" y="2533650"/>
            <a:ext cx="2590800" cy="2921000"/>
          </a:xfrm>
          <a:prstGeom prst="rect">
            <a:avLst/>
          </a:prstGeom>
        </p:spPr>
      </p:pic>
      <p:sp>
        <p:nvSpPr>
          <p:cNvPr id="10" name="pt:KMq1JDU3-U-7"/>
          <p:cNvSpPr/>
          <p:nvPr/>
        </p:nvSpPr>
        <p:spPr>
          <a:xfrm>
            <a:off x="3403600" y="2533650"/>
            <a:ext cx="50800" cy="292100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/>
        </p:spPr>
      </p:sp>
      <p:sp>
        <p:nvSpPr>
          <p:cNvPr id="11" name="pt:bWoadun_1UVz"/>
          <p:cNvSpPr/>
          <p:nvPr/>
        </p:nvSpPr>
        <p:spPr>
          <a:xfrm>
            <a:off x="3657600" y="2686050"/>
            <a:ext cx="2146300" cy="993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5500" b="1" dirty="0">
                <a:solidFill>
                  <a:srgbClr val="7474F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$610K</a:t>
            </a:r>
            <a:endParaRPr lang="en-US" sz="5500" dirty="0"/>
          </a:p>
        </p:txBody>
      </p:sp>
      <p:sp>
        <p:nvSpPr>
          <p:cNvPr id="12" name="pt:P7-GJD0OB9iA"/>
          <p:cNvSpPr/>
          <p:nvPr/>
        </p:nvSpPr>
        <p:spPr>
          <a:xfrm>
            <a:off x="3657600" y="3760470"/>
            <a:ext cx="21463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Annual recurring revenue</a:t>
            </a:r>
            <a:endParaRPr lang="en-US" sz="1700" dirty="0"/>
          </a:p>
        </p:txBody>
      </p:sp>
      <p:pic>
        <p:nvPicPr>
          <p:cNvPr id="13" name="pt:jCi6NogCXbKT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7600" y="2533650"/>
            <a:ext cx="2590800" cy="2921000"/>
          </a:xfrm>
          <a:prstGeom prst="rect">
            <a:avLst/>
          </a:prstGeom>
        </p:spPr>
      </p:pic>
      <p:sp>
        <p:nvSpPr>
          <p:cNvPr id="14" name="pt:LBC4M5fQhP3l"/>
          <p:cNvSpPr/>
          <p:nvPr/>
        </p:nvSpPr>
        <p:spPr>
          <a:xfrm>
            <a:off x="6197600" y="2533650"/>
            <a:ext cx="50800" cy="2921000"/>
          </a:xfrm>
          <a:prstGeom prst="roundRect">
            <a:avLst>
              <a:gd name="adj" fmla="val 50000"/>
            </a:avLst>
          </a:prstGeom>
          <a:solidFill>
            <a:srgbClr val="7474F3"/>
          </a:solidFill>
          <a:ln/>
        </p:spPr>
      </p:sp>
      <p:sp>
        <p:nvSpPr>
          <p:cNvPr id="15" name="pt:Ns2mAwvTbzSi"/>
          <p:cNvSpPr/>
          <p:nvPr/>
        </p:nvSpPr>
        <p:spPr>
          <a:xfrm>
            <a:off x="6451600" y="2686050"/>
            <a:ext cx="2146300" cy="993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5500" b="1" dirty="0">
                <a:solidFill>
                  <a:srgbClr val="7474F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17%</a:t>
            </a:r>
            <a:endParaRPr lang="en-US" sz="5500" dirty="0"/>
          </a:p>
        </p:txBody>
      </p:sp>
      <p:sp>
        <p:nvSpPr>
          <p:cNvPr id="16" name="pt:tiA2AsMUTT9I"/>
          <p:cNvSpPr/>
          <p:nvPr/>
        </p:nvSpPr>
        <p:spPr>
          <a:xfrm>
            <a:off x="6451600" y="3760470"/>
            <a:ext cx="21463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Month-on-month growth</a:t>
            </a:r>
            <a:endParaRPr lang="en-US" sz="1700" dirty="0"/>
          </a:p>
        </p:txBody>
      </p:sp>
      <p:pic>
        <p:nvPicPr>
          <p:cNvPr id="17" name="pt:9E-MppHqLcnF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91600" y="2533650"/>
            <a:ext cx="2590800" cy="2921000"/>
          </a:xfrm>
          <a:prstGeom prst="rect">
            <a:avLst/>
          </a:prstGeom>
        </p:spPr>
      </p:pic>
      <p:sp>
        <p:nvSpPr>
          <p:cNvPr id="18" name="pt:gZGLBe7a0JWA"/>
          <p:cNvSpPr/>
          <p:nvPr/>
        </p:nvSpPr>
        <p:spPr>
          <a:xfrm>
            <a:off x="8991600" y="2533650"/>
            <a:ext cx="50800" cy="292100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/>
        </p:spPr>
      </p:sp>
      <p:sp>
        <p:nvSpPr>
          <p:cNvPr id="19" name="pt:xWhZCGVYBo8T"/>
          <p:cNvSpPr/>
          <p:nvPr/>
        </p:nvSpPr>
        <p:spPr>
          <a:xfrm>
            <a:off x="9245600" y="2686050"/>
            <a:ext cx="2146300" cy="993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5500" b="1" dirty="0">
                <a:solidFill>
                  <a:srgbClr val="7474F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98%</a:t>
            </a:r>
            <a:endParaRPr lang="en-US" sz="5500" dirty="0"/>
          </a:p>
        </p:txBody>
      </p:sp>
      <p:sp>
        <p:nvSpPr>
          <p:cNvPr id="20" name="pt:b4xtFiGoeduU"/>
          <p:cNvSpPr/>
          <p:nvPr/>
        </p:nvSpPr>
        <p:spPr>
          <a:xfrm>
            <a:off x="9245600" y="3760470"/>
            <a:ext cx="21463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Customer retention</a:t>
            </a:r>
            <a:endParaRPr lang="en-US" sz="1700" dirty="0"/>
          </a:p>
        </p:txBody>
      </p:sp>
    </p:spTree>
  </p:cSld>
  <p:clrMapOvr>
    <a:masterClrMapping/>
  </p:clrMapOvr>
  <p:transition spd="med"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600" fill="hold"/>
                                        <p:tgtEl>
                                          <p:spTgt spid="3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2" presetID="53" presetClass="entr" presetSubtype="16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" dur="600" fill="hold"/>
                                        <p:tgtEl>
                                          <p:spTgt spid="4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53" presetClass="entr" presetSubtype="16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8" dur="600" fill="hold"/>
                                        <p:tgtEl>
                                          <p:spTgt spid="7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3" presetID="53" presetClass="entr" presetSubtype="16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2" dur="600" fill="hold"/>
                                        <p:tgtEl>
                                          <p:spTgt spid="9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9" dur="600" fill="hold"/>
                                        <p:tgtEl>
                                          <p:spTgt spid="12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34" presetID="53" presetClass="entr" presetSubtype="16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3" dur="600" fill="hold"/>
                                        <p:tgtEl>
                                          <p:spTgt spid="13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53" presetClass="entr" presetSubtype="16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0" dur="600" fill="hold"/>
                                        <p:tgtEl>
                                          <p:spTgt spid="16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45" presetID="53" presetClass="entr" presetSubtype="16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4" dur="600" fill="hold"/>
                                        <p:tgtEl>
                                          <p:spTgt spid="17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53" presetClass="entr" presetSubtype="16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1" dur="600" fill="hold"/>
                                        <p:tgtEl>
                                          <p:spTgt spid="20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t:cy-MZiLIWiLo"/>
          <p:cNvSpPr/>
          <p:nvPr/>
        </p:nvSpPr>
        <p:spPr>
          <a:xfrm>
            <a:off x="0" y="304800"/>
            <a:ext cx="12192000" cy="12700"/>
          </a:xfrm>
          <a:prstGeom prst="rect">
            <a:avLst/>
          </a:prstGeom>
          <a:solidFill>
            <a:srgbClr val="2A2A39"/>
          </a:solidFill>
          <a:ln/>
        </p:spPr>
      </p:sp>
      <p:sp>
        <p:nvSpPr>
          <p:cNvPr id="3" name="pt:rhkHx1BAZ1U2"/>
          <p:cNvSpPr/>
          <p:nvPr/>
        </p:nvSpPr>
        <p:spPr>
          <a:xfrm>
            <a:off x="609600" y="660400"/>
            <a:ext cx="109728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Why we </a:t>
            </a:r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22D3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win</a:t>
            </a:r>
            <a:endParaRPr lang="en-US" sz="3000" dirty="0"/>
          </a:p>
        </p:txBody>
      </p:sp>
      <p:sp>
        <p:nvSpPr>
          <p:cNvPr id="4" name="pt:S_vQEd_d4qP0"/>
          <p:cNvSpPr/>
          <p:nvPr/>
        </p:nvSpPr>
        <p:spPr>
          <a:xfrm>
            <a:off x="673100" y="1816100"/>
            <a:ext cx="5334000" cy="4508500"/>
          </a:xfrm>
          <a:prstGeom prst="roundRect">
            <a:avLst>
              <a:gd name="adj" fmla="val 2254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5" name="pt:SifTCZsuhbBh"/>
          <p:cNvSpPr/>
          <p:nvPr/>
        </p:nvSpPr>
        <p:spPr>
          <a:xfrm>
            <a:off x="609600" y="1739900"/>
            <a:ext cx="5334000" cy="4508500"/>
          </a:xfrm>
          <a:prstGeom prst="roundRect">
            <a:avLst>
              <a:gd name="adj" fmla="val 2254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6" name="pt:Yh3QQyZg0NYe"/>
          <p:cNvSpPr/>
          <p:nvPr/>
        </p:nvSpPr>
        <p:spPr>
          <a:xfrm>
            <a:off x="838200" y="1968500"/>
            <a:ext cx="48768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7474F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Typical tools</a:t>
            </a:r>
            <a:endParaRPr lang="en-US" sz="2000" dirty="0"/>
          </a:p>
        </p:txBody>
      </p:sp>
      <p:sp>
        <p:nvSpPr>
          <p:cNvPr id="7" name="pt:k3DOdZvK00LY"/>
          <p:cNvSpPr/>
          <p:nvPr/>
        </p:nvSpPr>
        <p:spPr>
          <a:xfrm>
            <a:off x="838200" y="2565400"/>
            <a:ext cx="4876800" cy="349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DE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Built for enterprise fleets</a:t>
            </a:r>
            <a:endParaRPr lang="en-US" sz="1500" dirty="0"/>
          </a:p>
          <a:p>
            <a:pPr algn="l"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DE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Months of onboarding</a:t>
            </a:r>
            <a:endParaRPr lang="en-US" sz="15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500" dirty="0">
                <a:solidFill>
                  <a:srgbClr val="EDE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Per-vehicle pricing that punishes growth</a:t>
            </a:r>
            <a:endParaRPr lang="en-US" sz="1500" dirty="0"/>
          </a:p>
        </p:txBody>
      </p:sp>
      <p:sp>
        <p:nvSpPr>
          <p:cNvPr id="8" name="pt:Tp15cw8SJzSQ"/>
          <p:cNvSpPr/>
          <p:nvPr/>
        </p:nvSpPr>
        <p:spPr>
          <a:xfrm>
            <a:off x="6311900" y="1816100"/>
            <a:ext cx="5334000" cy="4508500"/>
          </a:xfrm>
          <a:prstGeom prst="roundRect">
            <a:avLst>
              <a:gd name="adj" fmla="val 2254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9" name="pt:5lFQNwNqO-fP"/>
          <p:cNvSpPr/>
          <p:nvPr/>
        </p:nvSpPr>
        <p:spPr>
          <a:xfrm>
            <a:off x="6248400" y="1739900"/>
            <a:ext cx="5334000" cy="4508500"/>
          </a:xfrm>
          <a:prstGeom prst="roundRect">
            <a:avLst>
              <a:gd name="adj" fmla="val 2254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10" name="pt:4umj1dnF10i9"/>
          <p:cNvSpPr/>
          <p:nvPr/>
        </p:nvSpPr>
        <p:spPr>
          <a:xfrm>
            <a:off x="6477000" y="1968500"/>
            <a:ext cx="48768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7474F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Northwind</a:t>
            </a:r>
            <a:endParaRPr lang="en-US" sz="2000" dirty="0"/>
          </a:p>
        </p:txBody>
      </p:sp>
      <p:sp>
        <p:nvSpPr>
          <p:cNvPr id="11" name="pt:UjoEc7CPU6QO"/>
          <p:cNvSpPr/>
          <p:nvPr/>
        </p:nvSpPr>
        <p:spPr>
          <a:xfrm>
            <a:off x="6477000" y="2565400"/>
            <a:ext cx="4876800" cy="349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DE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Built for fleets of 5 to 200</a:t>
            </a:r>
            <a:endParaRPr lang="en-US" sz="1500" dirty="0"/>
          </a:p>
          <a:p>
            <a:pPr algn="l"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DE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Live in a single afternoon</a:t>
            </a:r>
            <a:endParaRPr lang="en-US" sz="15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500" dirty="0">
                <a:solidFill>
                  <a:srgbClr val="EDE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Simple flat pricing</a:t>
            </a:r>
            <a:endParaRPr lang="en-US" sz="1500" dirty="0"/>
          </a:p>
        </p:txBody>
      </p:sp>
    </p:spTree>
  </p:cSld>
  <p:clrMapOvr>
    <a:masterClrMapping/>
  </p:clrMapOvr>
  <p:transition spd="med"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600" fill="hold"/>
                                        <p:tgtEl>
                                          <p:spTgt spid="3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2" presetID="53" presetClass="entr" presetSubtype="16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" dur="600" fill="hold"/>
                                        <p:tgtEl>
                                          <p:spTgt spid="5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6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5" dur="6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9" dur="6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4" presetID="53" presetClass="entr" presetSubtype="16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3" dur="6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8" presetID="53" presetClass="entr" presetSubtype="16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7" dur="600" fill="hold"/>
                                        <p:tgtEl>
                                          <p:spTgt spid="9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32" presetID="53" presetClass="entr" presetSubtype="16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6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1" dur="6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36" presetID="53" presetClass="entr" presetSubtype="16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5" dur="6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40" presetID="53" presetClass="entr" presetSubtype="16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6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9" dur="600" fill="hold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  <p:bldP spid="11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t:m3TQkaBqHQ77"/>
          <p:cNvSpPr/>
          <p:nvPr/>
        </p:nvSpPr>
        <p:spPr>
          <a:xfrm>
            <a:off x="0" y="304800"/>
            <a:ext cx="12192000" cy="12700"/>
          </a:xfrm>
          <a:prstGeom prst="rect">
            <a:avLst/>
          </a:prstGeom>
          <a:solidFill>
            <a:srgbClr val="2A2A39"/>
          </a:solidFill>
          <a:ln/>
        </p:spPr>
      </p:sp>
      <p:sp>
        <p:nvSpPr>
          <p:cNvPr id="3" name="pt:tKgga_yvCwog"/>
          <p:cNvSpPr/>
          <p:nvPr/>
        </p:nvSpPr>
        <p:spPr>
          <a:xfrm>
            <a:off x="609600" y="660400"/>
            <a:ext cx="109728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Use of funds </a:t>
            </a:r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22D3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and milestones</a:t>
            </a:r>
            <a:endParaRPr lang="en-US" sz="3000" dirty="0"/>
          </a:p>
        </p:txBody>
      </p:sp>
      <p:sp>
        <p:nvSpPr>
          <p:cNvPr id="4" name="pt:INhpd_IjqRgZ"/>
          <p:cNvSpPr/>
          <p:nvPr/>
        </p:nvSpPr>
        <p:spPr>
          <a:xfrm>
            <a:off x="609600" y="1739900"/>
            <a:ext cx="2841625" cy="584200"/>
          </a:xfrm>
          <a:prstGeom prst="chevron">
            <a:avLst/>
          </a:prstGeom>
          <a:solidFill>
            <a:srgbClr val="7474F3"/>
          </a:solidFill>
          <a:ln/>
        </p:spPr>
      </p:sp>
      <p:sp>
        <p:nvSpPr>
          <p:cNvPr id="5" name="pt:MgTD_D45lT8M"/>
          <p:cNvSpPr/>
          <p:nvPr/>
        </p:nvSpPr>
        <p:spPr>
          <a:xfrm>
            <a:off x="863600" y="1739900"/>
            <a:ext cx="2257425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B0F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Q1</a:t>
            </a:r>
            <a:endParaRPr lang="en-US" sz="1500" dirty="0"/>
          </a:p>
        </p:txBody>
      </p:sp>
      <p:sp>
        <p:nvSpPr>
          <p:cNvPr id="6" name="pt:HZpHEI9dQFkn"/>
          <p:cNvSpPr/>
          <p:nvPr/>
        </p:nvSpPr>
        <p:spPr>
          <a:xfrm>
            <a:off x="673100" y="2578100"/>
            <a:ext cx="2676525" cy="3746500"/>
          </a:xfrm>
          <a:prstGeom prst="roundRect">
            <a:avLst>
              <a:gd name="adj" fmla="val 3796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7" name="pt:XSTQ4rTJLFKL"/>
          <p:cNvSpPr/>
          <p:nvPr/>
        </p:nvSpPr>
        <p:spPr>
          <a:xfrm>
            <a:off x="609600" y="2501900"/>
            <a:ext cx="2676525" cy="3746500"/>
          </a:xfrm>
          <a:prstGeom prst="roundRect">
            <a:avLst>
              <a:gd name="adj" fmla="val 3796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8" name="pt:IatmKbQvgK7t"/>
          <p:cNvSpPr/>
          <p:nvPr/>
        </p:nvSpPr>
        <p:spPr>
          <a:xfrm>
            <a:off x="812800" y="2654300"/>
            <a:ext cx="2270125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Product</a:t>
            </a:r>
            <a:endParaRPr lang="en-US" sz="1600" dirty="0"/>
          </a:p>
        </p:txBody>
      </p:sp>
      <p:sp>
        <p:nvSpPr>
          <p:cNvPr id="9" name="pt:Fyp0B-7L1Myj"/>
          <p:cNvSpPr/>
          <p:nvPr/>
        </p:nvSpPr>
        <p:spPr>
          <a:xfrm>
            <a:off x="812800" y="3213100"/>
            <a:ext cx="2270125" cy="2908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Driver app 2.0</a:t>
            </a:r>
            <a:endParaRPr lang="en-US" sz="13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3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 API</a:t>
            </a:r>
            <a:endParaRPr lang="en-US" sz="1300" dirty="0"/>
          </a:p>
        </p:txBody>
      </p:sp>
      <p:sp>
        <p:nvSpPr>
          <p:cNvPr id="10" name="pt:cxU4m5xVEs9G"/>
          <p:cNvSpPr/>
          <p:nvPr/>
        </p:nvSpPr>
        <p:spPr>
          <a:xfrm>
            <a:off x="3375025" y="1739900"/>
            <a:ext cx="2841625" cy="584200"/>
          </a:xfrm>
          <a:prstGeom prst="chevron">
            <a:avLst/>
          </a:prstGeom>
          <a:solidFill>
            <a:srgbClr val="5994F1"/>
          </a:solidFill>
          <a:ln/>
        </p:spPr>
      </p:sp>
      <p:sp>
        <p:nvSpPr>
          <p:cNvPr id="11" name="pt:oderkgchELne"/>
          <p:cNvSpPr/>
          <p:nvPr/>
        </p:nvSpPr>
        <p:spPr>
          <a:xfrm>
            <a:off x="3629025" y="1739900"/>
            <a:ext cx="2257425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B0F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Q2</a:t>
            </a:r>
            <a:endParaRPr lang="en-US" sz="1500" dirty="0"/>
          </a:p>
        </p:txBody>
      </p:sp>
      <p:sp>
        <p:nvSpPr>
          <p:cNvPr id="12" name="pt:nTe4gn1e5VhN"/>
          <p:cNvSpPr/>
          <p:nvPr/>
        </p:nvSpPr>
        <p:spPr>
          <a:xfrm>
            <a:off x="3438525" y="2578100"/>
            <a:ext cx="2676525" cy="3746500"/>
          </a:xfrm>
          <a:prstGeom prst="roundRect">
            <a:avLst>
              <a:gd name="adj" fmla="val 3796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13" name="pt:Y_WvCbDw0R7r"/>
          <p:cNvSpPr/>
          <p:nvPr/>
        </p:nvSpPr>
        <p:spPr>
          <a:xfrm>
            <a:off x="3375025" y="2501900"/>
            <a:ext cx="2676525" cy="3746500"/>
          </a:xfrm>
          <a:prstGeom prst="roundRect">
            <a:avLst>
              <a:gd name="adj" fmla="val 3796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14" name="pt:6F_Y-Gv2aF5I"/>
          <p:cNvSpPr/>
          <p:nvPr/>
        </p:nvSpPr>
        <p:spPr>
          <a:xfrm>
            <a:off x="3578225" y="2654300"/>
            <a:ext cx="2270125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Go to market</a:t>
            </a:r>
            <a:endParaRPr lang="en-US" sz="1600" dirty="0"/>
          </a:p>
        </p:txBody>
      </p:sp>
      <p:sp>
        <p:nvSpPr>
          <p:cNvPr id="15" name="pt:YRCCy6jebE8U"/>
          <p:cNvSpPr/>
          <p:nvPr/>
        </p:nvSpPr>
        <p:spPr>
          <a:xfrm>
            <a:off x="3578225" y="3213100"/>
            <a:ext cx="2270125" cy="2908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Sales team of 4</a:t>
            </a:r>
            <a:endParaRPr lang="en-US" sz="13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3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Channel partners</a:t>
            </a:r>
            <a:endParaRPr lang="en-US" sz="1300" dirty="0"/>
          </a:p>
        </p:txBody>
      </p:sp>
      <p:sp>
        <p:nvSpPr>
          <p:cNvPr id="16" name="pt:x_DlDJsyvdYq"/>
          <p:cNvSpPr/>
          <p:nvPr/>
        </p:nvSpPr>
        <p:spPr>
          <a:xfrm>
            <a:off x="6140450" y="1739900"/>
            <a:ext cx="2841625" cy="584200"/>
          </a:xfrm>
          <a:prstGeom prst="chevron">
            <a:avLst/>
          </a:prstGeom>
          <a:solidFill>
            <a:srgbClr val="3DB3F0"/>
          </a:solidFill>
          <a:ln/>
        </p:spPr>
      </p:sp>
      <p:sp>
        <p:nvSpPr>
          <p:cNvPr id="17" name="pt:ZeaAGtPh6jQb"/>
          <p:cNvSpPr/>
          <p:nvPr/>
        </p:nvSpPr>
        <p:spPr>
          <a:xfrm>
            <a:off x="6394450" y="1739900"/>
            <a:ext cx="2257425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B0F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Q3</a:t>
            </a:r>
            <a:endParaRPr lang="en-US" sz="1500" dirty="0"/>
          </a:p>
        </p:txBody>
      </p:sp>
      <p:sp>
        <p:nvSpPr>
          <p:cNvPr id="18" name="pt:dTl4lHPKPwLG"/>
          <p:cNvSpPr/>
          <p:nvPr/>
        </p:nvSpPr>
        <p:spPr>
          <a:xfrm>
            <a:off x="6203950" y="2578100"/>
            <a:ext cx="2676525" cy="3746500"/>
          </a:xfrm>
          <a:prstGeom prst="roundRect">
            <a:avLst>
              <a:gd name="adj" fmla="val 3796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19" name="pt:jKggdm6O9KPV"/>
          <p:cNvSpPr/>
          <p:nvPr/>
        </p:nvSpPr>
        <p:spPr>
          <a:xfrm>
            <a:off x="6140450" y="2501900"/>
            <a:ext cx="2676525" cy="3746500"/>
          </a:xfrm>
          <a:prstGeom prst="roundRect">
            <a:avLst>
              <a:gd name="adj" fmla="val 3796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20" name="pt:YYN14GrSpfOz"/>
          <p:cNvSpPr/>
          <p:nvPr/>
        </p:nvSpPr>
        <p:spPr>
          <a:xfrm>
            <a:off x="6343650" y="2654300"/>
            <a:ext cx="2270125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Scale</a:t>
            </a:r>
            <a:endParaRPr lang="en-US" sz="1600" dirty="0"/>
          </a:p>
        </p:txBody>
      </p:sp>
      <p:sp>
        <p:nvSpPr>
          <p:cNvPr id="21" name="pt:2AgSC84q1SQa"/>
          <p:cNvSpPr/>
          <p:nvPr/>
        </p:nvSpPr>
        <p:spPr>
          <a:xfrm>
            <a:off x="6343650" y="3213100"/>
            <a:ext cx="2270125" cy="2908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New regions</a:t>
            </a:r>
            <a:endParaRPr lang="en-US" sz="13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3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Enterprise tier</a:t>
            </a:r>
            <a:endParaRPr lang="en-US" sz="1300" dirty="0"/>
          </a:p>
        </p:txBody>
      </p:sp>
      <p:sp>
        <p:nvSpPr>
          <p:cNvPr id="22" name="pt:eApOpYTMq_FB"/>
          <p:cNvSpPr/>
          <p:nvPr/>
        </p:nvSpPr>
        <p:spPr>
          <a:xfrm>
            <a:off x="8905875" y="1739900"/>
            <a:ext cx="2676525" cy="584200"/>
          </a:xfrm>
          <a:prstGeom prst="chevron">
            <a:avLst/>
          </a:prstGeom>
          <a:solidFill>
            <a:srgbClr val="22D3EE"/>
          </a:solidFill>
          <a:ln/>
        </p:spPr>
      </p:sp>
      <p:sp>
        <p:nvSpPr>
          <p:cNvPr id="23" name="pt:4HHgfYRn5jcs"/>
          <p:cNvSpPr/>
          <p:nvPr/>
        </p:nvSpPr>
        <p:spPr>
          <a:xfrm>
            <a:off x="9159875" y="1739900"/>
            <a:ext cx="2257425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B0F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Q4</a:t>
            </a:r>
            <a:endParaRPr lang="en-US" sz="1500" dirty="0"/>
          </a:p>
        </p:txBody>
      </p:sp>
      <p:sp>
        <p:nvSpPr>
          <p:cNvPr id="24" name="pt:4SQRVu1a5Jmu"/>
          <p:cNvSpPr/>
          <p:nvPr/>
        </p:nvSpPr>
        <p:spPr>
          <a:xfrm>
            <a:off x="8969375" y="2578100"/>
            <a:ext cx="2676525" cy="3746500"/>
          </a:xfrm>
          <a:prstGeom prst="roundRect">
            <a:avLst>
              <a:gd name="adj" fmla="val 3796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25" name="pt:628_eABYNhFn"/>
          <p:cNvSpPr/>
          <p:nvPr/>
        </p:nvSpPr>
        <p:spPr>
          <a:xfrm>
            <a:off x="8905875" y="2501900"/>
            <a:ext cx="2676525" cy="3746500"/>
          </a:xfrm>
          <a:prstGeom prst="roundRect">
            <a:avLst>
              <a:gd name="adj" fmla="val 3796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26" name="pt:OtSoFbvWzF0s"/>
          <p:cNvSpPr/>
          <p:nvPr/>
        </p:nvSpPr>
        <p:spPr>
          <a:xfrm>
            <a:off x="9109075" y="2654300"/>
            <a:ext cx="2270125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Profit path</a:t>
            </a:r>
            <a:endParaRPr lang="en-US" sz="1600" dirty="0"/>
          </a:p>
        </p:txBody>
      </p:sp>
      <p:sp>
        <p:nvSpPr>
          <p:cNvPr id="27" name="pt:cL1Yq9RhoOXV"/>
          <p:cNvSpPr/>
          <p:nvPr/>
        </p:nvSpPr>
        <p:spPr>
          <a:xfrm>
            <a:off x="9109075" y="3213100"/>
            <a:ext cx="2270125" cy="2908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Break-even routes</a:t>
            </a:r>
            <a:endParaRPr lang="en-US" sz="13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3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Series A readiness</a:t>
            </a:r>
            <a:endParaRPr lang="en-US" sz="1300" dirty="0"/>
          </a:p>
        </p:txBody>
      </p:sp>
    </p:spTree>
  </p:cSld>
  <p:clrMapOvr>
    <a:masterClrMapping/>
  </p:clrMapOvr>
  <p:transition spd="med"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600" fill="hold"/>
                                        <p:tgtEl>
                                          <p:spTgt spid="3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2" presetID="53" presetClass="entr" presetSubtype="16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" dur="600" fill="hold"/>
                                        <p:tgtEl>
                                          <p:spTgt spid="4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6" presetID="53" presetClass="entr" presetSubtype="16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5" dur="600" fill="hold"/>
                                        <p:tgtEl>
                                          <p:spTgt spid="7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9" dur="6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4" presetID="53" presetClass="entr" presetSubtype="16" fill="hold" grpId="0" nodeType="withEffect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3" dur="6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8" presetID="53" presetClass="entr" presetSubtype="16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7" dur="600" fill="hold"/>
                                        <p:tgtEl>
                                          <p:spTgt spid="10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32" presetID="53" presetClass="entr" presetSubtype="16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1" dur="600" fill="hold"/>
                                        <p:tgtEl>
                                          <p:spTgt spid="13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36" presetID="53" presetClass="entr" presetSubtype="16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5" dur="6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40" presetID="53" presetClass="entr" presetSubtype="16" fill="hold" grpId="0" nodeType="withEffect">
                                  <p:stCondLst>
                                    <p:cond delay="68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600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9" dur="600" fill="hold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44" presetID="53" presetClass="entr" presetSubtype="16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3" dur="600" fill="hold"/>
                                        <p:tgtEl>
                                          <p:spTgt spid="16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48" presetID="53" presetClass="entr" presetSubtype="16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7" dur="600" fill="hold"/>
                                        <p:tgtEl>
                                          <p:spTgt spid="19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52" presetID="53" presetClass="entr" presetSubtype="16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6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1" dur="6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56" presetID="53" presetClass="entr" presetSubtype="16" fill="hold" grpId="0" nodeType="withEffect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600"/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5" dur="600" fill="hold"/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60" presetID="53" presetClass="entr" presetSubtype="16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9" dur="600" fill="hold"/>
                                        <p:tgtEl>
                                          <p:spTgt spid="22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64" presetID="53" presetClass="entr" presetSubtype="16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6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3" dur="600" fill="hold"/>
                                        <p:tgtEl>
                                          <p:spTgt spid="25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68" presetID="53" presetClass="entr" presetSubtype="16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600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7" dur="600" fill="hold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72" presetID="53" presetClass="entr" presetSubtype="16" fill="hold" grpId="0" nodeType="withEffect">
                                  <p:stCondLst>
                                    <p:cond delay="128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600"/>
                                        <p:tgtEl>
                                          <p:spTgt spid="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1" dur="600" fill="hold"/>
                                        <p:tgtEl>
                                          <p:spTgt spid="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p"/>
      <p:bldP spid="15" grpId="0" build="p"/>
      <p:bldP spid="21" grpId="0" build="p"/>
      <p:bldP spid="27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t:XvEPhx34hXYb"/>
          <p:cNvSpPr/>
          <p:nvPr/>
        </p:nvSpPr>
        <p:spPr>
          <a:xfrm>
            <a:off x="0" y="304800"/>
            <a:ext cx="12192000" cy="12700"/>
          </a:xfrm>
          <a:prstGeom prst="rect">
            <a:avLst/>
          </a:prstGeom>
          <a:solidFill>
            <a:srgbClr val="2A2A39"/>
          </a:solidFill>
          <a:ln/>
        </p:spPr>
      </p:sp>
      <p:sp>
        <p:nvSpPr>
          <p:cNvPr id="3" name="pt:C9GoX_sqgQBx"/>
          <p:cNvSpPr/>
          <p:nvPr/>
        </p:nvSpPr>
        <p:spPr>
          <a:xfrm>
            <a:off x="609600" y="660400"/>
            <a:ext cx="109728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team</a:t>
            </a:r>
            <a:endParaRPr lang="en-US" sz="3000" dirty="0"/>
          </a:p>
        </p:txBody>
      </p:sp>
      <p:sp>
        <p:nvSpPr>
          <p:cNvPr id="4" name="pt:At8l8UwBNEDw"/>
          <p:cNvSpPr/>
          <p:nvPr/>
        </p:nvSpPr>
        <p:spPr>
          <a:xfrm>
            <a:off x="673100" y="1816100"/>
            <a:ext cx="3505200" cy="3556000"/>
          </a:xfrm>
          <a:prstGeom prst="roundRect">
            <a:avLst>
              <a:gd name="adj" fmla="val 2899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5" name="pt:IEnO0DcoWkHE"/>
          <p:cNvSpPr/>
          <p:nvPr/>
        </p:nvSpPr>
        <p:spPr>
          <a:xfrm>
            <a:off x="609600" y="1739900"/>
            <a:ext cx="3505200" cy="3556000"/>
          </a:xfrm>
          <a:prstGeom prst="roundRect">
            <a:avLst>
              <a:gd name="adj" fmla="val 2899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6" name="pt:Okfn22DQLGZQ"/>
          <p:cNvSpPr/>
          <p:nvPr/>
        </p:nvSpPr>
        <p:spPr>
          <a:xfrm>
            <a:off x="812800" y="1943100"/>
            <a:ext cx="952500" cy="952500"/>
          </a:xfrm>
          <a:prstGeom prst="ellipse">
            <a:avLst/>
          </a:prstGeom>
          <a:solidFill>
            <a:srgbClr val="5F5FC8"/>
          </a:solidFill>
          <a:ln/>
        </p:spPr>
      </p:sp>
      <p:sp>
        <p:nvSpPr>
          <p:cNvPr id="7" name="pt:tzRDuPBouNB8"/>
          <p:cNvSpPr/>
          <p:nvPr/>
        </p:nvSpPr>
        <p:spPr>
          <a:xfrm>
            <a:off x="812800" y="1943100"/>
            <a:ext cx="952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85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PN</a:t>
            </a:r>
            <a:endParaRPr lang="en-US" sz="2850" dirty="0"/>
          </a:p>
        </p:txBody>
      </p:sp>
      <p:sp>
        <p:nvSpPr>
          <p:cNvPr id="8" name="pt:Oe2CRKMfEVwl"/>
          <p:cNvSpPr/>
          <p:nvPr/>
        </p:nvSpPr>
        <p:spPr>
          <a:xfrm>
            <a:off x="812800" y="3009900"/>
            <a:ext cx="30988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Priya Nair</a:t>
            </a:r>
            <a:endParaRPr lang="en-US" sz="1700" dirty="0"/>
          </a:p>
        </p:txBody>
      </p:sp>
      <p:sp>
        <p:nvSpPr>
          <p:cNvPr id="9" name="pt:MejV8rLRlFt4"/>
          <p:cNvSpPr/>
          <p:nvPr/>
        </p:nvSpPr>
        <p:spPr>
          <a:xfrm>
            <a:off x="812800" y="3365500"/>
            <a:ext cx="30988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CEO</a:t>
            </a:r>
            <a:endParaRPr lang="en-US" sz="1200" dirty="0"/>
          </a:p>
        </p:txBody>
      </p:sp>
      <p:sp>
        <p:nvSpPr>
          <p:cNvPr id="10" name="pt:m5WS9UA-5D4K"/>
          <p:cNvSpPr/>
          <p:nvPr/>
        </p:nvSpPr>
        <p:spPr>
          <a:xfrm>
            <a:off x="812800" y="3670300"/>
            <a:ext cx="3098800" cy="142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Ran operations for a 300-van courier network</a:t>
            </a:r>
            <a:endParaRPr lang="en-US" sz="1100" dirty="0"/>
          </a:p>
        </p:txBody>
      </p:sp>
      <p:sp>
        <p:nvSpPr>
          <p:cNvPr id="11" name="pt:RSfK0dVa78Ly"/>
          <p:cNvSpPr/>
          <p:nvPr/>
        </p:nvSpPr>
        <p:spPr>
          <a:xfrm>
            <a:off x="4406900" y="1816100"/>
            <a:ext cx="3505200" cy="3556000"/>
          </a:xfrm>
          <a:prstGeom prst="roundRect">
            <a:avLst>
              <a:gd name="adj" fmla="val 2899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12" name="pt:ReTNGKyw-KRf"/>
          <p:cNvSpPr/>
          <p:nvPr/>
        </p:nvSpPr>
        <p:spPr>
          <a:xfrm>
            <a:off x="4343400" y="1739900"/>
            <a:ext cx="3505200" cy="3556000"/>
          </a:xfrm>
          <a:prstGeom prst="roundRect">
            <a:avLst>
              <a:gd name="adj" fmla="val 2899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13" name="pt:LpjDC0p17r9L"/>
          <p:cNvSpPr/>
          <p:nvPr/>
        </p:nvSpPr>
        <p:spPr>
          <a:xfrm>
            <a:off x="4546600" y="1943100"/>
            <a:ext cx="952500" cy="952500"/>
          </a:xfrm>
          <a:prstGeom prst="ellipse">
            <a:avLst/>
          </a:prstGeom>
          <a:solidFill>
            <a:srgbClr val="1DABC4"/>
          </a:solidFill>
          <a:ln/>
        </p:spPr>
      </p:sp>
      <p:sp>
        <p:nvSpPr>
          <p:cNvPr id="14" name="pt:j000v1XcMppV"/>
          <p:cNvSpPr/>
          <p:nvPr/>
        </p:nvSpPr>
        <p:spPr>
          <a:xfrm>
            <a:off x="4546600" y="1943100"/>
            <a:ext cx="952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850" b="1" dirty="0">
                <a:solidFill>
                  <a:srgbClr val="0B0F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DO</a:t>
            </a:r>
            <a:endParaRPr lang="en-US" sz="2850" dirty="0"/>
          </a:p>
        </p:txBody>
      </p:sp>
      <p:sp>
        <p:nvSpPr>
          <p:cNvPr id="15" name="pt:Kn3ZRQNRdUM7"/>
          <p:cNvSpPr/>
          <p:nvPr/>
        </p:nvSpPr>
        <p:spPr>
          <a:xfrm>
            <a:off x="4546600" y="3009900"/>
            <a:ext cx="30988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Daniel Okafor</a:t>
            </a:r>
            <a:endParaRPr lang="en-US" sz="1700" dirty="0"/>
          </a:p>
        </p:txBody>
      </p:sp>
      <p:sp>
        <p:nvSpPr>
          <p:cNvPr id="16" name="pt:PvCRpzcreew9"/>
          <p:cNvSpPr/>
          <p:nvPr/>
        </p:nvSpPr>
        <p:spPr>
          <a:xfrm>
            <a:off x="4546600" y="3365500"/>
            <a:ext cx="30988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CTO</a:t>
            </a:r>
            <a:endParaRPr lang="en-US" sz="1200" dirty="0"/>
          </a:p>
        </p:txBody>
      </p:sp>
      <p:sp>
        <p:nvSpPr>
          <p:cNvPr id="17" name="pt:YEF6ftOgNgK_"/>
          <p:cNvSpPr/>
          <p:nvPr/>
        </p:nvSpPr>
        <p:spPr>
          <a:xfrm>
            <a:off x="4546600" y="3670300"/>
            <a:ext cx="3098800" cy="142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Built routing engines at a global logistics firm</a:t>
            </a:r>
            <a:endParaRPr lang="en-US" sz="1100" dirty="0"/>
          </a:p>
        </p:txBody>
      </p:sp>
      <p:sp>
        <p:nvSpPr>
          <p:cNvPr id="18" name="pt:lzNz-5PITjKl"/>
          <p:cNvSpPr/>
          <p:nvPr/>
        </p:nvSpPr>
        <p:spPr>
          <a:xfrm>
            <a:off x="8140700" y="1816100"/>
            <a:ext cx="3505200" cy="3556000"/>
          </a:xfrm>
          <a:prstGeom prst="roundRect">
            <a:avLst>
              <a:gd name="adj" fmla="val 2899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19" name="pt:S8eHLCU5MLAf"/>
          <p:cNvSpPr/>
          <p:nvPr/>
        </p:nvSpPr>
        <p:spPr>
          <a:xfrm>
            <a:off x="8077200" y="1739900"/>
            <a:ext cx="3505200" cy="3556000"/>
          </a:xfrm>
          <a:prstGeom prst="roundRect">
            <a:avLst>
              <a:gd name="adj" fmla="val 2899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20" name="pt:zo6hC6cPZVrd"/>
          <p:cNvSpPr/>
          <p:nvPr/>
        </p:nvSpPr>
        <p:spPr>
          <a:xfrm>
            <a:off x="8280400" y="1943100"/>
            <a:ext cx="952500" cy="952500"/>
          </a:xfrm>
          <a:prstGeom prst="ellipse">
            <a:avLst/>
          </a:prstGeom>
          <a:solidFill>
            <a:srgbClr val="3E74C6"/>
          </a:solidFill>
          <a:ln/>
        </p:spPr>
      </p:sp>
      <p:sp>
        <p:nvSpPr>
          <p:cNvPr id="21" name="pt:if26iHePsVRU"/>
          <p:cNvSpPr/>
          <p:nvPr/>
        </p:nvSpPr>
        <p:spPr>
          <a:xfrm>
            <a:off x="8280400" y="1943100"/>
            <a:ext cx="952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85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MT</a:t>
            </a:r>
            <a:endParaRPr lang="en-US" sz="2850" dirty="0"/>
          </a:p>
        </p:txBody>
      </p:sp>
      <p:sp>
        <p:nvSpPr>
          <p:cNvPr id="22" name="pt:utqu8mES3zbL"/>
          <p:cNvSpPr/>
          <p:nvPr/>
        </p:nvSpPr>
        <p:spPr>
          <a:xfrm>
            <a:off x="8280400" y="3009900"/>
            <a:ext cx="30988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Mei Tanaka</a:t>
            </a:r>
            <a:endParaRPr lang="en-US" sz="1700" dirty="0"/>
          </a:p>
        </p:txBody>
      </p:sp>
      <p:sp>
        <p:nvSpPr>
          <p:cNvPr id="23" name="pt:-6w55Ru2UeUM"/>
          <p:cNvSpPr/>
          <p:nvPr/>
        </p:nvSpPr>
        <p:spPr>
          <a:xfrm>
            <a:off x="8280400" y="3365500"/>
            <a:ext cx="30988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Head of Growth</a:t>
            </a:r>
            <a:endParaRPr lang="en-US" sz="1200" dirty="0"/>
          </a:p>
        </p:txBody>
      </p:sp>
      <p:sp>
        <p:nvSpPr>
          <p:cNvPr id="24" name="pt:Ir_0drZC2zhJ"/>
          <p:cNvSpPr/>
          <p:nvPr/>
        </p:nvSpPr>
        <p:spPr>
          <a:xfrm>
            <a:off x="8280400" y="3670300"/>
            <a:ext cx="3098800" cy="142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Scaled two B2B SaaS products to $10M</a:t>
            </a:r>
            <a:endParaRPr lang="en-US" sz="1100" dirty="0"/>
          </a:p>
        </p:txBody>
      </p:sp>
    </p:spTree>
  </p:cSld>
  <p:clrMapOvr>
    <a:masterClrMapping/>
  </p:clrMapOvr>
  <p:transition spd="med"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600" fill="hold"/>
                                        <p:tgtEl>
                                          <p:spTgt spid="3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2" presetID="53" presetClass="entr" presetSubtype="16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" dur="600" fill="hold"/>
                                        <p:tgtEl>
                                          <p:spTgt spid="5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6" presetID="53" presetClass="entr" presetSubtype="16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5" dur="600" fill="hold"/>
                                        <p:tgtEl>
                                          <p:spTgt spid="6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9" dur="600" fill="hold"/>
                                        <p:tgtEl>
                                          <p:spTgt spid="8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4" presetID="53" presetClass="entr" presetSubtype="16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3" dur="600" fill="hold"/>
                                        <p:tgtEl>
                                          <p:spTgt spid="12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8" presetID="53" presetClass="entr" presetSubtype="16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7" dur="600" fill="hold"/>
                                        <p:tgtEl>
                                          <p:spTgt spid="13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32" presetID="53" presetClass="entr" presetSubtype="16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1" dur="600" fill="hold"/>
                                        <p:tgtEl>
                                          <p:spTgt spid="15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36" presetID="53" presetClass="entr" presetSubtype="16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5" dur="600" fill="hold"/>
                                        <p:tgtEl>
                                          <p:spTgt spid="19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40" presetID="53" presetClass="entr" presetSubtype="16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9" dur="600" fill="hold"/>
                                        <p:tgtEl>
                                          <p:spTgt spid="20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44" presetID="53" presetClass="entr" presetSubtype="16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3" dur="600" fill="hold"/>
                                        <p:tgtEl>
                                          <p:spTgt spid="22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t:HA2feyO7nA5U"/>
          <p:cNvSpPr/>
          <p:nvPr/>
        </p:nvSpPr>
        <p:spPr>
          <a:xfrm>
            <a:off x="0" y="304800"/>
            <a:ext cx="12192000" cy="12700"/>
          </a:xfrm>
          <a:prstGeom prst="rect">
            <a:avLst/>
          </a:prstGeom>
          <a:solidFill>
            <a:srgbClr val="2A2A39"/>
          </a:solidFill>
          <a:ln/>
        </p:spPr>
      </p:sp>
      <p:sp>
        <p:nvSpPr>
          <p:cNvPr id="3" name="pt:kI9SJed5mQO5"/>
          <p:cNvSpPr/>
          <p:nvPr/>
        </p:nvSpPr>
        <p:spPr>
          <a:xfrm>
            <a:off x="609600" y="660400"/>
            <a:ext cx="109728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6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ask</a:t>
            </a:r>
            <a:endParaRPr lang="en-US" sz="2600" dirty="0"/>
          </a:p>
        </p:txBody>
      </p:sp>
      <p:sp>
        <p:nvSpPr>
          <p:cNvPr id="4" name="pt:pwad3dto3Fjt"/>
          <p:cNvSpPr/>
          <p:nvPr/>
        </p:nvSpPr>
        <p:spPr>
          <a:xfrm>
            <a:off x="5657088" y="3454400"/>
            <a:ext cx="5925312" cy="2794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2000" b="1" dirty="0">
                <a:solidFill>
                  <a:srgbClr val="7474F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$2.5M</a:t>
            </a:r>
            <a:endParaRPr lang="en-US" sz="12000" dirty="0"/>
          </a:p>
        </p:txBody>
      </p:sp>
      <p:sp>
        <p:nvSpPr>
          <p:cNvPr id="5" name="pt:12Ae5j3dOAzO"/>
          <p:cNvSpPr/>
          <p:nvPr/>
        </p:nvSpPr>
        <p:spPr>
          <a:xfrm>
            <a:off x="609600" y="1866900"/>
            <a:ext cx="5047488" cy="247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15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18 months of runway</a:t>
            </a:r>
            <a:endParaRPr lang="en-US" sz="15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Led by [lead investor], with room for a few angels</a:t>
            </a:r>
            <a:endParaRPr lang="en-US" sz="1500" dirty="0"/>
          </a:p>
        </p:txBody>
      </p:sp>
      <p:sp>
        <p:nvSpPr>
          <p:cNvPr id="6" name="pt:QdlijhTB-cas"/>
          <p:cNvSpPr/>
          <p:nvPr/>
        </p:nvSpPr>
        <p:spPr>
          <a:xfrm>
            <a:off x="609600" y="4660900"/>
            <a:ext cx="698500" cy="5080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/>
        </p:spPr>
      </p:sp>
      <p:sp>
        <p:nvSpPr>
          <p:cNvPr id="7" name="pt:WkVSjnFz3rGQ"/>
          <p:cNvSpPr/>
          <p:nvPr/>
        </p:nvSpPr>
        <p:spPr>
          <a:xfrm>
            <a:off x="609600" y="4851400"/>
            <a:ext cx="5047488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1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Seed round to reach 300 fleets and break-even routes</a:t>
            </a:r>
            <a:endParaRPr lang="en-US" sz="2100" dirty="0"/>
          </a:p>
        </p:txBody>
      </p:sp>
    </p:spTree>
  </p:cSld>
  <p:clrMapOvr>
    <a:masterClrMapping/>
  </p:clrMapOvr>
  <p:transition spd="med"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600" fill="hold"/>
                                        <p:tgtEl>
                                          <p:spTgt spid="3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53" presetClass="entr" presetSubtype="16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7" dur="600" fill="hold"/>
                                        <p:tgtEl>
                                          <p:spTgt spid="7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909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t:otZ2Jsd3KomS" descr="Photograph for a pitch &amp; investors presentation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t:otZ2Jsd3KomS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pt:sl_SMUwq7tsV"/>
          <p:cNvSpPr/>
          <p:nvPr/>
        </p:nvSpPr>
        <p:spPr>
          <a:xfrm rot="-2700000">
            <a:off x="7507182" y="1521883"/>
            <a:ext cx="5349240" cy="31750"/>
          </a:xfrm>
          <a:prstGeom prst="rect">
            <a:avLst/>
          </a:prstGeom>
          <a:solidFill>
            <a:srgbClr val="22D3EE">
              <a:alpha val="85000"/>
            </a:srgbClr>
          </a:solidFill>
          <a:ln/>
        </p:spPr>
      </p:sp>
      <p:sp>
        <p:nvSpPr>
          <p:cNvPr id="5" name="pt:ADSEjXkyXlmp"/>
          <p:cNvSpPr/>
          <p:nvPr/>
        </p:nvSpPr>
        <p:spPr>
          <a:xfrm rot="2700000">
            <a:off x="7507182" y="5304367"/>
            <a:ext cx="5349240" cy="31750"/>
          </a:xfrm>
          <a:prstGeom prst="rect">
            <a:avLst/>
          </a:prstGeom>
          <a:solidFill>
            <a:srgbClr val="22D3EE">
              <a:alpha val="85000"/>
            </a:srgbClr>
          </a:solidFill>
          <a:ln/>
        </p:spPr>
      </p:sp>
      <p:sp>
        <p:nvSpPr>
          <p:cNvPr id="6" name="pt:pADp9n5kRsbR"/>
          <p:cNvSpPr/>
          <p:nvPr/>
        </p:nvSpPr>
        <p:spPr>
          <a:xfrm rot="-2700000">
            <a:off x="7723082" y="1521883"/>
            <a:ext cx="5349240" cy="31750"/>
          </a:xfrm>
          <a:prstGeom prst="rect">
            <a:avLst/>
          </a:prstGeom>
          <a:solidFill>
            <a:srgbClr val="FFFFFF">
              <a:alpha val="80000"/>
            </a:srgbClr>
          </a:solidFill>
          <a:ln/>
        </p:spPr>
      </p:sp>
      <p:sp>
        <p:nvSpPr>
          <p:cNvPr id="7" name="pt:M93FcFZ8d-Nf"/>
          <p:cNvSpPr/>
          <p:nvPr/>
        </p:nvSpPr>
        <p:spPr>
          <a:xfrm rot="2700000">
            <a:off x="7723082" y="5304367"/>
            <a:ext cx="5349240" cy="31750"/>
          </a:xfrm>
          <a:prstGeom prst="rect">
            <a:avLst/>
          </a:prstGeom>
          <a:solidFill>
            <a:srgbClr val="FFFFFF">
              <a:alpha val="80000"/>
            </a:srgbClr>
          </a:solidFill>
          <a:ln/>
        </p:spPr>
      </p:sp>
      <p:sp>
        <p:nvSpPr>
          <p:cNvPr id="8" name="pt:aCZel_fWfwUs"/>
          <p:cNvSpPr/>
          <p:nvPr/>
        </p:nvSpPr>
        <p:spPr>
          <a:xfrm rot="-2700000">
            <a:off x="7938982" y="1521883"/>
            <a:ext cx="5349240" cy="31750"/>
          </a:xfrm>
          <a:prstGeom prst="rect">
            <a:avLst/>
          </a:prstGeom>
          <a:solidFill>
            <a:srgbClr val="FFFFFF">
              <a:alpha val="75000"/>
            </a:srgbClr>
          </a:solidFill>
          <a:ln/>
        </p:spPr>
      </p:sp>
      <p:sp>
        <p:nvSpPr>
          <p:cNvPr id="9" name="pt:pbWWCFeP9UVf"/>
          <p:cNvSpPr/>
          <p:nvPr/>
        </p:nvSpPr>
        <p:spPr>
          <a:xfrm rot="2700000">
            <a:off x="7938982" y="5304367"/>
            <a:ext cx="5349240" cy="31750"/>
          </a:xfrm>
          <a:prstGeom prst="rect">
            <a:avLst/>
          </a:prstGeom>
          <a:solidFill>
            <a:srgbClr val="FFFFFF">
              <a:alpha val="75000"/>
            </a:srgbClr>
          </a:solidFill>
          <a:ln/>
        </p:spPr>
      </p:sp>
      <p:sp>
        <p:nvSpPr>
          <p:cNvPr id="10" name="pt:fGr1snaRhaT1"/>
          <p:cNvSpPr/>
          <p:nvPr/>
        </p:nvSpPr>
        <p:spPr>
          <a:xfrm rot="-2700000">
            <a:off x="8154882" y="1521883"/>
            <a:ext cx="5349240" cy="31750"/>
          </a:xfrm>
          <a:prstGeom prst="rect">
            <a:avLst/>
          </a:prstGeom>
          <a:solidFill>
            <a:srgbClr val="22D3EE">
              <a:alpha val="70000"/>
            </a:srgbClr>
          </a:solidFill>
          <a:ln/>
        </p:spPr>
      </p:sp>
      <p:sp>
        <p:nvSpPr>
          <p:cNvPr id="11" name="pt:8ID4eTfonVwv"/>
          <p:cNvSpPr/>
          <p:nvPr/>
        </p:nvSpPr>
        <p:spPr>
          <a:xfrm rot="2700000">
            <a:off x="8154882" y="5304367"/>
            <a:ext cx="5349240" cy="31750"/>
          </a:xfrm>
          <a:prstGeom prst="rect">
            <a:avLst/>
          </a:prstGeom>
          <a:solidFill>
            <a:srgbClr val="22D3EE">
              <a:alpha val="70000"/>
            </a:srgbClr>
          </a:solidFill>
          <a:ln/>
        </p:spPr>
      </p:sp>
      <p:sp>
        <p:nvSpPr>
          <p:cNvPr id="12" name="pt:IBomDNDJSSVG"/>
          <p:cNvSpPr/>
          <p:nvPr/>
        </p:nvSpPr>
        <p:spPr>
          <a:xfrm rot="-2700000">
            <a:off x="8370782" y="1521883"/>
            <a:ext cx="5349240" cy="31750"/>
          </a:xfrm>
          <a:prstGeom prst="rect">
            <a:avLst/>
          </a:prstGeom>
          <a:solidFill>
            <a:srgbClr val="FFFFFF">
              <a:alpha val="65000"/>
            </a:srgbClr>
          </a:solidFill>
          <a:ln/>
        </p:spPr>
      </p:sp>
      <p:sp>
        <p:nvSpPr>
          <p:cNvPr id="13" name="pt:ff1zhLZnQOjU"/>
          <p:cNvSpPr/>
          <p:nvPr/>
        </p:nvSpPr>
        <p:spPr>
          <a:xfrm rot="2700000">
            <a:off x="8370782" y="5304367"/>
            <a:ext cx="5349240" cy="31750"/>
          </a:xfrm>
          <a:prstGeom prst="rect">
            <a:avLst/>
          </a:prstGeom>
          <a:solidFill>
            <a:srgbClr val="FFFFFF">
              <a:alpha val="65000"/>
            </a:srgbClr>
          </a:solidFill>
          <a:ln/>
        </p:spPr>
      </p:sp>
      <p:sp>
        <p:nvSpPr>
          <p:cNvPr id="14" name="pt:U19vsirlcJ9H"/>
          <p:cNvSpPr/>
          <p:nvPr/>
        </p:nvSpPr>
        <p:spPr>
          <a:xfrm rot="-2700000">
            <a:off x="8586682" y="1521883"/>
            <a:ext cx="5349240" cy="31750"/>
          </a:xfrm>
          <a:prstGeom prst="rect">
            <a:avLst/>
          </a:prstGeom>
          <a:solidFill>
            <a:srgbClr val="FFFFFF">
              <a:alpha val="59000"/>
            </a:srgbClr>
          </a:solidFill>
          <a:ln/>
        </p:spPr>
      </p:sp>
      <p:sp>
        <p:nvSpPr>
          <p:cNvPr id="15" name="pt:f6qnyazoytZf"/>
          <p:cNvSpPr/>
          <p:nvPr/>
        </p:nvSpPr>
        <p:spPr>
          <a:xfrm rot="2700000">
            <a:off x="8586682" y="5304367"/>
            <a:ext cx="5349240" cy="31750"/>
          </a:xfrm>
          <a:prstGeom prst="rect">
            <a:avLst/>
          </a:prstGeom>
          <a:solidFill>
            <a:srgbClr val="FFFFFF">
              <a:alpha val="59000"/>
            </a:srgbClr>
          </a:solidFill>
          <a:ln/>
        </p:spPr>
      </p:sp>
      <p:sp>
        <p:nvSpPr>
          <p:cNvPr id="16" name="pt:Q9kzYjfKjD_a"/>
          <p:cNvSpPr/>
          <p:nvPr/>
        </p:nvSpPr>
        <p:spPr>
          <a:xfrm rot="-2700000">
            <a:off x="8802582" y="1521883"/>
            <a:ext cx="5349240" cy="31750"/>
          </a:xfrm>
          <a:prstGeom prst="rect">
            <a:avLst/>
          </a:prstGeom>
          <a:solidFill>
            <a:srgbClr val="22D3EE">
              <a:alpha val="54000"/>
            </a:srgbClr>
          </a:solidFill>
          <a:ln/>
        </p:spPr>
      </p:sp>
      <p:sp>
        <p:nvSpPr>
          <p:cNvPr id="17" name="pt:GZtpRDy2sx89"/>
          <p:cNvSpPr/>
          <p:nvPr/>
        </p:nvSpPr>
        <p:spPr>
          <a:xfrm rot="2700000">
            <a:off x="8802582" y="5304367"/>
            <a:ext cx="5349240" cy="31750"/>
          </a:xfrm>
          <a:prstGeom prst="rect">
            <a:avLst/>
          </a:prstGeom>
          <a:solidFill>
            <a:srgbClr val="22D3EE">
              <a:alpha val="54000"/>
            </a:srgbClr>
          </a:solidFill>
          <a:ln/>
        </p:spPr>
      </p:sp>
      <p:sp>
        <p:nvSpPr>
          <p:cNvPr id="18" name="pt:fubAqlf-PVft"/>
          <p:cNvSpPr/>
          <p:nvPr/>
        </p:nvSpPr>
        <p:spPr>
          <a:xfrm rot="-2700000">
            <a:off x="9018482" y="1521883"/>
            <a:ext cx="5349240" cy="31750"/>
          </a:xfrm>
          <a:prstGeom prst="rect">
            <a:avLst/>
          </a:prstGeom>
          <a:solidFill>
            <a:srgbClr val="FFFFFF">
              <a:alpha val="49000"/>
            </a:srgbClr>
          </a:solidFill>
          <a:ln/>
        </p:spPr>
      </p:sp>
      <p:sp>
        <p:nvSpPr>
          <p:cNvPr id="19" name="pt:bE9EH9b8nYDJ"/>
          <p:cNvSpPr/>
          <p:nvPr/>
        </p:nvSpPr>
        <p:spPr>
          <a:xfrm rot="2700000">
            <a:off x="9018482" y="5304367"/>
            <a:ext cx="5349240" cy="31750"/>
          </a:xfrm>
          <a:prstGeom prst="rect">
            <a:avLst/>
          </a:prstGeom>
          <a:solidFill>
            <a:srgbClr val="FFFFFF">
              <a:alpha val="49000"/>
            </a:srgbClr>
          </a:solidFill>
          <a:ln/>
        </p:spPr>
      </p:sp>
      <p:sp>
        <p:nvSpPr>
          <p:cNvPr id="20" name="pt:mXRtaMckPikm"/>
          <p:cNvSpPr/>
          <p:nvPr/>
        </p:nvSpPr>
        <p:spPr>
          <a:xfrm rot="-2700000">
            <a:off x="9234382" y="1521883"/>
            <a:ext cx="5349240" cy="31750"/>
          </a:xfrm>
          <a:prstGeom prst="rect">
            <a:avLst/>
          </a:prstGeom>
          <a:solidFill>
            <a:srgbClr val="FFFFFF">
              <a:alpha val="44000"/>
            </a:srgbClr>
          </a:solidFill>
          <a:ln/>
        </p:spPr>
      </p:sp>
      <p:sp>
        <p:nvSpPr>
          <p:cNvPr id="21" name="pt:6VIt9hheBJ01"/>
          <p:cNvSpPr/>
          <p:nvPr/>
        </p:nvSpPr>
        <p:spPr>
          <a:xfrm rot="2700000">
            <a:off x="9234382" y="5304367"/>
            <a:ext cx="5349240" cy="31750"/>
          </a:xfrm>
          <a:prstGeom prst="rect">
            <a:avLst/>
          </a:prstGeom>
          <a:solidFill>
            <a:srgbClr val="FFFFFF">
              <a:alpha val="44000"/>
            </a:srgbClr>
          </a:solidFill>
          <a:ln/>
        </p:spPr>
      </p:sp>
      <p:sp>
        <p:nvSpPr>
          <p:cNvPr id="22" name="pt:H1aQv_uVdRKa"/>
          <p:cNvSpPr/>
          <p:nvPr/>
        </p:nvSpPr>
        <p:spPr>
          <a:xfrm rot="-2700000">
            <a:off x="9450282" y="1521883"/>
            <a:ext cx="5349240" cy="31750"/>
          </a:xfrm>
          <a:prstGeom prst="rect">
            <a:avLst/>
          </a:prstGeom>
          <a:solidFill>
            <a:srgbClr val="22D3EE">
              <a:alpha val="39000"/>
            </a:srgbClr>
          </a:solidFill>
          <a:ln/>
        </p:spPr>
      </p:sp>
      <p:sp>
        <p:nvSpPr>
          <p:cNvPr id="23" name="pt:2_F0fzReCjMf"/>
          <p:cNvSpPr/>
          <p:nvPr/>
        </p:nvSpPr>
        <p:spPr>
          <a:xfrm rot="2700000">
            <a:off x="9450282" y="5304367"/>
            <a:ext cx="5349240" cy="31750"/>
          </a:xfrm>
          <a:prstGeom prst="rect">
            <a:avLst/>
          </a:prstGeom>
          <a:solidFill>
            <a:srgbClr val="22D3EE">
              <a:alpha val="39000"/>
            </a:srgbClr>
          </a:solidFill>
          <a:ln/>
        </p:spPr>
      </p:sp>
      <p:sp>
        <p:nvSpPr>
          <p:cNvPr id="24" name="pt:H4NVlAURkekx"/>
          <p:cNvSpPr/>
          <p:nvPr/>
        </p:nvSpPr>
        <p:spPr>
          <a:xfrm>
            <a:off x="975360" y="1371600"/>
            <a:ext cx="698500" cy="5080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/>
        </p:spPr>
      </p:sp>
      <p:sp>
        <p:nvSpPr>
          <p:cNvPr id="25" name="pt:zIGW--wu7gQT"/>
          <p:cNvSpPr/>
          <p:nvPr/>
        </p:nvSpPr>
        <p:spPr>
          <a:xfrm>
            <a:off x="975360" y="1562100"/>
            <a:ext cx="6339840" cy="269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Thank you</a:t>
            </a:r>
            <a:endParaRPr lang="en-US" sz="3600" dirty="0"/>
          </a:p>
        </p:txBody>
      </p:sp>
      <p:sp>
        <p:nvSpPr>
          <p:cNvPr id="26" name="pt:1YFW2Ttdw9gk"/>
          <p:cNvSpPr/>
          <p:nvPr/>
        </p:nvSpPr>
        <p:spPr>
          <a:xfrm>
            <a:off x="975360" y="4292600"/>
            <a:ext cx="6339840" cy="850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CECED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priya@northwind.example · northwind.example</a:t>
            </a:r>
            <a:endParaRPr lang="en-US" sz="1600" dirty="0"/>
          </a:p>
        </p:txBody>
      </p:sp>
    </p:spTree>
  </p:cSld>
  <p:clrMapOvr>
    <a:masterClrMapping/>
  </p:clrMapOvr>
  <p:transition spd="med"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6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53" presetClass="entr" presetSubtype="16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6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0" dur="600" fill="hold"/>
                                        <p:tgtEl>
                                          <p:spTgt spid="25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6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4" dur="600" fill="hold"/>
                                        <p:tgtEl>
                                          <p:spTgt spid="26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Space Grotesk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promptToPpt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QA Export Deck</dc:title>
  <dc:subject>PptxGenJS Presentation</dc:subject>
  <dc:creator>PptxGenJS</dc:creator>
  <cp:lastModifiedBy>PptxGenJS</cp:lastModifiedBy>
  <cp:revision>1</cp:revision>
  <dcterms:created xsi:type="dcterms:W3CDTF">2026-10-08T11:48:12Z</dcterms:created>
  <dcterms:modified xsi:type="dcterms:W3CDTF">2026-10-08T11:48:12Z</dcterms:modified>
</cp:coreProperties>
</file>