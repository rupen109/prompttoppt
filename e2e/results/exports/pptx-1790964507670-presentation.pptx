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7474F3"/>
            </a:solidFill>
            <a:effectLst/>
          </c:spPr>
          <c:invertIfNegative val="0"/>
          <c:dLbls>
            <c:numFmt formatCode="#,##0.##&quot;$B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DEDF8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22</c:v>
                </c:pt>
                <c:pt idx="2">
                  <c:v>27</c:v>
                </c:pt>
                <c:pt idx="3">
                  <c:v>33</c:v>
                </c:pt>
                <c:pt idx="4">
                  <c:v>41</c:v>
                </c:pt>
              </c:numCache>
            </c:numRef>
          </c:val>
        </c:ser>
        <c:dLbls>
          <c:numFmt formatCode="#,##0.##&quot;$B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DEDF8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promise. Pause, then introduce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pain concrete. 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Show, do not list. Keep this to the three things that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 Cite your market-size source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competitors out loud if asked; keep the slide neutral.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phase to a number investors can hold you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credible line per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Keep this slide up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9600" y="196850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" name="Text 1"/>
          <p:cNvSpPr/>
          <p:nvPr/>
        </p:nvSpPr>
        <p:spPr>
          <a:xfrm>
            <a:off x="609600" y="2184400"/>
            <a:ext cx="42672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EXPORTED-7231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609600" y="4102100"/>
            <a:ext cx="4267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· Investor presentation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609600"/>
            <a:ext cx="4632960" cy="563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5831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spc="150" kern="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609600" y="1173480"/>
            <a:ext cx="5831840" cy="2142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23%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609600" y="3429000"/>
            <a:ext cx="5831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delivery spend is wasted on empty miles and failed first attempts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09600" y="4556760"/>
            <a:ext cx="583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carriers plan routes by hand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vague delivery windows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tool fits a fleet under 200 vehicles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5283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1854200"/>
            <a:ext cx="5283200" cy="439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route planning in under a minute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delivery windows customers can trust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with the vans and phones fleets already have</a:t>
            </a:r>
            <a:endParaRPr lang="en-US" sz="1600" dirty="0"/>
          </a:p>
        </p:txBody>
      </p:sp>
      <p:pic>
        <p:nvPicPr>
          <p:cNvPr id="7" name="Image 0" descr="Delivery van in a ci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99200" y="609600"/>
            <a:ext cx="5283200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market that is growing fast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609600" y="1854200"/>
          <a:ext cx="6803136" cy="4394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30236" y="1930400"/>
            <a:ext cx="3915664" cy="4394200"/>
          </a:xfrm>
          <a:prstGeom prst="roundRect">
            <a:avLst>
              <a:gd name="adj" fmla="val 2595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666736" y="1854200"/>
            <a:ext cx="3915664" cy="4394200"/>
          </a:xfrm>
          <a:prstGeom prst="roundRect">
            <a:avLst>
              <a:gd name="adj" fmla="val 2595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9936" y="2082800"/>
            <a:ext cx="3509264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Last-mile software is on track to more than double in five years.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7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87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Import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87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the day’s orders or sync your system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67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403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1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81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81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are optimised for time, cost and capacity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1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197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5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75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75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 follow turn-by-turn routes in the app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55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991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69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169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Notify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169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live windows and proof of delivery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Traction so far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84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8128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Paying fleets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3695700"/>
            <a:ext cx="21463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from 12 a year ago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98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4163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95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$610K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36195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Annual recurring revenue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865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2230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62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17%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64262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Month-on-month growth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932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297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29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98%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92329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retention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we win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8200" y="20828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Typical tools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38200" y="2679700"/>
            <a:ext cx="4876800" cy="337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enterprise fleets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of onboarding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Per-vehicle pricing that punishes growth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11900" y="19304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248400" y="18542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7000" y="20828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77000" y="2679700"/>
            <a:ext cx="4876800" cy="337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fleets of 5 to 200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a single afternoon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flat pricing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of funds and milestones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854200"/>
            <a:ext cx="2841625" cy="5842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7" name="Text 5"/>
          <p:cNvSpPr/>
          <p:nvPr/>
        </p:nvSpPr>
        <p:spPr>
          <a:xfrm>
            <a:off x="863600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3100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9600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app 2.0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API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75025" y="1854200"/>
            <a:ext cx="2841625" cy="5842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3" name="Text 11"/>
          <p:cNvSpPr/>
          <p:nvPr/>
        </p:nvSpPr>
        <p:spPr>
          <a:xfrm>
            <a:off x="3629025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38525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375025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78225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 to market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78225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 of 4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partners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40450" y="1854200"/>
            <a:ext cx="2841625" cy="5842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9" name="Text 17"/>
          <p:cNvSpPr/>
          <p:nvPr/>
        </p:nvSpPr>
        <p:spPr>
          <a:xfrm>
            <a:off x="6394450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03950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140450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3650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43650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regions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tier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05875" y="1854200"/>
            <a:ext cx="2676525" cy="5842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9159875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Q4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969375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905875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09075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Profit path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09075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 routes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A readiness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team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2800" y="2057400"/>
            <a:ext cx="952500" cy="952500"/>
          </a:xfrm>
          <a:prstGeom prst="ellipse">
            <a:avLst/>
          </a:prstGeom>
          <a:solidFill>
            <a:srgbClr val="5F5FC8"/>
          </a:solidFill>
          <a:ln/>
        </p:spPr>
      </p:sp>
      <p:sp>
        <p:nvSpPr>
          <p:cNvPr id="9" name="Text 7"/>
          <p:cNvSpPr/>
          <p:nvPr/>
        </p:nvSpPr>
        <p:spPr>
          <a:xfrm>
            <a:off x="8128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PN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8128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 Nair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28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 operations for a 300-van courier network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069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3434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46600" y="2057400"/>
            <a:ext cx="952500" cy="952500"/>
          </a:xfrm>
          <a:prstGeom prst="ellipse">
            <a:avLst/>
          </a:prstGeom>
          <a:solidFill>
            <a:srgbClr val="1DABC4"/>
          </a:solidFill>
          <a:ln/>
        </p:spPr>
      </p:sp>
      <p:sp>
        <p:nvSpPr>
          <p:cNvPr id="16" name="Text 14"/>
          <p:cNvSpPr/>
          <p:nvPr/>
        </p:nvSpPr>
        <p:spPr>
          <a:xfrm>
            <a:off x="45466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45466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Daniel Okafor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466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466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routing engines at a global logistics firm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407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0772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80400" y="2057400"/>
            <a:ext cx="952500" cy="952500"/>
          </a:xfrm>
          <a:prstGeom prst="ellipse">
            <a:avLst/>
          </a:prstGeom>
          <a:solidFill>
            <a:srgbClr val="3E74C6"/>
          </a:solidFill>
          <a:ln/>
        </p:spPr>
      </p:sp>
      <p:sp>
        <p:nvSpPr>
          <p:cNvPr id="23" name="Text 21"/>
          <p:cNvSpPr/>
          <p:nvPr/>
        </p:nvSpPr>
        <p:spPr>
          <a:xfrm>
            <a:off x="82804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MT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82804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Mei Tanaka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804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Growth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804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Scaled two B2B SaaS products to $10M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ask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1854200"/>
            <a:ext cx="5705856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$2.5M</a:t>
            </a:r>
            <a:endParaRPr lang="en-US" sz="10000" dirty="0"/>
          </a:p>
        </p:txBody>
      </p:sp>
      <p:sp>
        <p:nvSpPr>
          <p:cNvPr id="7" name="Shape 5"/>
          <p:cNvSpPr/>
          <p:nvPr/>
        </p:nvSpPr>
        <p:spPr>
          <a:xfrm>
            <a:off x="609600" y="4127500"/>
            <a:ext cx="6985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4318000"/>
            <a:ext cx="5705856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to reach 300 fleets and break-even routes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734556" y="1930400"/>
            <a:ext cx="4911344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71056" y="1854200"/>
            <a:ext cx="4911344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74256" y="2057400"/>
            <a:ext cx="4504944" cy="398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months of runway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 by [lead investor], with room for a few angels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9600" y="196850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" name="Text 1"/>
          <p:cNvSpPr/>
          <p:nvPr/>
        </p:nvSpPr>
        <p:spPr>
          <a:xfrm>
            <a:off x="609600" y="2184400"/>
            <a:ext cx="42672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609600" y="4102100"/>
            <a:ext cx="4267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priya@northwind.example · northwind.example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Export Deck</dc:title>
  <dc:subject>PptxGenJS Presentation</dc:subject>
  <dc:creator>PptxGenJS</dc:creator>
  <cp:lastModifiedBy>PptxGenJS</cp:lastModifiedBy>
  <cp:revision>1</cp:revision>
  <dcterms:created xsi:type="dcterms:W3CDTF">2026-10-02T18:08:27Z</dcterms:created>
  <dcterms:modified xsi:type="dcterms:W3CDTF">2026-10-02T18:08:27Z</dcterms:modified>
</cp:coreProperties>
</file>