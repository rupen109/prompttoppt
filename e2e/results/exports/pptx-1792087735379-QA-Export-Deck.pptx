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</c:v>
                </c:pt>
              </c:strCache>
            </c:strRef>
          </c:tx>
          <c:spPr>
            <a:solidFill>
              <a:srgbClr val="7474F3"/>
            </a:solidFill>
            <a:effectLst/>
          </c:spPr>
          <c:invertIfNegative val="0"/>
          <c:dLbls>
            <c:numFmt formatCode="#,##0.##&quot;$B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DEDF8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22</c:v>
                </c:pt>
                <c:pt idx="2">
                  <c:v>27</c:v>
                </c:pt>
                <c:pt idx="3">
                  <c:v>33</c:v>
                </c:pt>
                <c:pt idx="4">
                  <c:v>41</c:v>
                </c:pt>
              </c:numCache>
            </c:numRef>
          </c:val>
        </c:ser>
        <c:dLbls>
          <c:numFmt formatCode="#,##0.##&quot;$B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EDEDF8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5A5B1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A3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5A5B1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promise. Pause, then introduce yourself.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pain concrete. 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Show, do not list. Keep this to the three things that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 Cite your market-size source on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 in under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competitors out loud if asked; keep the slide neutral.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each phase to a number investors can hold you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credible line per person.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questions. Keep this slide up during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t:VjeSGcijlGi1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t:VjeSGcijlGi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pt:WAsJmsX0hJo-"/>
          <p:cNvSpPr/>
          <p:nvPr/>
        </p:nvSpPr>
        <p:spPr>
          <a:xfrm rot="-2700000">
            <a:off x="7507182" y="1521883"/>
            <a:ext cx="5349240" cy="31750"/>
          </a:xfrm>
          <a:prstGeom prst="rect">
            <a:avLst/>
          </a:prstGeom>
          <a:solidFill>
            <a:srgbClr val="22D3EE">
              <a:alpha val="85000"/>
            </a:srgbClr>
          </a:solidFill>
          <a:ln/>
        </p:spPr>
      </p:sp>
      <p:sp>
        <p:nvSpPr>
          <p:cNvPr id="5" name="pt:N7Dme46V95yv"/>
          <p:cNvSpPr/>
          <p:nvPr/>
        </p:nvSpPr>
        <p:spPr>
          <a:xfrm rot="2700000">
            <a:off x="7507182" y="5304367"/>
            <a:ext cx="5349240" cy="31750"/>
          </a:xfrm>
          <a:prstGeom prst="rect">
            <a:avLst/>
          </a:prstGeom>
          <a:solidFill>
            <a:srgbClr val="22D3EE">
              <a:alpha val="85000"/>
            </a:srgbClr>
          </a:solidFill>
          <a:ln/>
        </p:spPr>
      </p:sp>
      <p:sp>
        <p:nvSpPr>
          <p:cNvPr id="6" name="pt:QA0Y6ARzRj9B"/>
          <p:cNvSpPr/>
          <p:nvPr/>
        </p:nvSpPr>
        <p:spPr>
          <a:xfrm rot="-2700000">
            <a:off x="7723082" y="1521883"/>
            <a:ext cx="5349240" cy="317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7" name="pt:QKl51LFNfm48"/>
          <p:cNvSpPr/>
          <p:nvPr/>
        </p:nvSpPr>
        <p:spPr>
          <a:xfrm rot="2700000">
            <a:off x="7723082" y="5304367"/>
            <a:ext cx="5349240" cy="317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8" name="pt:5V0eCDM7EDdz"/>
          <p:cNvSpPr/>
          <p:nvPr/>
        </p:nvSpPr>
        <p:spPr>
          <a:xfrm rot="-2700000">
            <a:off x="7938982" y="1521883"/>
            <a:ext cx="5349240" cy="317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9" name="pt:LKLz0q0UjhZ2"/>
          <p:cNvSpPr/>
          <p:nvPr/>
        </p:nvSpPr>
        <p:spPr>
          <a:xfrm rot="2700000">
            <a:off x="7938982" y="5304367"/>
            <a:ext cx="5349240" cy="317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10" name="pt:K79lCNtKG_vZ"/>
          <p:cNvSpPr/>
          <p:nvPr/>
        </p:nvSpPr>
        <p:spPr>
          <a:xfrm rot="-2700000">
            <a:off x="8154882" y="1521883"/>
            <a:ext cx="5349240" cy="3175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11" name="pt:-C0L_--pdAFG"/>
          <p:cNvSpPr/>
          <p:nvPr/>
        </p:nvSpPr>
        <p:spPr>
          <a:xfrm rot="2700000">
            <a:off x="8154882" y="5304367"/>
            <a:ext cx="5349240" cy="3175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12" name="pt:i_q37tsJ-1ga"/>
          <p:cNvSpPr/>
          <p:nvPr/>
        </p:nvSpPr>
        <p:spPr>
          <a:xfrm rot="-2700000">
            <a:off x="8370782" y="1521883"/>
            <a:ext cx="5349240" cy="31750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3" name="pt:9jN7bdp9DQGA"/>
          <p:cNvSpPr/>
          <p:nvPr/>
        </p:nvSpPr>
        <p:spPr>
          <a:xfrm rot="2700000">
            <a:off x="8370782" y="5304367"/>
            <a:ext cx="5349240" cy="31750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4" name="pt:tleztsaqNVKL"/>
          <p:cNvSpPr/>
          <p:nvPr/>
        </p:nvSpPr>
        <p:spPr>
          <a:xfrm rot="-2700000">
            <a:off x="8586682" y="1521883"/>
            <a:ext cx="5349240" cy="31750"/>
          </a:xfrm>
          <a:prstGeom prst="rect">
            <a:avLst/>
          </a:prstGeom>
          <a:solidFill>
            <a:srgbClr val="FFFFFF">
              <a:alpha val="59000"/>
            </a:srgbClr>
          </a:solidFill>
          <a:ln/>
        </p:spPr>
      </p:sp>
      <p:sp>
        <p:nvSpPr>
          <p:cNvPr id="15" name="pt:He_QB5vubJdd"/>
          <p:cNvSpPr/>
          <p:nvPr/>
        </p:nvSpPr>
        <p:spPr>
          <a:xfrm rot="2700000">
            <a:off x="8586682" y="5304367"/>
            <a:ext cx="5349240" cy="31750"/>
          </a:xfrm>
          <a:prstGeom prst="rect">
            <a:avLst/>
          </a:prstGeom>
          <a:solidFill>
            <a:srgbClr val="FFFFFF">
              <a:alpha val="59000"/>
            </a:srgbClr>
          </a:solidFill>
          <a:ln/>
        </p:spPr>
      </p:sp>
      <p:sp>
        <p:nvSpPr>
          <p:cNvPr id="16" name="pt:JbKu9tuSYfXL"/>
          <p:cNvSpPr/>
          <p:nvPr/>
        </p:nvSpPr>
        <p:spPr>
          <a:xfrm rot="-2700000">
            <a:off x="8802582" y="1521883"/>
            <a:ext cx="5349240" cy="31750"/>
          </a:xfrm>
          <a:prstGeom prst="rect">
            <a:avLst/>
          </a:prstGeom>
          <a:solidFill>
            <a:srgbClr val="22D3EE">
              <a:alpha val="54000"/>
            </a:srgbClr>
          </a:solidFill>
          <a:ln/>
        </p:spPr>
      </p:sp>
      <p:sp>
        <p:nvSpPr>
          <p:cNvPr id="17" name="pt:u_AK5n63dx-y"/>
          <p:cNvSpPr/>
          <p:nvPr/>
        </p:nvSpPr>
        <p:spPr>
          <a:xfrm rot="2700000">
            <a:off x="8802582" y="5304367"/>
            <a:ext cx="5349240" cy="31750"/>
          </a:xfrm>
          <a:prstGeom prst="rect">
            <a:avLst/>
          </a:prstGeom>
          <a:solidFill>
            <a:srgbClr val="22D3EE">
              <a:alpha val="54000"/>
            </a:srgbClr>
          </a:solidFill>
          <a:ln/>
        </p:spPr>
      </p:sp>
      <p:sp>
        <p:nvSpPr>
          <p:cNvPr id="18" name="pt:CZ0CI_zzF_ql"/>
          <p:cNvSpPr/>
          <p:nvPr/>
        </p:nvSpPr>
        <p:spPr>
          <a:xfrm rot="-2700000">
            <a:off x="9018482" y="1521883"/>
            <a:ext cx="5349240" cy="31750"/>
          </a:xfrm>
          <a:prstGeom prst="rect">
            <a:avLst/>
          </a:prstGeom>
          <a:solidFill>
            <a:srgbClr val="FFFFFF">
              <a:alpha val="49000"/>
            </a:srgbClr>
          </a:solidFill>
          <a:ln/>
        </p:spPr>
      </p:sp>
      <p:sp>
        <p:nvSpPr>
          <p:cNvPr id="19" name="pt:-mga53H1YJ2B"/>
          <p:cNvSpPr/>
          <p:nvPr/>
        </p:nvSpPr>
        <p:spPr>
          <a:xfrm rot="2700000">
            <a:off x="9018482" y="5304367"/>
            <a:ext cx="5349240" cy="31750"/>
          </a:xfrm>
          <a:prstGeom prst="rect">
            <a:avLst/>
          </a:prstGeom>
          <a:solidFill>
            <a:srgbClr val="FFFFFF">
              <a:alpha val="49000"/>
            </a:srgbClr>
          </a:solidFill>
          <a:ln/>
        </p:spPr>
      </p:sp>
      <p:sp>
        <p:nvSpPr>
          <p:cNvPr id="20" name="pt:sIKrjqOHroxz"/>
          <p:cNvSpPr/>
          <p:nvPr/>
        </p:nvSpPr>
        <p:spPr>
          <a:xfrm rot="-2700000">
            <a:off x="9234382" y="1521883"/>
            <a:ext cx="5349240" cy="31750"/>
          </a:xfrm>
          <a:prstGeom prst="rect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21" name="pt:5xV7jeeEQARH"/>
          <p:cNvSpPr/>
          <p:nvPr/>
        </p:nvSpPr>
        <p:spPr>
          <a:xfrm rot="2700000">
            <a:off x="9234382" y="5304367"/>
            <a:ext cx="5349240" cy="31750"/>
          </a:xfrm>
          <a:prstGeom prst="rect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22" name="pt:d6a5BOvMByQ0"/>
          <p:cNvSpPr/>
          <p:nvPr/>
        </p:nvSpPr>
        <p:spPr>
          <a:xfrm rot="-2700000">
            <a:off x="9450282" y="1521883"/>
            <a:ext cx="5349240" cy="31750"/>
          </a:xfrm>
          <a:prstGeom prst="rect">
            <a:avLst/>
          </a:prstGeom>
          <a:solidFill>
            <a:srgbClr val="22D3EE">
              <a:alpha val="39000"/>
            </a:srgbClr>
          </a:solidFill>
          <a:ln/>
        </p:spPr>
      </p:sp>
      <p:sp>
        <p:nvSpPr>
          <p:cNvPr id="23" name="pt:spQopN-9YHBJ"/>
          <p:cNvSpPr/>
          <p:nvPr/>
        </p:nvSpPr>
        <p:spPr>
          <a:xfrm rot="2700000">
            <a:off x="9450282" y="5304367"/>
            <a:ext cx="5349240" cy="31750"/>
          </a:xfrm>
          <a:prstGeom prst="rect">
            <a:avLst/>
          </a:prstGeom>
          <a:solidFill>
            <a:srgbClr val="22D3EE">
              <a:alpha val="39000"/>
            </a:srgbClr>
          </a:solidFill>
          <a:ln/>
        </p:spPr>
      </p:sp>
      <p:sp>
        <p:nvSpPr>
          <p:cNvPr id="24" name="pt:v1R3NnK6zRxN"/>
          <p:cNvSpPr/>
          <p:nvPr/>
        </p:nvSpPr>
        <p:spPr>
          <a:xfrm>
            <a:off x="975360" y="137160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25" name="pt:iV0WE6Y1p3tY"/>
          <p:cNvSpPr/>
          <p:nvPr/>
        </p:nvSpPr>
        <p:spPr>
          <a:xfrm>
            <a:off x="975360" y="1562100"/>
            <a:ext cx="6339840" cy="269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Northwind: logistics software that cuts delivery cost</a:t>
            </a:r>
            <a:endParaRPr lang="en-US" sz="4200" dirty="0"/>
          </a:p>
        </p:txBody>
      </p:sp>
      <p:sp>
        <p:nvSpPr>
          <p:cNvPr id="26" name="pt:Gbl41_8LJz-S"/>
          <p:cNvSpPr/>
          <p:nvPr/>
        </p:nvSpPr>
        <p:spPr>
          <a:xfrm>
            <a:off x="975360" y="4292600"/>
            <a:ext cx="633984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ECED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Seed round · Investor presentation</a:t>
            </a:r>
            <a:endParaRPr lang="en-US" sz="1600" dirty="0"/>
          </a:p>
        </p:txBody>
      </p:sp>
    </p:spTree>
  </p:cSld>
  <p:clrMapOvr>
    <a:masterClrMapping/>
  </p:clrMapOvr>
  <p:transition spd="fast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decel="10000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450" fill="hold"/>
                                        <p:tgtEl>
                                          <p:spTgt spid="25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decel="10000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450" fill="hold"/>
                                        <p:tgtEl>
                                          <p:spTgt spid="26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t:-bJ66GnRC_2q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0" y="609600"/>
            <a:ext cx="4632960" cy="5638800"/>
          </a:xfrm>
          <a:prstGeom prst="rect">
            <a:avLst/>
          </a:prstGeom>
        </p:spPr>
      </p:pic>
      <p:sp>
        <p:nvSpPr>
          <p:cNvPr id="3" name="pt:HbmgLz0trrir"/>
          <p:cNvSpPr/>
          <p:nvPr/>
        </p:nvSpPr>
        <p:spPr>
          <a:xfrm>
            <a:off x="609600" y="609600"/>
            <a:ext cx="583184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spc="150" kern="0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4" name="pt:gZFuSCFMSash"/>
          <p:cNvSpPr/>
          <p:nvPr/>
        </p:nvSpPr>
        <p:spPr>
          <a:xfrm>
            <a:off x="609600" y="1173480"/>
            <a:ext cx="5831840" cy="2142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23%</a:t>
            </a:r>
            <a:endParaRPr lang="en-US" sz="12000" dirty="0"/>
          </a:p>
        </p:txBody>
      </p:sp>
      <p:sp>
        <p:nvSpPr>
          <p:cNvPr id="5" name="pt:stj2btUkUxbS"/>
          <p:cNvSpPr/>
          <p:nvPr/>
        </p:nvSpPr>
        <p:spPr>
          <a:xfrm>
            <a:off x="609600" y="3429000"/>
            <a:ext cx="58318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of delivery spend is wasted on empty miles and failed first attempts</a:t>
            </a:r>
            <a:endParaRPr lang="en-US" sz="2200" dirty="0"/>
          </a:p>
        </p:txBody>
      </p:sp>
      <p:sp>
        <p:nvSpPr>
          <p:cNvPr id="6" name="pt:md3Sq5nokl6O"/>
          <p:cNvSpPr/>
          <p:nvPr/>
        </p:nvSpPr>
        <p:spPr>
          <a:xfrm>
            <a:off x="609600" y="4556760"/>
            <a:ext cx="583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carriers plan routes by hand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get vague delivery windows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tool fits a fleet under 200 vehicles</a:t>
            </a:r>
            <a:endParaRPr lang="en-US" sz="1500" dirty="0"/>
          </a:p>
        </p:txBody>
      </p:sp>
    </p:spTree>
  </p:cSld>
  <p:clrMapOvr>
    <a:masterClrMapping/>
  </p:clrMapOvr>
  <p:transition spd="fast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450" fill="hold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decel="10000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decel="10000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450" fill="hold"/>
                                        <p:tgtEl>
                                          <p:spTgt spid="5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decel="10000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450" fill="hold"/>
                                        <p:tgtEl>
                                          <p:spTgt spid="6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SW1BRNzkWMEB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pt:3pK_fdqdVYmJ"/>
          <p:cNvSpPr/>
          <p:nvPr/>
        </p:nvSpPr>
        <p:spPr>
          <a:xfrm>
            <a:off x="609600" y="660400"/>
            <a:ext cx="5283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4" name="pt:dlgLV7eMYSpi"/>
          <p:cNvSpPr/>
          <p:nvPr/>
        </p:nvSpPr>
        <p:spPr>
          <a:xfrm>
            <a:off x="609600" y="1739900"/>
            <a:ext cx="5283200" cy="450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route planning in under a minute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delivery windows customers can trust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 with the vans and phones fleets already have</a:t>
            </a:r>
            <a:endParaRPr lang="en-US" sz="1600" dirty="0"/>
          </a:p>
        </p:txBody>
      </p:sp>
      <p:pic>
        <p:nvPicPr>
          <p:cNvPr id="5" name="pt:2-XdjOHA1Ngc" descr="Delivery van in a cit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99200" y="609600"/>
            <a:ext cx="5283200" cy="5638800"/>
          </a:xfrm>
          <a:prstGeom prst="rect">
            <a:avLst/>
          </a:prstGeom>
        </p:spPr>
      </p:pic>
    </p:spTree>
  </p:cSld>
  <p:clrMapOvr>
    <a:masterClrMapping/>
  </p:clrMapOvr>
  <p:transition spd="fast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450" fill="hold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decel="100000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45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decel="100000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45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decel="100000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45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Kltbb4SqTDNl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pt:Iz36X-v_-cBR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market that is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growing fast</a:t>
            </a:r>
            <a:endParaRPr lang="en-US" sz="3000" dirty="0"/>
          </a:p>
        </p:txBody>
      </p:sp>
      <p:graphicFrame>
        <p:nvGraphicFramePr>
          <p:cNvPr id="4" name="pt:UKcbLcqodpHV" descr=""/>
          <p:cNvGraphicFramePr/>
          <p:nvPr/>
        </p:nvGraphicFramePr>
        <p:xfrm>
          <a:off x="609600" y="1739900"/>
          <a:ext cx="6803136" cy="45085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pt:3MGoSSDXsKbU"/>
          <p:cNvSpPr/>
          <p:nvPr/>
        </p:nvSpPr>
        <p:spPr>
          <a:xfrm>
            <a:off x="7730236" y="1816100"/>
            <a:ext cx="3915664" cy="4508500"/>
          </a:xfrm>
          <a:prstGeom prst="roundRect">
            <a:avLst>
              <a:gd name="adj" fmla="val 2595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6" name="pt:Spf59N6asWVy"/>
          <p:cNvSpPr/>
          <p:nvPr/>
        </p:nvSpPr>
        <p:spPr>
          <a:xfrm>
            <a:off x="7666736" y="1739900"/>
            <a:ext cx="3915664" cy="4508500"/>
          </a:xfrm>
          <a:prstGeom prst="roundRect">
            <a:avLst>
              <a:gd name="adj" fmla="val 2595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7" name="pt:a38KqGk-j4Jo"/>
          <p:cNvSpPr/>
          <p:nvPr/>
        </p:nvSpPr>
        <p:spPr>
          <a:xfrm>
            <a:off x="7869936" y="1968500"/>
            <a:ext cx="3509264" cy="405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Last-mile software is on track to more than double in five years.</a:t>
            </a:r>
            <a:endParaRPr lang="en-US" sz="1600" dirty="0"/>
          </a:p>
        </p:txBody>
      </p:sp>
    </p:spTree>
  </p:cSld>
  <p:clrMapOvr>
    <a:masterClrMapping/>
  </p:clrMapOvr>
  <p:transition spd="fast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450" fill="hold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decel="10000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450" fill="hold"/>
                                        <p:tgtEl>
                                          <p:spTgt spid="4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decel="10000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450" fill="hold"/>
                                        <p:tgtEl>
                                          <p:spTgt spid="6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decel="10000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450" fill="hold"/>
                                        <p:tgtEl>
                                          <p:spTgt spid="7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Zf0tvskkTYv_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pt:xkvHRaFxVlx2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it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works</a:t>
            </a:r>
            <a:endParaRPr lang="en-US" sz="3000" dirty="0"/>
          </a:p>
        </p:txBody>
      </p:sp>
      <p:sp>
        <p:nvSpPr>
          <p:cNvPr id="4" name="pt:aw0RwQpyMvGv"/>
          <p:cNvSpPr/>
          <p:nvPr/>
        </p:nvSpPr>
        <p:spPr>
          <a:xfrm>
            <a:off x="1476375" y="2280920"/>
            <a:ext cx="406400" cy="355600"/>
          </a:xfrm>
          <a:prstGeom prst="chevron">
            <a:avLst/>
          </a:prstGeom>
          <a:solidFill>
            <a:srgbClr val="404087"/>
          </a:solidFill>
          <a:ln/>
        </p:spPr>
      </p:sp>
      <p:sp>
        <p:nvSpPr>
          <p:cNvPr id="5" name="pt:oCOLilloRCZ5"/>
          <p:cNvSpPr/>
          <p:nvPr/>
        </p:nvSpPr>
        <p:spPr>
          <a:xfrm>
            <a:off x="1755775" y="2280920"/>
            <a:ext cx="406400" cy="355600"/>
          </a:xfrm>
          <a:prstGeom prst="chevron">
            <a:avLst/>
          </a:prstGeom>
          <a:solidFill>
            <a:srgbClr val="3A3A7A"/>
          </a:solidFill>
          <a:ln/>
        </p:spPr>
      </p:sp>
      <p:sp>
        <p:nvSpPr>
          <p:cNvPr id="6" name="pt:XyR66U7zZ8RB"/>
          <p:cNvSpPr/>
          <p:nvPr/>
        </p:nvSpPr>
        <p:spPr>
          <a:xfrm>
            <a:off x="2035175" y="2280920"/>
            <a:ext cx="406400" cy="355600"/>
          </a:xfrm>
          <a:prstGeom prst="chevron">
            <a:avLst/>
          </a:prstGeom>
          <a:solidFill>
            <a:srgbClr val="303067"/>
          </a:solidFill>
          <a:ln/>
        </p:spPr>
      </p:sp>
      <p:sp>
        <p:nvSpPr>
          <p:cNvPr id="7" name="pt:DlwIxX7Q137N"/>
          <p:cNvSpPr/>
          <p:nvPr/>
        </p:nvSpPr>
        <p:spPr>
          <a:xfrm>
            <a:off x="1889125" y="2763520"/>
            <a:ext cx="12700" cy="342900"/>
          </a:xfrm>
          <a:prstGeom prst="rect">
            <a:avLst/>
          </a:prstGeom>
          <a:solidFill>
            <a:srgbClr val="2D2D3C"/>
          </a:solidFill>
          <a:ln/>
        </p:spPr>
      </p:sp>
      <p:sp>
        <p:nvSpPr>
          <p:cNvPr id="8" name="pt:x9-zE-JiIPQ6"/>
          <p:cNvSpPr/>
          <p:nvPr/>
        </p:nvSpPr>
        <p:spPr>
          <a:xfrm>
            <a:off x="609600" y="3182620"/>
            <a:ext cx="2571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Import</a:t>
            </a:r>
            <a:endParaRPr lang="en-US" sz="2000" dirty="0"/>
          </a:p>
        </p:txBody>
      </p:sp>
      <p:sp>
        <p:nvSpPr>
          <p:cNvPr id="9" name="pt:aJ3ptBgaww0R"/>
          <p:cNvSpPr/>
          <p:nvPr/>
        </p:nvSpPr>
        <p:spPr>
          <a:xfrm>
            <a:off x="609600" y="3804920"/>
            <a:ext cx="2571750" cy="244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the day’s orders or sync your system</a:t>
            </a:r>
            <a:endParaRPr lang="en-US" sz="1600" dirty="0"/>
          </a:p>
        </p:txBody>
      </p:sp>
      <p:sp>
        <p:nvSpPr>
          <p:cNvPr id="10" name="pt:7m_h90KBVUmH"/>
          <p:cNvSpPr/>
          <p:nvPr/>
        </p:nvSpPr>
        <p:spPr>
          <a:xfrm>
            <a:off x="4276725" y="2280920"/>
            <a:ext cx="406400" cy="355600"/>
          </a:xfrm>
          <a:prstGeom prst="chevron">
            <a:avLst/>
          </a:prstGeom>
          <a:solidFill>
            <a:srgbClr val="5151AB"/>
          </a:solidFill>
          <a:ln/>
        </p:spPr>
      </p:sp>
      <p:sp>
        <p:nvSpPr>
          <p:cNvPr id="11" name="pt:EFcoPy_ak_in"/>
          <p:cNvSpPr/>
          <p:nvPr/>
        </p:nvSpPr>
        <p:spPr>
          <a:xfrm>
            <a:off x="4556125" y="2280920"/>
            <a:ext cx="406400" cy="355600"/>
          </a:xfrm>
          <a:prstGeom prst="chevron">
            <a:avLst/>
          </a:prstGeom>
          <a:solidFill>
            <a:srgbClr val="49499A"/>
          </a:solidFill>
          <a:ln/>
        </p:spPr>
      </p:sp>
      <p:sp>
        <p:nvSpPr>
          <p:cNvPr id="12" name="pt:ofX7rQ5wz9nx"/>
          <p:cNvSpPr/>
          <p:nvPr/>
        </p:nvSpPr>
        <p:spPr>
          <a:xfrm>
            <a:off x="4835525" y="2280920"/>
            <a:ext cx="406400" cy="355600"/>
          </a:xfrm>
          <a:prstGeom prst="chevron">
            <a:avLst/>
          </a:prstGeom>
          <a:solidFill>
            <a:srgbClr val="3C3C80"/>
          </a:solidFill>
          <a:ln/>
        </p:spPr>
      </p:sp>
      <p:sp>
        <p:nvSpPr>
          <p:cNvPr id="13" name="pt:jT8BIXnVh6eG"/>
          <p:cNvSpPr/>
          <p:nvPr/>
        </p:nvSpPr>
        <p:spPr>
          <a:xfrm>
            <a:off x="4689475" y="2763520"/>
            <a:ext cx="12700" cy="342900"/>
          </a:xfrm>
          <a:prstGeom prst="rect">
            <a:avLst/>
          </a:prstGeom>
          <a:solidFill>
            <a:srgbClr val="2D2D3C"/>
          </a:solidFill>
          <a:ln/>
        </p:spPr>
      </p:sp>
      <p:sp>
        <p:nvSpPr>
          <p:cNvPr id="14" name="pt:7JLM4qFbGbRv"/>
          <p:cNvSpPr/>
          <p:nvPr/>
        </p:nvSpPr>
        <p:spPr>
          <a:xfrm>
            <a:off x="3409950" y="3182620"/>
            <a:ext cx="2571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Plan</a:t>
            </a:r>
            <a:endParaRPr lang="en-US" sz="2000" dirty="0"/>
          </a:p>
        </p:txBody>
      </p:sp>
      <p:sp>
        <p:nvSpPr>
          <p:cNvPr id="15" name="pt:lPsbH--lAsHU"/>
          <p:cNvSpPr/>
          <p:nvPr/>
        </p:nvSpPr>
        <p:spPr>
          <a:xfrm>
            <a:off x="3409950" y="3804920"/>
            <a:ext cx="2571750" cy="244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Routes are optimised for time, cost and capacity</a:t>
            </a:r>
            <a:endParaRPr lang="en-US" sz="1600" dirty="0"/>
          </a:p>
        </p:txBody>
      </p:sp>
      <p:sp>
        <p:nvSpPr>
          <p:cNvPr id="16" name="pt:Wu7Om2FhnsKZ"/>
          <p:cNvSpPr/>
          <p:nvPr/>
        </p:nvSpPr>
        <p:spPr>
          <a:xfrm>
            <a:off x="7077075" y="2280920"/>
            <a:ext cx="406400" cy="355600"/>
          </a:xfrm>
          <a:prstGeom prst="chevron">
            <a:avLst/>
          </a:prstGeom>
          <a:solidFill>
            <a:srgbClr val="6363CF"/>
          </a:solidFill>
          <a:ln/>
        </p:spPr>
      </p:sp>
      <p:sp>
        <p:nvSpPr>
          <p:cNvPr id="17" name="pt:Bd_xqn7QyJkw"/>
          <p:cNvSpPr/>
          <p:nvPr/>
        </p:nvSpPr>
        <p:spPr>
          <a:xfrm>
            <a:off x="7356475" y="2280920"/>
            <a:ext cx="406400" cy="355600"/>
          </a:xfrm>
          <a:prstGeom prst="chevron">
            <a:avLst/>
          </a:prstGeom>
          <a:solidFill>
            <a:srgbClr val="5858B9"/>
          </a:solidFill>
          <a:ln/>
        </p:spPr>
      </p:sp>
      <p:sp>
        <p:nvSpPr>
          <p:cNvPr id="18" name="pt:9Xrh1y0BojR4"/>
          <p:cNvSpPr/>
          <p:nvPr/>
        </p:nvSpPr>
        <p:spPr>
          <a:xfrm>
            <a:off x="7635875" y="2280920"/>
            <a:ext cx="406400" cy="355600"/>
          </a:xfrm>
          <a:prstGeom prst="chevron">
            <a:avLst/>
          </a:prstGeom>
          <a:solidFill>
            <a:srgbClr val="494999"/>
          </a:solidFill>
          <a:ln/>
        </p:spPr>
      </p:sp>
      <p:sp>
        <p:nvSpPr>
          <p:cNvPr id="19" name="pt:2qIKjS7T7GC_"/>
          <p:cNvSpPr/>
          <p:nvPr/>
        </p:nvSpPr>
        <p:spPr>
          <a:xfrm>
            <a:off x="7489825" y="2763520"/>
            <a:ext cx="12700" cy="342900"/>
          </a:xfrm>
          <a:prstGeom prst="rect">
            <a:avLst/>
          </a:prstGeom>
          <a:solidFill>
            <a:srgbClr val="2D2D3C"/>
          </a:solidFill>
          <a:ln/>
        </p:spPr>
      </p:sp>
      <p:sp>
        <p:nvSpPr>
          <p:cNvPr id="20" name="pt:cmNJYshP5EIZ"/>
          <p:cNvSpPr/>
          <p:nvPr/>
        </p:nvSpPr>
        <p:spPr>
          <a:xfrm>
            <a:off x="6210300" y="3182620"/>
            <a:ext cx="2571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Deliver</a:t>
            </a:r>
            <a:endParaRPr lang="en-US" sz="2000" dirty="0"/>
          </a:p>
        </p:txBody>
      </p:sp>
      <p:sp>
        <p:nvSpPr>
          <p:cNvPr id="21" name="pt:naheiCY1TEfT"/>
          <p:cNvSpPr/>
          <p:nvPr/>
        </p:nvSpPr>
        <p:spPr>
          <a:xfrm>
            <a:off x="6210300" y="3804920"/>
            <a:ext cx="2571750" cy="244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Drivers follow turn-by-turn routes in the app</a:t>
            </a:r>
            <a:endParaRPr lang="en-US" sz="1600" dirty="0"/>
          </a:p>
        </p:txBody>
      </p:sp>
      <p:sp>
        <p:nvSpPr>
          <p:cNvPr id="22" name="pt:exg80xfH4TQw"/>
          <p:cNvSpPr/>
          <p:nvPr/>
        </p:nvSpPr>
        <p:spPr>
          <a:xfrm>
            <a:off x="9877425" y="2280920"/>
            <a:ext cx="406400" cy="355600"/>
          </a:xfrm>
          <a:prstGeom prst="chevron">
            <a:avLst/>
          </a:prstGeom>
          <a:solidFill>
            <a:srgbClr val="7474F3"/>
          </a:solidFill>
          <a:ln/>
        </p:spPr>
      </p:sp>
      <p:sp>
        <p:nvSpPr>
          <p:cNvPr id="23" name="pt:LgvrhFHMSaRN"/>
          <p:cNvSpPr/>
          <p:nvPr/>
        </p:nvSpPr>
        <p:spPr>
          <a:xfrm>
            <a:off x="10156825" y="2280920"/>
            <a:ext cx="406400" cy="355600"/>
          </a:xfrm>
          <a:prstGeom prst="chevron">
            <a:avLst/>
          </a:prstGeom>
          <a:solidFill>
            <a:srgbClr val="6767D9"/>
          </a:solidFill>
          <a:ln/>
        </p:spPr>
      </p:sp>
      <p:sp>
        <p:nvSpPr>
          <p:cNvPr id="24" name="pt:3VsUGK2K5n8-"/>
          <p:cNvSpPr/>
          <p:nvPr/>
        </p:nvSpPr>
        <p:spPr>
          <a:xfrm>
            <a:off x="10436225" y="2280920"/>
            <a:ext cx="406400" cy="355600"/>
          </a:xfrm>
          <a:prstGeom prst="chevron">
            <a:avLst/>
          </a:prstGeom>
          <a:solidFill>
            <a:srgbClr val="5555B2"/>
          </a:solidFill>
          <a:ln/>
        </p:spPr>
      </p:sp>
      <p:sp>
        <p:nvSpPr>
          <p:cNvPr id="25" name="pt:LWODg-un2WDO"/>
          <p:cNvSpPr/>
          <p:nvPr/>
        </p:nvSpPr>
        <p:spPr>
          <a:xfrm>
            <a:off x="10290175" y="2763520"/>
            <a:ext cx="12700" cy="342900"/>
          </a:xfrm>
          <a:prstGeom prst="rect">
            <a:avLst/>
          </a:prstGeom>
          <a:solidFill>
            <a:srgbClr val="2D2D3C"/>
          </a:solidFill>
          <a:ln/>
        </p:spPr>
      </p:sp>
      <p:sp>
        <p:nvSpPr>
          <p:cNvPr id="26" name="pt:d1ix8I74nSgD"/>
          <p:cNvSpPr/>
          <p:nvPr/>
        </p:nvSpPr>
        <p:spPr>
          <a:xfrm>
            <a:off x="9010650" y="3182620"/>
            <a:ext cx="2571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Notify</a:t>
            </a:r>
            <a:endParaRPr lang="en-US" sz="2000" dirty="0"/>
          </a:p>
        </p:txBody>
      </p:sp>
      <p:sp>
        <p:nvSpPr>
          <p:cNvPr id="27" name="pt:1jTCBLzN4ag-"/>
          <p:cNvSpPr/>
          <p:nvPr/>
        </p:nvSpPr>
        <p:spPr>
          <a:xfrm>
            <a:off x="9010650" y="3804920"/>
            <a:ext cx="2571750" cy="244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get live windows and proof of delivery</a:t>
            </a:r>
            <a:endParaRPr lang="en-US" sz="1600" dirty="0"/>
          </a:p>
        </p:txBody>
      </p:sp>
    </p:spTree>
  </p:cSld>
  <p:clrMapOvr>
    <a:masterClrMapping/>
  </p:clrMapOvr>
  <p:transition spd="fast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450" fill="hold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decel="10000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450" fill="hold"/>
                                        <p:tgtEl>
                                          <p:spTgt spid="4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decel="10000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450" fill="hold"/>
                                        <p:tgtEl>
                                          <p:spTgt spid="8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decel="10000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450" fill="hold"/>
                                        <p:tgtEl>
                                          <p:spTgt spid="14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decel="10000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450" fill="hold"/>
                                        <p:tgtEl>
                                          <p:spTgt spid="20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decel="10000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450" fill="hold"/>
                                        <p:tgtEl>
                                          <p:spTgt spid="26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cIbOin5eCVQo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pt:Edd_BaxNeqHi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Traction so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far</a:t>
            </a:r>
            <a:endParaRPr lang="en-US" sz="3000" dirty="0"/>
          </a:p>
        </p:txBody>
      </p:sp>
      <p:pic>
        <p:nvPicPr>
          <p:cNvPr id="4" name="pt:nkJN_K04tObz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533650"/>
            <a:ext cx="2590800" cy="2921000"/>
          </a:xfrm>
          <a:prstGeom prst="rect">
            <a:avLst/>
          </a:prstGeom>
        </p:spPr>
      </p:pic>
      <p:sp>
        <p:nvSpPr>
          <p:cNvPr id="5" name="pt:4lgR5-d9UdB2"/>
          <p:cNvSpPr/>
          <p:nvPr/>
        </p:nvSpPr>
        <p:spPr>
          <a:xfrm>
            <a:off x="609600" y="2533650"/>
            <a:ext cx="50800" cy="2921000"/>
          </a:xfrm>
          <a:prstGeom prst="roundRect">
            <a:avLst>
              <a:gd name="adj" fmla="val 50000"/>
            </a:avLst>
          </a:prstGeom>
          <a:solidFill>
            <a:srgbClr val="7474F3"/>
          </a:solidFill>
          <a:ln/>
        </p:spPr>
      </p:sp>
      <p:sp>
        <p:nvSpPr>
          <p:cNvPr id="6" name="pt:qUmNqBqN05BI"/>
          <p:cNvSpPr/>
          <p:nvPr/>
        </p:nvSpPr>
        <p:spPr>
          <a:xfrm>
            <a:off x="863600" y="2686050"/>
            <a:ext cx="2146300" cy="993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84</a:t>
            </a:r>
            <a:endParaRPr lang="en-US" sz="5500" dirty="0"/>
          </a:p>
        </p:txBody>
      </p:sp>
      <p:sp>
        <p:nvSpPr>
          <p:cNvPr id="7" name="pt:Lq2o2tp3j8vR"/>
          <p:cNvSpPr/>
          <p:nvPr/>
        </p:nvSpPr>
        <p:spPr>
          <a:xfrm>
            <a:off x="863600" y="3760470"/>
            <a:ext cx="21463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Paying fleets</a:t>
            </a:r>
            <a:endParaRPr lang="en-US" sz="1700" dirty="0"/>
          </a:p>
        </p:txBody>
      </p:sp>
      <p:sp>
        <p:nvSpPr>
          <p:cNvPr id="8" name="pt:XVk3573tPaJC"/>
          <p:cNvSpPr/>
          <p:nvPr/>
        </p:nvSpPr>
        <p:spPr>
          <a:xfrm>
            <a:off x="863600" y="4403090"/>
            <a:ext cx="21463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 from 12 a year ago</a:t>
            </a:r>
            <a:endParaRPr lang="en-US" sz="1200" dirty="0"/>
          </a:p>
        </p:txBody>
      </p:sp>
      <p:pic>
        <p:nvPicPr>
          <p:cNvPr id="9" name="pt:VCAnNInarZw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3600" y="2533650"/>
            <a:ext cx="2590800" cy="2921000"/>
          </a:xfrm>
          <a:prstGeom prst="rect">
            <a:avLst/>
          </a:prstGeom>
        </p:spPr>
      </p:pic>
      <p:sp>
        <p:nvSpPr>
          <p:cNvPr id="10" name="pt:VT6Py8D-3qh2"/>
          <p:cNvSpPr/>
          <p:nvPr/>
        </p:nvSpPr>
        <p:spPr>
          <a:xfrm>
            <a:off x="3403600" y="2533650"/>
            <a:ext cx="50800" cy="29210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11" name="pt:dsh2zefYqpmd"/>
          <p:cNvSpPr/>
          <p:nvPr/>
        </p:nvSpPr>
        <p:spPr>
          <a:xfrm>
            <a:off x="3657600" y="2686050"/>
            <a:ext cx="2146300" cy="993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$610K</a:t>
            </a:r>
            <a:endParaRPr lang="en-US" sz="5500" dirty="0"/>
          </a:p>
        </p:txBody>
      </p:sp>
      <p:sp>
        <p:nvSpPr>
          <p:cNvPr id="12" name="pt:0rlvmeaRfZpM"/>
          <p:cNvSpPr/>
          <p:nvPr/>
        </p:nvSpPr>
        <p:spPr>
          <a:xfrm>
            <a:off x="3657600" y="3760470"/>
            <a:ext cx="21463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Annual recurring revenue</a:t>
            </a:r>
            <a:endParaRPr lang="en-US" sz="1700" dirty="0"/>
          </a:p>
        </p:txBody>
      </p:sp>
      <p:pic>
        <p:nvPicPr>
          <p:cNvPr id="13" name="pt:2jHFbhIaOaMp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600" y="2533650"/>
            <a:ext cx="2590800" cy="2921000"/>
          </a:xfrm>
          <a:prstGeom prst="rect">
            <a:avLst/>
          </a:prstGeom>
        </p:spPr>
      </p:pic>
      <p:sp>
        <p:nvSpPr>
          <p:cNvPr id="14" name="pt:MnTg_Gxp6U_U"/>
          <p:cNvSpPr/>
          <p:nvPr/>
        </p:nvSpPr>
        <p:spPr>
          <a:xfrm>
            <a:off x="6197600" y="2533650"/>
            <a:ext cx="50800" cy="2921000"/>
          </a:xfrm>
          <a:prstGeom prst="roundRect">
            <a:avLst>
              <a:gd name="adj" fmla="val 50000"/>
            </a:avLst>
          </a:prstGeom>
          <a:solidFill>
            <a:srgbClr val="7474F3"/>
          </a:solidFill>
          <a:ln/>
        </p:spPr>
      </p:sp>
      <p:sp>
        <p:nvSpPr>
          <p:cNvPr id="15" name="pt:SmXXlG5NALIi"/>
          <p:cNvSpPr/>
          <p:nvPr/>
        </p:nvSpPr>
        <p:spPr>
          <a:xfrm>
            <a:off x="6451600" y="2686050"/>
            <a:ext cx="2146300" cy="993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17%</a:t>
            </a:r>
            <a:endParaRPr lang="en-US" sz="5500" dirty="0"/>
          </a:p>
        </p:txBody>
      </p:sp>
      <p:sp>
        <p:nvSpPr>
          <p:cNvPr id="16" name="pt:uoqhUHfGDVaD"/>
          <p:cNvSpPr/>
          <p:nvPr/>
        </p:nvSpPr>
        <p:spPr>
          <a:xfrm>
            <a:off x="6451600" y="3760470"/>
            <a:ext cx="21463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Month-on-month growth</a:t>
            </a:r>
            <a:endParaRPr lang="en-US" sz="1700" dirty="0"/>
          </a:p>
        </p:txBody>
      </p:sp>
      <p:pic>
        <p:nvPicPr>
          <p:cNvPr id="17" name="pt:FSQE1UGw10i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1600" y="2533650"/>
            <a:ext cx="2590800" cy="2921000"/>
          </a:xfrm>
          <a:prstGeom prst="rect">
            <a:avLst/>
          </a:prstGeom>
        </p:spPr>
      </p:pic>
      <p:sp>
        <p:nvSpPr>
          <p:cNvPr id="18" name="pt:idmdGlP4Q-p8"/>
          <p:cNvSpPr/>
          <p:nvPr/>
        </p:nvSpPr>
        <p:spPr>
          <a:xfrm>
            <a:off x="8991600" y="2533650"/>
            <a:ext cx="50800" cy="29210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19" name="pt:4zXqDTJ3u898"/>
          <p:cNvSpPr/>
          <p:nvPr/>
        </p:nvSpPr>
        <p:spPr>
          <a:xfrm>
            <a:off x="9245600" y="2686050"/>
            <a:ext cx="2146300" cy="993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98%</a:t>
            </a:r>
            <a:endParaRPr lang="en-US" sz="5500" dirty="0"/>
          </a:p>
        </p:txBody>
      </p:sp>
      <p:sp>
        <p:nvSpPr>
          <p:cNvPr id="20" name="pt:dA3KXQcvCl7C"/>
          <p:cNvSpPr/>
          <p:nvPr/>
        </p:nvSpPr>
        <p:spPr>
          <a:xfrm>
            <a:off x="9245600" y="3760470"/>
            <a:ext cx="21463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Customer retention</a:t>
            </a:r>
            <a:endParaRPr lang="en-US" sz="1700" dirty="0"/>
          </a:p>
        </p:txBody>
      </p:sp>
    </p:spTree>
  </p:cSld>
  <p:clrMapOvr>
    <a:masterClrMapping/>
  </p:clrMapOvr>
  <p:transition spd="fast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450" fill="hold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decel="100000" nodeType="withEffect">
                                  <p:stCondLst>
                                    <p:cond delay="58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450" fill="hold"/>
                                        <p:tgtEl>
                                          <p:spTgt spid="4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decel="100000" nodeType="withEffect">
                                  <p:stCondLst>
                                    <p:cond delay="117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decel="100000" nodeType="withEffect">
                                  <p:stCondLst>
                                    <p:cond delay="175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450" fill="hold"/>
                                        <p:tgtEl>
                                          <p:spTgt spid="7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decel="100000" nodeType="withEffect">
                                  <p:stCondLst>
                                    <p:cond delay="233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450" fill="hold"/>
                                        <p:tgtEl>
                                          <p:spTgt spid="9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decel="100000" nodeType="withEffect">
                                  <p:stCondLst>
                                    <p:cond delay="292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decel="10000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450" fill="hold"/>
                                        <p:tgtEl>
                                          <p:spTgt spid="12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decel="100000" nodeType="withEffect">
                                  <p:stCondLst>
                                    <p:cond delay="40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450" fill="hold"/>
                                        <p:tgtEl>
                                          <p:spTgt spid="1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decel="100000" nodeType="withEffect">
                                  <p:stCondLst>
                                    <p:cond delay="467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decel="10000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0" dur="450" fill="hold"/>
                                        <p:tgtEl>
                                          <p:spTgt spid="16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decel="100000" nodeType="withEffect">
                                  <p:stCondLst>
                                    <p:cond delay="583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4" dur="450" fill="hold"/>
                                        <p:tgtEl>
                                          <p:spTgt spid="17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decel="100000" nodeType="withEffect">
                                  <p:stCondLst>
                                    <p:cond delay="642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decel="10000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450" fill="hold"/>
                                        <p:tgtEl>
                                          <p:spTgt spid="20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XaC91kKAub3r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pt:jd4ZxBjKkvoS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we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win</a:t>
            </a:r>
            <a:endParaRPr lang="en-US" sz="3000" dirty="0"/>
          </a:p>
        </p:txBody>
      </p:sp>
      <p:sp>
        <p:nvSpPr>
          <p:cNvPr id="4" name="pt:zGf6EsOKg-8B"/>
          <p:cNvSpPr/>
          <p:nvPr/>
        </p:nvSpPr>
        <p:spPr>
          <a:xfrm>
            <a:off x="673100" y="1816100"/>
            <a:ext cx="5334000" cy="4508500"/>
          </a:xfrm>
          <a:prstGeom prst="roundRect">
            <a:avLst>
              <a:gd name="adj" fmla="val 2254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5" name="pt:4XH9t1BG71uj"/>
          <p:cNvSpPr/>
          <p:nvPr/>
        </p:nvSpPr>
        <p:spPr>
          <a:xfrm>
            <a:off x="609600" y="1739900"/>
            <a:ext cx="5334000" cy="4508500"/>
          </a:xfrm>
          <a:prstGeom prst="roundRect">
            <a:avLst>
              <a:gd name="adj" fmla="val 2254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6" name="pt:SukCVCyFGKZp"/>
          <p:cNvSpPr/>
          <p:nvPr/>
        </p:nvSpPr>
        <p:spPr>
          <a:xfrm>
            <a:off x="838200" y="1968500"/>
            <a:ext cx="487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Typical tools</a:t>
            </a:r>
            <a:endParaRPr lang="en-US" sz="2000" dirty="0"/>
          </a:p>
        </p:txBody>
      </p:sp>
      <p:sp>
        <p:nvSpPr>
          <p:cNvPr id="7" name="pt:HlEYPDxApZAq"/>
          <p:cNvSpPr/>
          <p:nvPr/>
        </p:nvSpPr>
        <p:spPr>
          <a:xfrm>
            <a:off x="838200" y="2565400"/>
            <a:ext cx="4876800" cy="349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enterprise fleets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Months of onboarding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Per-vehicle pricing that punishes growth</a:t>
            </a:r>
            <a:endParaRPr lang="en-US" sz="1500" dirty="0"/>
          </a:p>
        </p:txBody>
      </p:sp>
      <p:sp>
        <p:nvSpPr>
          <p:cNvPr id="8" name="pt:eDyAVCatSt_s"/>
          <p:cNvSpPr/>
          <p:nvPr/>
        </p:nvSpPr>
        <p:spPr>
          <a:xfrm>
            <a:off x="6311900" y="1816100"/>
            <a:ext cx="5334000" cy="4508500"/>
          </a:xfrm>
          <a:prstGeom prst="roundRect">
            <a:avLst>
              <a:gd name="adj" fmla="val 2254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9" name="pt:XIINGi6_c-i0"/>
          <p:cNvSpPr/>
          <p:nvPr/>
        </p:nvSpPr>
        <p:spPr>
          <a:xfrm>
            <a:off x="6248400" y="1739900"/>
            <a:ext cx="5334000" cy="4508500"/>
          </a:xfrm>
          <a:prstGeom prst="roundRect">
            <a:avLst>
              <a:gd name="adj" fmla="val 2254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0" name="pt:HfTjtCINalC5"/>
          <p:cNvSpPr/>
          <p:nvPr/>
        </p:nvSpPr>
        <p:spPr>
          <a:xfrm>
            <a:off x="6477000" y="1968500"/>
            <a:ext cx="487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Northwind</a:t>
            </a:r>
            <a:endParaRPr lang="en-US" sz="2000" dirty="0"/>
          </a:p>
        </p:txBody>
      </p:sp>
      <p:sp>
        <p:nvSpPr>
          <p:cNvPr id="11" name="pt:dU_BVizP0juT"/>
          <p:cNvSpPr/>
          <p:nvPr/>
        </p:nvSpPr>
        <p:spPr>
          <a:xfrm>
            <a:off x="6477000" y="2565400"/>
            <a:ext cx="4876800" cy="349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fleets of 5 to 200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in a single afternoon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flat pricing</a:t>
            </a:r>
            <a:endParaRPr lang="en-US" sz="1500" dirty="0"/>
          </a:p>
        </p:txBody>
      </p:sp>
    </p:spTree>
  </p:cSld>
  <p:clrMapOvr>
    <a:masterClrMapping/>
  </p:clrMapOvr>
  <p:transition spd="fast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450" fill="hold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decel="10000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450" fill="hold"/>
                                        <p:tgtEl>
                                          <p:spTgt spid="5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decel="100000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45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decel="100000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45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decel="100000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45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decel="10000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450" fill="hold"/>
                                        <p:tgtEl>
                                          <p:spTgt spid="9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decel="100000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" dur="45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decel="100000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" dur="45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decel="100000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45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11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aPQviOdXFpoh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pt:smTTVt9M4xGR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 of funds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and milestones</a:t>
            </a:r>
            <a:endParaRPr lang="en-US" sz="3000" dirty="0"/>
          </a:p>
        </p:txBody>
      </p:sp>
      <p:sp>
        <p:nvSpPr>
          <p:cNvPr id="4" name="pt:HhvV79Z-C4T6"/>
          <p:cNvSpPr/>
          <p:nvPr/>
        </p:nvSpPr>
        <p:spPr>
          <a:xfrm>
            <a:off x="609600" y="1739900"/>
            <a:ext cx="2841625" cy="584200"/>
          </a:xfrm>
          <a:prstGeom prst="chevron">
            <a:avLst/>
          </a:prstGeom>
          <a:solidFill>
            <a:srgbClr val="404087"/>
          </a:solidFill>
          <a:ln/>
        </p:spPr>
      </p:sp>
      <p:sp>
        <p:nvSpPr>
          <p:cNvPr id="5" name="pt:aaQlGKiF1CsR"/>
          <p:cNvSpPr/>
          <p:nvPr/>
        </p:nvSpPr>
        <p:spPr>
          <a:xfrm>
            <a:off x="863600" y="17399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Q1</a:t>
            </a:r>
            <a:endParaRPr lang="en-US" sz="1500" dirty="0"/>
          </a:p>
        </p:txBody>
      </p:sp>
      <p:sp>
        <p:nvSpPr>
          <p:cNvPr id="6" name="pt:R8t92yZ-S9YO"/>
          <p:cNvSpPr/>
          <p:nvPr/>
        </p:nvSpPr>
        <p:spPr>
          <a:xfrm>
            <a:off x="673100" y="25781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pt:-JMNG17gOK2x"/>
          <p:cNvSpPr/>
          <p:nvPr/>
        </p:nvSpPr>
        <p:spPr>
          <a:xfrm>
            <a:off x="609600" y="25019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pt:qwEKCV12ZkyZ"/>
          <p:cNvSpPr/>
          <p:nvPr/>
        </p:nvSpPr>
        <p:spPr>
          <a:xfrm>
            <a:off x="812800" y="26543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</a:t>
            </a:r>
            <a:endParaRPr lang="en-US" sz="1600" dirty="0"/>
          </a:p>
        </p:txBody>
      </p:sp>
      <p:sp>
        <p:nvSpPr>
          <p:cNvPr id="9" name="pt:7MUcYgHsTs2B"/>
          <p:cNvSpPr/>
          <p:nvPr/>
        </p:nvSpPr>
        <p:spPr>
          <a:xfrm>
            <a:off x="812800" y="3213100"/>
            <a:ext cx="2270125" cy="29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 app 2.0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API</a:t>
            </a:r>
            <a:endParaRPr lang="en-US" sz="1300" dirty="0"/>
          </a:p>
        </p:txBody>
      </p:sp>
      <p:sp>
        <p:nvSpPr>
          <p:cNvPr id="10" name="pt:L1R2B42LKYoy"/>
          <p:cNvSpPr/>
          <p:nvPr/>
        </p:nvSpPr>
        <p:spPr>
          <a:xfrm>
            <a:off x="3375025" y="1739900"/>
            <a:ext cx="2841625" cy="584200"/>
          </a:xfrm>
          <a:prstGeom prst="chevron">
            <a:avLst/>
          </a:prstGeom>
          <a:solidFill>
            <a:srgbClr val="5151AB"/>
          </a:solidFill>
          <a:ln/>
        </p:spPr>
      </p:sp>
      <p:sp>
        <p:nvSpPr>
          <p:cNvPr id="11" name="pt:Cm2AYFqsu82b"/>
          <p:cNvSpPr/>
          <p:nvPr/>
        </p:nvSpPr>
        <p:spPr>
          <a:xfrm>
            <a:off x="3629025" y="17399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Q2</a:t>
            </a:r>
            <a:endParaRPr lang="en-US" sz="1500" dirty="0"/>
          </a:p>
        </p:txBody>
      </p:sp>
      <p:sp>
        <p:nvSpPr>
          <p:cNvPr id="12" name="pt:kv3LcsALyQeM"/>
          <p:cNvSpPr/>
          <p:nvPr/>
        </p:nvSpPr>
        <p:spPr>
          <a:xfrm>
            <a:off x="3438525" y="25781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3" name="pt:NVM0t9kPIdic"/>
          <p:cNvSpPr/>
          <p:nvPr/>
        </p:nvSpPr>
        <p:spPr>
          <a:xfrm>
            <a:off x="3375025" y="25019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4" name="pt:sw8ELUZ9QSVT"/>
          <p:cNvSpPr/>
          <p:nvPr/>
        </p:nvSpPr>
        <p:spPr>
          <a:xfrm>
            <a:off x="3578225" y="26543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 to market</a:t>
            </a:r>
            <a:endParaRPr lang="en-US" sz="1600" dirty="0"/>
          </a:p>
        </p:txBody>
      </p:sp>
      <p:sp>
        <p:nvSpPr>
          <p:cNvPr id="15" name="pt:-JOKWHtt7nAr"/>
          <p:cNvSpPr/>
          <p:nvPr/>
        </p:nvSpPr>
        <p:spPr>
          <a:xfrm>
            <a:off x="3578225" y="3213100"/>
            <a:ext cx="2270125" cy="29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team of 4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partners</a:t>
            </a:r>
            <a:endParaRPr lang="en-US" sz="1300" dirty="0"/>
          </a:p>
        </p:txBody>
      </p:sp>
      <p:sp>
        <p:nvSpPr>
          <p:cNvPr id="16" name="pt:XEBjHHjbw9OZ"/>
          <p:cNvSpPr/>
          <p:nvPr/>
        </p:nvSpPr>
        <p:spPr>
          <a:xfrm>
            <a:off x="6140450" y="1739900"/>
            <a:ext cx="2841625" cy="584200"/>
          </a:xfrm>
          <a:prstGeom prst="chevron">
            <a:avLst/>
          </a:prstGeom>
          <a:solidFill>
            <a:srgbClr val="6363CF"/>
          </a:solidFill>
          <a:ln/>
        </p:spPr>
      </p:sp>
      <p:sp>
        <p:nvSpPr>
          <p:cNvPr id="17" name="pt:5ii85dL59q4X"/>
          <p:cNvSpPr/>
          <p:nvPr/>
        </p:nvSpPr>
        <p:spPr>
          <a:xfrm>
            <a:off x="6394450" y="17399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Q3</a:t>
            </a:r>
            <a:endParaRPr lang="en-US" sz="1500" dirty="0"/>
          </a:p>
        </p:txBody>
      </p:sp>
      <p:sp>
        <p:nvSpPr>
          <p:cNvPr id="18" name="pt:R1Fqq9VB7eXy"/>
          <p:cNvSpPr/>
          <p:nvPr/>
        </p:nvSpPr>
        <p:spPr>
          <a:xfrm>
            <a:off x="6203950" y="25781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9" name="pt:GZz1KeToGcMm"/>
          <p:cNvSpPr/>
          <p:nvPr/>
        </p:nvSpPr>
        <p:spPr>
          <a:xfrm>
            <a:off x="6140450" y="25019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0" name="pt:8vbyFWVUGK45"/>
          <p:cNvSpPr/>
          <p:nvPr/>
        </p:nvSpPr>
        <p:spPr>
          <a:xfrm>
            <a:off x="6343650" y="26543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Scale</a:t>
            </a:r>
            <a:endParaRPr lang="en-US" sz="1600" dirty="0"/>
          </a:p>
        </p:txBody>
      </p:sp>
      <p:sp>
        <p:nvSpPr>
          <p:cNvPr id="21" name="pt:R0709yGfHDm3"/>
          <p:cNvSpPr/>
          <p:nvPr/>
        </p:nvSpPr>
        <p:spPr>
          <a:xfrm>
            <a:off x="6343650" y="3213100"/>
            <a:ext cx="2270125" cy="29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regions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tier</a:t>
            </a:r>
            <a:endParaRPr lang="en-US" sz="1300" dirty="0"/>
          </a:p>
        </p:txBody>
      </p:sp>
      <p:sp>
        <p:nvSpPr>
          <p:cNvPr id="22" name="pt:OK5SopXgc-D1"/>
          <p:cNvSpPr/>
          <p:nvPr/>
        </p:nvSpPr>
        <p:spPr>
          <a:xfrm>
            <a:off x="8905875" y="1739900"/>
            <a:ext cx="2676525" cy="584200"/>
          </a:xfrm>
          <a:prstGeom prst="chevron">
            <a:avLst/>
          </a:prstGeom>
          <a:solidFill>
            <a:srgbClr val="7474F3"/>
          </a:solidFill>
          <a:ln/>
        </p:spPr>
      </p:sp>
      <p:sp>
        <p:nvSpPr>
          <p:cNvPr id="23" name="pt:8Hb0qLljmXsH"/>
          <p:cNvSpPr/>
          <p:nvPr/>
        </p:nvSpPr>
        <p:spPr>
          <a:xfrm>
            <a:off x="9159875" y="17399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Q4</a:t>
            </a:r>
            <a:endParaRPr lang="en-US" sz="1500" dirty="0"/>
          </a:p>
        </p:txBody>
      </p:sp>
      <p:sp>
        <p:nvSpPr>
          <p:cNvPr id="24" name="pt:qBcuPkYHeF_J"/>
          <p:cNvSpPr/>
          <p:nvPr/>
        </p:nvSpPr>
        <p:spPr>
          <a:xfrm>
            <a:off x="8969375" y="25781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5" name="pt:FMguB37C1JYY"/>
          <p:cNvSpPr/>
          <p:nvPr/>
        </p:nvSpPr>
        <p:spPr>
          <a:xfrm>
            <a:off x="8905875" y="25019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6" name="pt:BEk6UBnVPGUG"/>
          <p:cNvSpPr/>
          <p:nvPr/>
        </p:nvSpPr>
        <p:spPr>
          <a:xfrm>
            <a:off x="9109075" y="26543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Profit path</a:t>
            </a:r>
            <a:endParaRPr lang="en-US" sz="1600" dirty="0"/>
          </a:p>
        </p:txBody>
      </p:sp>
      <p:sp>
        <p:nvSpPr>
          <p:cNvPr id="27" name="pt:YJ7m0Wh5skV1"/>
          <p:cNvSpPr/>
          <p:nvPr/>
        </p:nvSpPr>
        <p:spPr>
          <a:xfrm>
            <a:off x="9109075" y="3213100"/>
            <a:ext cx="2270125" cy="29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Break-even routes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Series A readiness</a:t>
            </a:r>
            <a:endParaRPr lang="en-US" sz="1300" dirty="0"/>
          </a:p>
        </p:txBody>
      </p:sp>
    </p:spTree>
  </p:cSld>
  <p:clrMapOvr>
    <a:masterClrMapping/>
  </p:clrMapOvr>
  <p:transition spd="fast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450" fill="hold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decel="100000" nodeType="with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450" fill="hold"/>
                                        <p:tgtEl>
                                          <p:spTgt spid="4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decel="100000" nodeType="withEffect">
                                  <p:stCondLst>
                                    <p:cond delay="109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450" fill="hold"/>
                                        <p:tgtEl>
                                          <p:spTgt spid="7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decel="100000" grpId="0" nodeType="withEffect">
                                  <p:stCondLst>
                                    <p:cond delay="164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45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decel="100000" grpId="0" nodeType="withEffect">
                                  <p:stCondLst>
                                    <p:cond delay="20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45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decel="100000" nodeType="withEffect">
                                  <p:stCondLst>
                                    <p:cond delay="219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450" fill="hold"/>
                                        <p:tgtEl>
                                          <p:spTgt spid="10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decel="100000" nodeType="withEffect">
                                  <p:stCondLst>
                                    <p:cond delay="273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" dur="450" fill="hold"/>
                                        <p:tgtEl>
                                          <p:spTgt spid="1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decel="100000" grpId="0" nodeType="withEffect">
                                  <p:stCondLst>
                                    <p:cond delay="328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" dur="45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decel="100000" grpId="0" nodeType="withEffect">
                                  <p:stCondLst>
                                    <p:cond delay="372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45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decel="100000" nodeType="withEffect">
                                  <p:stCondLst>
                                    <p:cond delay="383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3" dur="450" fill="hold"/>
                                        <p:tgtEl>
                                          <p:spTgt spid="16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decel="100000" nodeType="withEffect">
                                  <p:stCondLst>
                                    <p:cond delay="438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7" dur="450" fill="hold"/>
                                        <p:tgtEl>
                                          <p:spTgt spid="19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decel="100000" grpId="0" nodeType="withEffect">
                                  <p:stCondLst>
                                    <p:cond delay="492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45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decel="100000" grpId="0" nodeType="withEffect">
                                  <p:stCondLst>
                                    <p:cond delay="536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5" dur="450" fill="hold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decel="100000" nodeType="withEffect">
                                  <p:stCondLst>
                                    <p:cond delay="547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9" dur="450" fill="hold"/>
                                        <p:tgtEl>
                                          <p:spTgt spid="22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decel="100000" nodeType="withEffect">
                                  <p:stCondLst>
                                    <p:cond delay="602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3" dur="450" fill="hold"/>
                                        <p:tgtEl>
                                          <p:spTgt spid="25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decel="100000" grpId="0" nodeType="withEffect">
                                  <p:stCondLst>
                                    <p:cond delay="656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7" dur="45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decel="100000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1" dur="450" fill="hold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15" grpId="0" build="p"/>
      <p:bldP spid="21" grpId="0" build="p"/>
      <p:bldP spid="27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BeKu0IT5ZrR4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pt:JfifduNVYelc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team</a:t>
            </a:r>
            <a:endParaRPr lang="en-US" sz="3000" dirty="0"/>
          </a:p>
        </p:txBody>
      </p:sp>
      <p:sp>
        <p:nvSpPr>
          <p:cNvPr id="4" name="pt:Ezx2kI56UXms"/>
          <p:cNvSpPr/>
          <p:nvPr/>
        </p:nvSpPr>
        <p:spPr>
          <a:xfrm>
            <a:off x="673100" y="18161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5" name="pt:G2yQyrYQbnlS"/>
          <p:cNvSpPr/>
          <p:nvPr/>
        </p:nvSpPr>
        <p:spPr>
          <a:xfrm>
            <a:off x="609600" y="17399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6" name="pt:WbhgyYGTQEJJ"/>
          <p:cNvSpPr/>
          <p:nvPr/>
        </p:nvSpPr>
        <p:spPr>
          <a:xfrm>
            <a:off x="812800" y="1943100"/>
            <a:ext cx="952500" cy="952500"/>
          </a:xfrm>
          <a:prstGeom prst="ellipse">
            <a:avLst/>
          </a:prstGeom>
          <a:solidFill>
            <a:srgbClr val="5F5FC8"/>
          </a:solidFill>
          <a:ln/>
        </p:spPr>
      </p:sp>
      <p:sp>
        <p:nvSpPr>
          <p:cNvPr id="7" name="pt:r41BmEHMFPd8"/>
          <p:cNvSpPr/>
          <p:nvPr/>
        </p:nvSpPr>
        <p:spPr>
          <a:xfrm>
            <a:off x="812800" y="19431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PN</a:t>
            </a:r>
            <a:endParaRPr lang="en-US" sz="2850" dirty="0"/>
          </a:p>
        </p:txBody>
      </p:sp>
      <p:sp>
        <p:nvSpPr>
          <p:cNvPr id="8" name="pt:Cat-Ld-q24lL"/>
          <p:cNvSpPr/>
          <p:nvPr/>
        </p:nvSpPr>
        <p:spPr>
          <a:xfrm>
            <a:off x="812800" y="30099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Priya Nair</a:t>
            </a:r>
            <a:endParaRPr lang="en-US" sz="1700" dirty="0"/>
          </a:p>
        </p:txBody>
      </p:sp>
      <p:sp>
        <p:nvSpPr>
          <p:cNvPr id="9" name="pt:yeJZrizyj_w5"/>
          <p:cNvSpPr/>
          <p:nvPr/>
        </p:nvSpPr>
        <p:spPr>
          <a:xfrm>
            <a:off x="812800" y="33655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CEO</a:t>
            </a:r>
            <a:endParaRPr lang="en-US" sz="1200" dirty="0"/>
          </a:p>
        </p:txBody>
      </p:sp>
      <p:sp>
        <p:nvSpPr>
          <p:cNvPr id="10" name="pt:tWab8tpU3w9a"/>
          <p:cNvSpPr/>
          <p:nvPr/>
        </p:nvSpPr>
        <p:spPr>
          <a:xfrm>
            <a:off x="812800" y="36703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 operations for a 300-van courier network</a:t>
            </a:r>
            <a:endParaRPr lang="en-US" sz="1100" dirty="0"/>
          </a:p>
        </p:txBody>
      </p:sp>
      <p:sp>
        <p:nvSpPr>
          <p:cNvPr id="11" name="pt:5lcE_N0VXZqZ"/>
          <p:cNvSpPr/>
          <p:nvPr/>
        </p:nvSpPr>
        <p:spPr>
          <a:xfrm>
            <a:off x="4406900" y="18161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2" name="pt:5QrpBsjqgLhh"/>
          <p:cNvSpPr/>
          <p:nvPr/>
        </p:nvSpPr>
        <p:spPr>
          <a:xfrm>
            <a:off x="4343400" y="17399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3" name="pt:UD14rjftBZ2i"/>
          <p:cNvSpPr/>
          <p:nvPr/>
        </p:nvSpPr>
        <p:spPr>
          <a:xfrm>
            <a:off x="4546600" y="1943100"/>
            <a:ext cx="952500" cy="952500"/>
          </a:xfrm>
          <a:prstGeom prst="ellipse">
            <a:avLst/>
          </a:prstGeom>
          <a:solidFill>
            <a:srgbClr val="1DABC4"/>
          </a:solidFill>
          <a:ln/>
        </p:spPr>
      </p:sp>
      <p:sp>
        <p:nvSpPr>
          <p:cNvPr id="14" name="pt:hfznqEOmlbSl"/>
          <p:cNvSpPr/>
          <p:nvPr/>
        </p:nvSpPr>
        <p:spPr>
          <a:xfrm>
            <a:off x="4546600" y="19431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</a:t>
            </a:r>
            <a:endParaRPr lang="en-US" sz="2850" dirty="0"/>
          </a:p>
        </p:txBody>
      </p:sp>
      <p:sp>
        <p:nvSpPr>
          <p:cNvPr id="15" name="pt:Lnl8a40i1N9Q"/>
          <p:cNvSpPr/>
          <p:nvPr/>
        </p:nvSpPr>
        <p:spPr>
          <a:xfrm>
            <a:off x="4546600" y="30099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Daniel Okafor</a:t>
            </a:r>
            <a:endParaRPr lang="en-US" sz="1700" dirty="0"/>
          </a:p>
        </p:txBody>
      </p:sp>
      <p:sp>
        <p:nvSpPr>
          <p:cNvPr id="16" name="pt:LCWoazcmebc9"/>
          <p:cNvSpPr/>
          <p:nvPr/>
        </p:nvSpPr>
        <p:spPr>
          <a:xfrm>
            <a:off x="4546600" y="33655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CTO</a:t>
            </a:r>
            <a:endParaRPr lang="en-US" sz="1200" dirty="0"/>
          </a:p>
        </p:txBody>
      </p:sp>
      <p:sp>
        <p:nvSpPr>
          <p:cNvPr id="17" name="pt:I2miPRJY5AzD"/>
          <p:cNvSpPr/>
          <p:nvPr/>
        </p:nvSpPr>
        <p:spPr>
          <a:xfrm>
            <a:off x="4546600" y="36703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routing engines at a global logistics firm</a:t>
            </a:r>
            <a:endParaRPr lang="en-US" sz="1100" dirty="0"/>
          </a:p>
        </p:txBody>
      </p:sp>
      <p:sp>
        <p:nvSpPr>
          <p:cNvPr id="18" name="pt:Sf7c9wnpP9o-"/>
          <p:cNvSpPr/>
          <p:nvPr/>
        </p:nvSpPr>
        <p:spPr>
          <a:xfrm>
            <a:off x="8140700" y="18161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9" name="pt:4DG49W0eXG8D"/>
          <p:cNvSpPr/>
          <p:nvPr/>
        </p:nvSpPr>
        <p:spPr>
          <a:xfrm>
            <a:off x="8077200" y="17399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0" name="pt:mKTlMm0GUYlF"/>
          <p:cNvSpPr/>
          <p:nvPr/>
        </p:nvSpPr>
        <p:spPr>
          <a:xfrm>
            <a:off x="8280400" y="1943100"/>
            <a:ext cx="952500" cy="952500"/>
          </a:xfrm>
          <a:prstGeom prst="ellipse">
            <a:avLst/>
          </a:prstGeom>
          <a:solidFill>
            <a:srgbClr val="3E74C6"/>
          </a:solidFill>
          <a:ln/>
        </p:spPr>
      </p:sp>
      <p:sp>
        <p:nvSpPr>
          <p:cNvPr id="21" name="pt:BemNERCgOZsS"/>
          <p:cNvSpPr/>
          <p:nvPr/>
        </p:nvSpPr>
        <p:spPr>
          <a:xfrm>
            <a:off x="8280400" y="19431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MT</a:t>
            </a:r>
            <a:endParaRPr lang="en-US" sz="2850" dirty="0"/>
          </a:p>
        </p:txBody>
      </p:sp>
      <p:sp>
        <p:nvSpPr>
          <p:cNvPr id="22" name="pt:m_rrovcBwlAT"/>
          <p:cNvSpPr/>
          <p:nvPr/>
        </p:nvSpPr>
        <p:spPr>
          <a:xfrm>
            <a:off x="8280400" y="30099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Mei Tanaka</a:t>
            </a:r>
            <a:endParaRPr lang="en-US" sz="1700" dirty="0"/>
          </a:p>
        </p:txBody>
      </p:sp>
      <p:sp>
        <p:nvSpPr>
          <p:cNvPr id="23" name="pt:pniBus0CugYb"/>
          <p:cNvSpPr/>
          <p:nvPr/>
        </p:nvSpPr>
        <p:spPr>
          <a:xfrm>
            <a:off x="8280400" y="33655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 of Growth</a:t>
            </a:r>
            <a:endParaRPr lang="en-US" sz="1200" dirty="0"/>
          </a:p>
        </p:txBody>
      </p:sp>
      <p:sp>
        <p:nvSpPr>
          <p:cNvPr id="24" name="pt:PpGaGo3VRdH5"/>
          <p:cNvSpPr/>
          <p:nvPr/>
        </p:nvSpPr>
        <p:spPr>
          <a:xfrm>
            <a:off x="8280400" y="36703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Scaled two B2B SaaS products to $10M</a:t>
            </a:r>
            <a:endParaRPr lang="en-US" sz="1100" dirty="0"/>
          </a:p>
        </p:txBody>
      </p:sp>
    </p:spTree>
  </p:cSld>
  <p:clrMapOvr>
    <a:masterClrMapping/>
  </p:clrMapOvr>
  <p:transition spd="fast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450" fill="hold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decel="100000" nodeType="withEffect">
                                  <p:stCondLst>
                                    <p:cond delay="78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450" fill="hold"/>
                                        <p:tgtEl>
                                          <p:spTgt spid="5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decel="100000" nodeType="withEffect">
                                  <p:stCondLst>
                                    <p:cond delay="156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450" fill="hold"/>
                                        <p:tgtEl>
                                          <p:spTgt spid="6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decel="100000" nodeType="withEffect">
                                  <p:stCondLst>
                                    <p:cond delay="233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450" fill="hold"/>
                                        <p:tgtEl>
                                          <p:spTgt spid="8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decel="100000" nodeType="withEffect">
                                  <p:stCondLst>
                                    <p:cond delay="311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450" fill="hold"/>
                                        <p:tgtEl>
                                          <p:spTgt spid="12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decel="100000" nodeType="withEffect">
                                  <p:stCondLst>
                                    <p:cond delay="389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450" fill="hold"/>
                                        <p:tgtEl>
                                          <p:spTgt spid="1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decel="100000" nodeType="withEffect">
                                  <p:stCondLst>
                                    <p:cond delay="467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" dur="450" fill="hold"/>
                                        <p:tgtEl>
                                          <p:spTgt spid="15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decel="100000" nodeType="withEffect">
                                  <p:stCondLst>
                                    <p:cond delay="544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" dur="450" fill="hold"/>
                                        <p:tgtEl>
                                          <p:spTgt spid="19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decel="100000" nodeType="withEffect">
                                  <p:stCondLst>
                                    <p:cond delay="622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450" fill="hold"/>
                                        <p:tgtEl>
                                          <p:spTgt spid="20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decel="10000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3" dur="450" fill="hold"/>
                                        <p:tgtEl>
                                          <p:spTgt spid="22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1XXBAUYL9qxm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pt:rjBzJPS88IgU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ask</a:t>
            </a:r>
            <a:endParaRPr lang="en-US" sz="2600" dirty="0"/>
          </a:p>
        </p:txBody>
      </p:sp>
      <p:sp>
        <p:nvSpPr>
          <p:cNvPr id="4" name="pt:K2ARchUeQ5TM"/>
          <p:cNvSpPr/>
          <p:nvPr/>
        </p:nvSpPr>
        <p:spPr>
          <a:xfrm>
            <a:off x="5657088" y="3454400"/>
            <a:ext cx="5925312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$2.5M</a:t>
            </a:r>
            <a:endParaRPr lang="en-US" sz="12000" dirty="0"/>
          </a:p>
        </p:txBody>
      </p:sp>
      <p:sp>
        <p:nvSpPr>
          <p:cNvPr id="5" name="pt:OWvfSNqeKYSa"/>
          <p:cNvSpPr/>
          <p:nvPr/>
        </p:nvSpPr>
        <p:spPr>
          <a:xfrm>
            <a:off x="609600" y="1866900"/>
            <a:ext cx="5047488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months of runway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Led by [lead investor], with room for a few angels</a:t>
            </a:r>
            <a:endParaRPr lang="en-US" sz="1500" dirty="0"/>
          </a:p>
        </p:txBody>
      </p:sp>
      <p:sp>
        <p:nvSpPr>
          <p:cNvPr id="6" name="pt:iviTHIoSc2a0"/>
          <p:cNvSpPr/>
          <p:nvPr/>
        </p:nvSpPr>
        <p:spPr>
          <a:xfrm>
            <a:off x="609600" y="466090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7" name="pt:hqhPI1dMf2_K"/>
          <p:cNvSpPr/>
          <p:nvPr/>
        </p:nvSpPr>
        <p:spPr>
          <a:xfrm>
            <a:off x="609600" y="4851400"/>
            <a:ext cx="5047488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Seed round to reach 300 fleets and break-even routes</a:t>
            </a:r>
            <a:endParaRPr lang="en-US" sz="2100" dirty="0"/>
          </a:p>
        </p:txBody>
      </p:sp>
    </p:spTree>
  </p:cSld>
  <p:clrMapOvr>
    <a:masterClrMapping/>
  </p:clrMapOvr>
  <p:transition spd="fast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450" fill="hold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decel="10000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decel="10000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decel="10000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450" fill="hold"/>
                                        <p:tgtEl>
                                          <p:spTgt spid="7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0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t:XVnbGlr7lddW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t:XVnbGlr7lddW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pt:r2A3FNQ5Lvm5"/>
          <p:cNvSpPr/>
          <p:nvPr/>
        </p:nvSpPr>
        <p:spPr>
          <a:xfrm rot="-2700000">
            <a:off x="7507182" y="1521883"/>
            <a:ext cx="5349240" cy="31750"/>
          </a:xfrm>
          <a:prstGeom prst="rect">
            <a:avLst/>
          </a:prstGeom>
          <a:solidFill>
            <a:srgbClr val="22D3EE">
              <a:alpha val="85000"/>
            </a:srgbClr>
          </a:solidFill>
          <a:ln/>
        </p:spPr>
      </p:sp>
      <p:sp>
        <p:nvSpPr>
          <p:cNvPr id="5" name="pt:6vKByEk6_AfZ"/>
          <p:cNvSpPr/>
          <p:nvPr/>
        </p:nvSpPr>
        <p:spPr>
          <a:xfrm rot="2700000">
            <a:off x="7507182" y="5304367"/>
            <a:ext cx="5349240" cy="31750"/>
          </a:xfrm>
          <a:prstGeom prst="rect">
            <a:avLst/>
          </a:prstGeom>
          <a:solidFill>
            <a:srgbClr val="22D3EE">
              <a:alpha val="85000"/>
            </a:srgbClr>
          </a:solidFill>
          <a:ln/>
        </p:spPr>
      </p:sp>
      <p:sp>
        <p:nvSpPr>
          <p:cNvPr id="6" name="pt:Qf8yX7xINNER"/>
          <p:cNvSpPr/>
          <p:nvPr/>
        </p:nvSpPr>
        <p:spPr>
          <a:xfrm rot="-2700000">
            <a:off x="7723082" y="1521883"/>
            <a:ext cx="5349240" cy="317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7" name="pt:pXVNUqkNK1-Q"/>
          <p:cNvSpPr/>
          <p:nvPr/>
        </p:nvSpPr>
        <p:spPr>
          <a:xfrm rot="2700000">
            <a:off x="7723082" y="5304367"/>
            <a:ext cx="5349240" cy="317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8" name="pt:0cNdgwXPo_dc"/>
          <p:cNvSpPr/>
          <p:nvPr/>
        </p:nvSpPr>
        <p:spPr>
          <a:xfrm rot="-2700000">
            <a:off x="7938982" y="1521883"/>
            <a:ext cx="5349240" cy="317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9" name="pt:GQh2A9kZbr05"/>
          <p:cNvSpPr/>
          <p:nvPr/>
        </p:nvSpPr>
        <p:spPr>
          <a:xfrm rot="2700000">
            <a:off x="7938982" y="5304367"/>
            <a:ext cx="5349240" cy="317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10" name="pt:kabiml_oAGDt"/>
          <p:cNvSpPr/>
          <p:nvPr/>
        </p:nvSpPr>
        <p:spPr>
          <a:xfrm rot="-2700000">
            <a:off x="8154882" y="1521883"/>
            <a:ext cx="5349240" cy="3175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11" name="pt:wDptP5P3dWCz"/>
          <p:cNvSpPr/>
          <p:nvPr/>
        </p:nvSpPr>
        <p:spPr>
          <a:xfrm rot="2700000">
            <a:off x="8154882" y="5304367"/>
            <a:ext cx="5349240" cy="3175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12" name="pt:dzQnSKYS2wlZ"/>
          <p:cNvSpPr/>
          <p:nvPr/>
        </p:nvSpPr>
        <p:spPr>
          <a:xfrm rot="-2700000">
            <a:off x="8370782" y="1521883"/>
            <a:ext cx="5349240" cy="31750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3" name="pt:QK8TrMdH-kNf"/>
          <p:cNvSpPr/>
          <p:nvPr/>
        </p:nvSpPr>
        <p:spPr>
          <a:xfrm rot="2700000">
            <a:off x="8370782" y="5304367"/>
            <a:ext cx="5349240" cy="31750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4" name="pt:ZlG_Fwr1MTI3"/>
          <p:cNvSpPr/>
          <p:nvPr/>
        </p:nvSpPr>
        <p:spPr>
          <a:xfrm rot="-2700000">
            <a:off x="8586682" y="1521883"/>
            <a:ext cx="5349240" cy="31750"/>
          </a:xfrm>
          <a:prstGeom prst="rect">
            <a:avLst/>
          </a:prstGeom>
          <a:solidFill>
            <a:srgbClr val="FFFFFF">
              <a:alpha val="59000"/>
            </a:srgbClr>
          </a:solidFill>
          <a:ln/>
        </p:spPr>
      </p:sp>
      <p:sp>
        <p:nvSpPr>
          <p:cNvPr id="15" name="pt:uopU-DotqOnX"/>
          <p:cNvSpPr/>
          <p:nvPr/>
        </p:nvSpPr>
        <p:spPr>
          <a:xfrm rot="2700000">
            <a:off x="8586682" y="5304367"/>
            <a:ext cx="5349240" cy="31750"/>
          </a:xfrm>
          <a:prstGeom prst="rect">
            <a:avLst/>
          </a:prstGeom>
          <a:solidFill>
            <a:srgbClr val="FFFFFF">
              <a:alpha val="59000"/>
            </a:srgbClr>
          </a:solidFill>
          <a:ln/>
        </p:spPr>
      </p:sp>
      <p:sp>
        <p:nvSpPr>
          <p:cNvPr id="16" name="pt:xt81iAc7HoCo"/>
          <p:cNvSpPr/>
          <p:nvPr/>
        </p:nvSpPr>
        <p:spPr>
          <a:xfrm rot="-2700000">
            <a:off x="8802582" y="1521883"/>
            <a:ext cx="5349240" cy="31750"/>
          </a:xfrm>
          <a:prstGeom prst="rect">
            <a:avLst/>
          </a:prstGeom>
          <a:solidFill>
            <a:srgbClr val="22D3EE">
              <a:alpha val="54000"/>
            </a:srgbClr>
          </a:solidFill>
          <a:ln/>
        </p:spPr>
      </p:sp>
      <p:sp>
        <p:nvSpPr>
          <p:cNvPr id="17" name="pt:xi7CYea21cWW"/>
          <p:cNvSpPr/>
          <p:nvPr/>
        </p:nvSpPr>
        <p:spPr>
          <a:xfrm rot="2700000">
            <a:off x="8802582" y="5304367"/>
            <a:ext cx="5349240" cy="31750"/>
          </a:xfrm>
          <a:prstGeom prst="rect">
            <a:avLst/>
          </a:prstGeom>
          <a:solidFill>
            <a:srgbClr val="22D3EE">
              <a:alpha val="54000"/>
            </a:srgbClr>
          </a:solidFill>
          <a:ln/>
        </p:spPr>
      </p:sp>
      <p:sp>
        <p:nvSpPr>
          <p:cNvPr id="18" name="pt:KeOUF6o5fYRF"/>
          <p:cNvSpPr/>
          <p:nvPr/>
        </p:nvSpPr>
        <p:spPr>
          <a:xfrm rot="-2700000">
            <a:off x="9018482" y="1521883"/>
            <a:ext cx="5349240" cy="31750"/>
          </a:xfrm>
          <a:prstGeom prst="rect">
            <a:avLst/>
          </a:prstGeom>
          <a:solidFill>
            <a:srgbClr val="FFFFFF">
              <a:alpha val="49000"/>
            </a:srgbClr>
          </a:solidFill>
          <a:ln/>
        </p:spPr>
      </p:sp>
      <p:sp>
        <p:nvSpPr>
          <p:cNvPr id="19" name="pt:658uuZDmcOSu"/>
          <p:cNvSpPr/>
          <p:nvPr/>
        </p:nvSpPr>
        <p:spPr>
          <a:xfrm rot="2700000">
            <a:off x="9018482" y="5304367"/>
            <a:ext cx="5349240" cy="31750"/>
          </a:xfrm>
          <a:prstGeom prst="rect">
            <a:avLst/>
          </a:prstGeom>
          <a:solidFill>
            <a:srgbClr val="FFFFFF">
              <a:alpha val="49000"/>
            </a:srgbClr>
          </a:solidFill>
          <a:ln/>
        </p:spPr>
      </p:sp>
      <p:sp>
        <p:nvSpPr>
          <p:cNvPr id="20" name="pt:8N9X8sIziM9Z"/>
          <p:cNvSpPr/>
          <p:nvPr/>
        </p:nvSpPr>
        <p:spPr>
          <a:xfrm rot="-2700000">
            <a:off x="9234382" y="1521883"/>
            <a:ext cx="5349240" cy="31750"/>
          </a:xfrm>
          <a:prstGeom prst="rect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21" name="pt:8OT5-2voxaW9"/>
          <p:cNvSpPr/>
          <p:nvPr/>
        </p:nvSpPr>
        <p:spPr>
          <a:xfrm rot="2700000">
            <a:off x="9234382" y="5304367"/>
            <a:ext cx="5349240" cy="31750"/>
          </a:xfrm>
          <a:prstGeom prst="rect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22" name="pt:hFuNDeof1o9N"/>
          <p:cNvSpPr/>
          <p:nvPr/>
        </p:nvSpPr>
        <p:spPr>
          <a:xfrm rot="-2700000">
            <a:off x="9450282" y="1521883"/>
            <a:ext cx="5349240" cy="31750"/>
          </a:xfrm>
          <a:prstGeom prst="rect">
            <a:avLst/>
          </a:prstGeom>
          <a:solidFill>
            <a:srgbClr val="22D3EE">
              <a:alpha val="39000"/>
            </a:srgbClr>
          </a:solidFill>
          <a:ln/>
        </p:spPr>
      </p:sp>
      <p:sp>
        <p:nvSpPr>
          <p:cNvPr id="23" name="pt:xvH4mm-n8kNl"/>
          <p:cNvSpPr/>
          <p:nvPr/>
        </p:nvSpPr>
        <p:spPr>
          <a:xfrm rot="2700000">
            <a:off x="9450282" y="5304367"/>
            <a:ext cx="5349240" cy="31750"/>
          </a:xfrm>
          <a:prstGeom prst="rect">
            <a:avLst/>
          </a:prstGeom>
          <a:solidFill>
            <a:srgbClr val="22D3EE">
              <a:alpha val="39000"/>
            </a:srgbClr>
          </a:solidFill>
          <a:ln/>
        </p:spPr>
      </p:sp>
      <p:sp>
        <p:nvSpPr>
          <p:cNvPr id="24" name="pt:IS8f45wFfJOx"/>
          <p:cNvSpPr/>
          <p:nvPr/>
        </p:nvSpPr>
        <p:spPr>
          <a:xfrm>
            <a:off x="975360" y="137160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25" name="pt:zOMMrAXsboLJ"/>
          <p:cNvSpPr/>
          <p:nvPr/>
        </p:nvSpPr>
        <p:spPr>
          <a:xfrm>
            <a:off x="975360" y="1562100"/>
            <a:ext cx="6339840" cy="269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26" name="pt:S4i_XkZWRiW9"/>
          <p:cNvSpPr/>
          <p:nvPr/>
        </p:nvSpPr>
        <p:spPr>
          <a:xfrm>
            <a:off x="975360" y="4292600"/>
            <a:ext cx="633984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ECED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priya@northwind.example · northwind.example</a:t>
            </a:r>
            <a:endParaRPr lang="en-US" sz="1600" dirty="0"/>
          </a:p>
        </p:txBody>
      </p:sp>
    </p:spTree>
  </p:cSld>
  <p:clrMapOvr>
    <a:masterClrMapping/>
  </p:clrMapOvr>
  <p:transition spd="fast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decel="10000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450" fill="hold"/>
                                        <p:tgtEl>
                                          <p:spTgt spid="25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decel="10000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450" fill="hold"/>
                                        <p:tgtEl>
                                          <p:spTgt spid="26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promptToPpt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 Export Deck</dc:title>
  <dc:subject>PptxGenJS Presentation</dc:subject>
  <dc:creator>PptxGenJS</dc:creator>
  <cp:lastModifiedBy>PptxGenJS</cp:lastModifiedBy>
  <cp:revision>1</cp:revision>
  <dcterms:created xsi:type="dcterms:W3CDTF">2026-10-15T18:08:55Z</dcterms:created>
  <dcterms:modified xsi:type="dcterms:W3CDTF">2026-10-15T18:08:55Z</dcterms:modified>
</cp:coreProperties>
</file>