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Personalise the client name before every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Agree the agenda, then ask if anything is missing.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client’s own words wherever you can.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each point back to something they said earlier.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 how little the client has to 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Sample figures — replace with your own numbers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option you recommend.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with a date, not a “let us know”.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the decision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faster way to run support at Contoso</a:t>
            </a:r>
            <a:endParaRPr lang="en-US" sz="42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Proposal prepared for the Contoso leadership team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Today’s conversation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0256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256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117600" y="17907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17600" y="23336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Your goals and constraints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1559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1559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117600" y="29210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can help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17600" y="34639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Solution and fit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286250"/>
            <a:ext cx="482600" cy="482600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2862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117600" y="40513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Results from similar teams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17600" y="45942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Proof, not promises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5416550"/>
            <a:ext cx="482600" cy="4826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5416550"/>
            <a:ext cx="4826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1117600" y="5181600"/>
            <a:ext cx="75692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Investment and timeline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600" y="5724525"/>
            <a:ext cx="7569200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Options and next steps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we heard from you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8229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Ticket volume has doubled while the team stayed the same size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Customers wait more than a day for a first reply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spcAft>
                <a:spcPts val="900"/>
              </a:spcAft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spend half their time on repeat questions</a:t>
            </a:r>
            <a:endParaRPr lang="en-US" sz="18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8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You want results within one quarter, without a big migration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3911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we help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790700"/>
            <a:ext cx="3911600" cy="4610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An assistant that answers common questions instantly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Hand-off to your agents with full context</a:t>
            </a:r>
            <a:endParaRPr lang="en-US" sz="16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Reporting that shows what is working</a:t>
            </a:r>
            <a:endParaRPr lang="en-US" sz="1600" dirty="0"/>
          </a:p>
        </p:txBody>
      </p:sp>
      <p:pic>
        <p:nvPicPr>
          <p:cNvPr id="7" name="Image 0" descr="Support team at wor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75200" y="457200"/>
            <a:ext cx="3911600" cy="594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first 90 days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350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350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 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350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 your help desk and knowledge base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54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432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2–4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27432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 with one queue and tune answers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736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5" name="Text 13"/>
          <p:cNvSpPr/>
          <p:nvPr/>
        </p:nvSpPr>
        <p:spPr>
          <a:xfrm>
            <a:off x="48514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514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5–8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8514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Roll out to all queues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781800" y="1790700"/>
            <a:ext cx="1905000" cy="3302000"/>
          </a:xfrm>
          <a:prstGeom prst="roundRect">
            <a:avLst>
              <a:gd name="adj" fmla="val 5333"/>
            </a:avLst>
          </a:prstGeom>
          <a:solidFill>
            <a:srgbClr val="FBEFE6"/>
          </a:solidFill>
          <a:ln/>
        </p:spPr>
      </p:sp>
      <p:sp>
        <p:nvSpPr>
          <p:cNvPr id="19" name="Text 17"/>
          <p:cNvSpPr/>
          <p:nvPr/>
        </p:nvSpPr>
        <p:spPr>
          <a:xfrm>
            <a:off x="6959600" y="1943100"/>
            <a:ext cx="15494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59600" y="2514600"/>
            <a:ext cx="15494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Weeks 9–12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959600" y="3213100"/>
            <a:ext cx="15494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Review results and plan expansion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What teams like yours achieve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45%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660400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Fewer tickets reach an agent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285067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88267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 min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3488267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Median first reply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112933" y="1790700"/>
            <a:ext cx="2573867" cy="2794000"/>
          </a:xfrm>
          <a:prstGeom prst="roundRect">
            <a:avLst>
              <a:gd name="adj" fmla="val 3947"/>
            </a:avLst>
          </a:prstGeom>
          <a:solidFill>
            <a:srgbClr val="FBEFE6"/>
          </a:solidFill>
          <a:ln/>
        </p:spPr>
      </p:sp>
      <p:sp>
        <p:nvSpPr>
          <p:cNvPr id="13" name="Text 11"/>
          <p:cNvSpPr/>
          <p:nvPr/>
        </p:nvSpPr>
        <p:spPr>
          <a:xfrm>
            <a:off x="6316133" y="1917700"/>
            <a:ext cx="2167467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50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+18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6316133" y="2997200"/>
            <a:ext cx="216746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CSAT points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9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How Fabrikam halved resolution time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457200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7" name="Text 5"/>
          <p:cNvSpPr/>
          <p:nvPr/>
        </p:nvSpPr>
        <p:spPr>
          <a:xfrm>
            <a:off x="660400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CHALLENGE · FABRIKAM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0400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Fabrikam’s support queue grew faster than its team, and customers waited days for answers.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68133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FBEFE6"/>
          </a:solidFill>
          <a:ln/>
        </p:spPr>
      </p:sp>
      <p:sp>
        <p:nvSpPr>
          <p:cNvPr id="10" name="Text 8"/>
          <p:cNvSpPr/>
          <p:nvPr/>
        </p:nvSpPr>
        <p:spPr>
          <a:xfrm>
            <a:off x="3471333" y="19685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b="1" spc="50" kern="0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APPROACH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1333" y="2489200"/>
            <a:ext cx="2201333" cy="3721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Connected the existing help desk in a day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Piloted on the three busiest topics</a:t>
            </a:r>
            <a:endParaRPr lang="en-US" sz="13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221611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Trained agents on the hand-off view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79067" y="1790700"/>
            <a:ext cx="2607733" cy="4610100"/>
          </a:xfrm>
          <a:prstGeom prst="roundRect">
            <a:avLst>
              <a:gd name="adj" fmla="val 3896"/>
            </a:avLst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6282267" y="1968500"/>
            <a:ext cx="2201333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-52%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6282267" y="2933700"/>
            <a:ext cx="2201333" cy="44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Time to resolution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82267" y="3454400"/>
            <a:ext cx="508000" cy="508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16" name="Text 14"/>
          <p:cNvSpPr/>
          <p:nvPr/>
        </p:nvSpPr>
        <p:spPr>
          <a:xfrm>
            <a:off x="6282267" y="3670300"/>
            <a:ext cx="2201333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Resolution time cut by half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Backlog cleared in six weeks</a:t>
            </a:r>
            <a:endParaRPr lang="en-US" sz="1200" dirty="0"/>
          </a:p>
          <a:p>
            <a:pPr algn="l"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Agents moved to higher-value work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Options and investment</a:t>
            </a:r>
            <a:endParaRPr lang="en-US" sz="3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907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Plan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Starter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Growth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Enterprise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2410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Agents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10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Up to 50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Unlimited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Support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Email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Priority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Dedicated manager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F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Price / month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$1,499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1611"/>
                          </a:solidFill>
                          <a:latin typeface="Lato" pitchFamily="34" charset="0"/>
                          <a:ea typeface="Lato" pitchFamily="34" charset="-122"/>
                          <a:cs typeface="Lato" pitchFamily="34" charset="-120"/>
                        </a:rPr>
                        <a:t>Custom</a:t>
                      </a:r>
                      <a:endParaRPr lang="en-US" sz="1200" dirty="0">
                        <a:latin typeface="Lato" charset="0"/>
                        <a:ea typeface="Lato" charset="0"/>
                        <a:cs typeface="Lato" charset="0"/>
                      </a:endParaRPr>
                    </a:p>
                  </a:txBody>
                  <a:tcPr marL="91440" marR="91440" marT="54864" marB="54864" anchor="ctr">
                    <a:lnL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1C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60000">
            <a:off x="-914400" y="5760720"/>
            <a:ext cx="11887200" cy="1645920"/>
          </a:xfrm>
          <a:prstGeom prst="rect">
            <a:avLst/>
          </a:prstGeom>
          <a:solidFill>
            <a:srgbClr val="C2410C">
              <a:alpha val="7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60000">
            <a:off x="-914400" y="6377940"/>
            <a:ext cx="11887200" cy="685800"/>
          </a:xfrm>
          <a:prstGeom prst="rect">
            <a:avLst/>
          </a:prstGeom>
          <a:solidFill>
            <a:srgbClr val="FACC15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457200"/>
            <a:ext cx="609600" cy="63500"/>
          </a:xfrm>
          <a:prstGeom prst="roundRect">
            <a:avLst>
              <a:gd name="adj" fmla="val 50000"/>
            </a:avLst>
          </a:prstGeom>
          <a:solidFill>
            <a:srgbClr val="FB72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85800"/>
            <a:ext cx="82296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968500"/>
            <a:ext cx="8229600" cy="508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This week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57200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Confirm scope and stakeholders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68133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2" name="Text 10"/>
          <p:cNvSpPr/>
          <p:nvPr/>
        </p:nvSpPr>
        <p:spPr>
          <a:xfrm>
            <a:off x="3268133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68133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Next week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268133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Security review and contract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79067" y="1841500"/>
            <a:ext cx="304800" cy="304800"/>
          </a:xfrm>
          <a:prstGeom prst="ellipse">
            <a:avLst/>
          </a:prstGeom>
          <a:solidFill>
            <a:srgbClr val="FACC15"/>
          </a:solidFill>
          <a:ln/>
        </p:spPr>
      </p:sp>
      <p:sp>
        <p:nvSpPr>
          <p:cNvPr id="16" name="Text 14"/>
          <p:cNvSpPr/>
          <p:nvPr/>
        </p:nvSpPr>
        <p:spPr>
          <a:xfrm>
            <a:off x="6079067" y="2235200"/>
            <a:ext cx="2607733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C241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079067" y="2806700"/>
            <a:ext cx="2607733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two weeks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079067" y="3505200"/>
            <a:ext cx="2607733" cy="289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514A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Kick-off and pilot start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tograph for a sales &amp; proposals presentation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384048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457200" y="3154680"/>
            <a:ext cx="762000" cy="63500"/>
          </a:xfrm>
          <a:prstGeom prst="roundRect">
            <a:avLst>
              <a:gd name="adj" fmla="val 50000"/>
            </a:avLst>
          </a:prstGeom>
          <a:solidFill>
            <a:srgbClr val="C2410C"/>
          </a:solidFill>
          <a:ln/>
        </p:spPr>
      </p:sp>
      <p:sp>
        <p:nvSpPr>
          <p:cNvPr id="5" name="Text 1"/>
          <p:cNvSpPr/>
          <p:nvPr/>
        </p:nvSpPr>
        <p:spPr>
          <a:xfrm>
            <a:off x="457200" y="3370580"/>
            <a:ext cx="82296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22161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6" name="Text 2"/>
          <p:cNvSpPr/>
          <p:nvPr/>
        </p:nvSpPr>
        <p:spPr>
          <a:xfrm>
            <a:off x="457200" y="5339080"/>
            <a:ext cx="82296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6451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Questions? alex@example.com · +1 555 0100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a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promptToPpt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Closer</dc:title>
  <dc:subject>PptxGenJS Presentation</dc:subject>
  <dc:creator>PptxGenJS</dc:creator>
  <cp:lastModifiedBy>PptxGenJS</cp:lastModifiedBy>
  <cp:revision>1</cp:revision>
  <dcterms:created xsi:type="dcterms:W3CDTF">2026-10-03T09:04:10Z</dcterms:created>
  <dcterms:modified xsi:type="dcterms:W3CDTF">2026-10-03T09:04:10Z</dcterms:modified>
</cp:coreProperties>
</file>