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investors. Today we are excited to introduce Aroma Coffee Roasters, a dedicated small-batch roastery bringing exceptional specialty coffee to our community. With four operational stores already thriving, we are positioned for our next stage of local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model balances artisan quality with scalable efficiency. By controlling the roasting process in-house, we supply all four of our current stores while generating additional revenue through packaged bean sales and wholesale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starting from scratch. We have successfully launched and operated four distinct locations, proving that our brand resonates locally and that our operating system is ready to replicate in adjacent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expansion plan focuses on deliberate, high-return growth phases. We will first optimize existing capacity, then deploy capital directly into securing prime new sites and broadening our wholesale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considering an investment in Aroma Coffee Roasters. With four successful stores already operational, we are ready to scale our small-batch roasting business into its next chapter. We invite you to join us in bringing exceptional local coffee to even more communities.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0C09"/>
        </a:solidFill>
      </p:bgPr>
    </p:bg>
    <p:spTree>
      <p:nvGrpSpPr>
        <p:cNvPr id="1" name=""/>
        <p:cNvGrpSpPr/>
        <p:nvPr/>
      </p:nvGrpSpPr>
      <p:grpSpPr>
        <a:xfrm>
          <a:off x="0" y="0"/>
          <a:ext cx="0" cy="0"/>
          <a:chOff x="0" y="0"/>
          <a:chExt cx="0" cy="0"/>
        </a:xfrm>
      </p:grpSpPr>
      <p:pic>
        <p:nvPicPr>
          <p:cNvPr id="2" name="pt:35823ac0-ea55-4968-b92d-6d5d5a024b8e" descr="person pouring coffee on coffee cup">    </p:cNvPr>
          <p:cNvPicPr>
            <a:picLocks noChangeAspect="1"/>
          </p:cNvPicPr>
          <p:nvPr/>
        </p:nvPicPr>
        <p:blipFill>
          <a:blip r:embed="rId1"/>
          <a:srcRect l="0" r="0" t="0" b="0"/>
          <a:stretch/>
        </p:blipFill>
        <p:spPr>
          <a:xfrm>
            <a:off x="0" y="0"/>
            <a:ext cx="12192000" cy="6858000"/>
          </a:xfrm>
          <a:prstGeom prst="rect">
            <a:avLst/>
          </a:prstGeom>
        </p:spPr>
      </p:pic>
      <p:pic>
        <p:nvPicPr>
          <p:cNvPr id="3" name="pt:35823ac0-ea55-4968-b92d-6d5d5a024b8e" descr="preencoded.png">    </p:cNvPr>
          <p:cNvPicPr>
            <a:picLocks noChangeAspect="1"/>
          </p:cNvPicPr>
          <p:nvPr/>
        </p:nvPicPr>
        <p:blipFill>
          <a:blip r:embed="rId2"/>
          <a:stretch>
            <a:fillRect/>
          </a:stretch>
        </p:blipFill>
        <p:spPr>
          <a:xfrm>
            <a:off x="0" y="0"/>
            <a:ext cx="12192000" cy="6858000"/>
          </a:xfrm>
          <a:prstGeom prst="rect">
            <a:avLst/>
          </a:prstGeom>
        </p:spPr>
      </p:pic>
      <p:sp>
        <p:nvSpPr>
          <p:cNvPr id="4" name="pt:3ee86505-644d-423c-ad0f-d9d32e9afe83"/>
          <p:cNvSpPr/>
          <p:nvPr/>
        </p:nvSpPr>
        <p:spPr>
          <a:xfrm rot="-2700000">
            <a:off x="7507182" y="1521883"/>
            <a:ext cx="5349240" cy="31750"/>
          </a:xfrm>
          <a:prstGeom prst="rect">
            <a:avLst/>
          </a:prstGeom>
          <a:solidFill>
            <a:srgbClr val="17BEBB">
              <a:alpha val="85000"/>
            </a:srgbClr>
          </a:solidFill>
          <a:ln/>
        </p:spPr>
      </p:sp>
      <p:sp>
        <p:nvSpPr>
          <p:cNvPr id="5" name="pt:b5b21a79-58f0-48e8-81c9-912ae9996417"/>
          <p:cNvSpPr/>
          <p:nvPr/>
        </p:nvSpPr>
        <p:spPr>
          <a:xfrm rot="2700000">
            <a:off x="7507182" y="5304367"/>
            <a:ext cx="5349240" cy="31750"/>
          </a:xfrm>
          <a:prstGeom prst="rect">
            <a:avLst/>
          </a:prstGeom>
          <a:solidFill>
            <a:srgbClr val="17BEBB">
              <a:alpha val="85000"/>
            </a:srgbClr>
          </a:solidFill>
          <a:ln/>
        </p:spPr>
      </p:sp>
      <p:sp>
        <p:nvSpPr>
          <p:cNvPr id="6" name="pt:0c6b16b7-266f-4ea5-8287-c2bafcbfb792"/>
          <p:cNvSpPr/>
          <p:nvPr/>
        </p:nvSpPr>
        <p:spPr>
          <a:xfrm rot="-2700000">
            <a:off x="7723082" y="1521883"/>
            <a:ext cx="5349240" cy="31750"/>
          </a:xfrm>
          <a:prstGeom prst="rect">
            <a:avLst/>
          </a:prstGeom>
          <a:solidFill>
            <a:srgbClr val="FFFFFF">
              <a:alpha val="80000"/>
            </a:srgbClr>
          </a:solidFill>
          <a:ln/>
        </p:spPr>
      </p:sp>
      <p:sp>
        <p:nvSpPr>
          <p:cNvPr id="7" name="pt:12278658-89a1-4f68-ac68-5cd9df1e4f27"/>
          <p:cNvSpPr/>
          <p:nvPr/>
        </p:nvSpPr>
        <p:spPr>
          <a:xfrm rot="2700000">
            <a:off x="7723082" y="5304367"/>
            <a:ext cx="5349240" cy="31750"/>
          </a:xfrm>
          <a:prstGeom prst="rect">
            <a:avLst/>
          </a:prstGeom>
          <a:solidFill>
            <a:srgbClr val="FFFFFF">
              <a:alpha val="80000"/>
            </a:srgbClr>
          </a:solidFill>
          <a:ln/>
        </p:spPr>
      </p:sp>
      <p:sp>
        <p:nvSpPr>
          <p:cNvPr id="8" name="pt:d777ef11-4278-4c46-88ae-52b0cd00b211"/>
          <p:cNvSpPr/>
          <p:nvPr/>
        </p:nvSpPr>
        <p:spPr>
          <a:xfrm rot="-2700000">
            <a:off x="7938982" y="1521883"/>
            <a:ext cx="5349240" cy="31750"/>
          </a:xfrm>
          <a:prstGeom prst="rect">
            <a:avLst/>
          </a:prstGeom>
          <a:solidFill>
            <a:srgbClr val="FFFFFF">
              <a:alpha val="75000"/>
            </a:srgbClr>
          </a:solidFill>
          <a:ln/>
        </p:spPr>
      </p:sp>
      <p:sp>
        <p:nvSpPr>
          <p:cNvPr id="9" name="pt:391801b3-39fb-49d5-807e-913559f897b2"/>
          <p:cNvSpPr/>
          <p:nvPr/>
        </p:nvSpPr>
        <p:spPr>
          <a:xfrm rot="2700000">
            <a:off x="7938982" y="5304367"/>
            <a:ext cx="5349240" cy="31750"/>
          </a:xfrm>
          <a:prstGeom prst="rect">
            <a:avLst/>
          </a:prstGeom>
          <a:solidFill>
            <a:srgbClr val="FFFFFF">
              <a:alpha val="75000"/>
            </a:srgbClr>
          </a:solidFill>
          <a:ln/>
        </p:spPr>
      </p:sp>
      <p:sp>
        <p:nvSpPr>
          <p:cNvPr id="10" name="pt:b9589bd1-98cb-4a4a-bdeb-40eb4f98f6d3"/>
          <p:cNvSpPr/>
          <p:nvPr/>
        </p:nvSpPr>
        <p:spPr>
          <a:xfrm rot="-2700000">
            <a:off x="8154882" y="1521883"/>
            <a:ext cx="5349240" cy="31750"/>
          </a:xfrm>
          <a:prstGeom prst="rect">
            <a:avLst/>
          </a:prstGeom>
          <a:solidFill>
            <a:srgbClr val="17BEBB">
              <a:alpha val="70000"/>
            </a:srgbClr>
          </a:solidFill>
          <a:ln/>
        </p:spPr>
      </p:sp>
      <p:sp>
        <p:nvSpPr>
          <p:cNvPr id="11" name="pt:3a6e7dcf-43aa-4117-bbe2-2e2007423367"/>
          <p:cNvSpPr/>
          <p:nvPr/>
        </p:nvSpPr>
        <p:spPr>
          <a:xfrm rot="2700000">
            <a:off x="8154882" y="5304367"/>
            <a:ext cx="5349240" cy="31750"/>
          </a:xfrm>
          <a:prstGeom prst="rect">
            <a:avLst/>
          </a:prstGeom>
          <a:solidFill>
            <a:srgbClr val="17BEBB">
              <a:alpha val="70000"/>
            </a:srgbClr>
          </a:solidFill>
          <a:ln/>
        </p:spPr>
      </p:sp>
      <p:sp>
        <p:nvSpPr>
          <p:cNvPr id="12" name="pt:1a1c8d0f-add6-41bf-bca4-fc782dcbdd0d"/>
          <p:cNvSpPr/>
          <p:nvPr/>
        </p:nvSpPr>
        <p:spPr>
          <a:xfrm rot="-2700000">
            <a:off x="8370782" y="1521883"/>
            <a:ext cx="5349240" cy="31750"/>
          </a:xfrm>
          <a:prstGeom prst="rect">
            <a:avLst/>
          </a:prstGeom>
          <a:solidFill>
            <a:srgbClr val="FFFFFF">
              <a:alpha val="65000"/>
            </a:srgbClr>
          </a:solidFill>
          <a:ln/>
        </p:spPr>
      </p:sp>
      <p:sp>
        <p:nvSpPr>
          <p:cNvPr id="13" name="pt:9743c7f3-0a03-4284-a61b-0213745942ce"/>
          <p:cNvSpPr/>
          <p:nvPr/>
        </p:nvSpPr>
        <p:spPr>
          <a:xfrm rot="2700000">
            <a:off x="8370782" y="5304367"/>
            <a:ext cx="5349240" cy="31750"/>
          </a:xfrm>
          <a:prstGeom prst="rect">
            <a:avLst/>
          </a:prstGeom>
          <a:solidFill>
            <a:srgbClr val="FFFFFF">
              <a:alpha val="65000"/>
            </a:srgbClr>
          </a:solidFill>
          <a:ln/>
        </p:spPr>
      </p:sp>
      <p:sp>
        <p:nvSpPr>
          <p:cNvPr id="14" name="pt:57eaf3ec-050d-4202-b1cf-7f1bc14a022a"/>
          <p:cNvSpPr/>
          <p:nvPr/>
        </p:nvSpPr>
        <p:spPr>
          <a:xfrm rot="-2700000">
            <a:off x="8586682" y="1521883"/>
            <a:ext cx="5349240" cy="31750"/>
          </a:xfrm>
          <a:prstGeom prst="rect">
            <a:avLst/>
          </a:prstGeom>
          <a:solidFill>
            <a:srgbClr val="FFFFFF">
              <a:alpha val="59000"/>
            </a:srgbClr>
          </a:solidFill>
          <a:ln/>
        </p:spPr>
      </p:sp>
      <p:sp>
        <p:nvSpPr>
          <p:cNvPr id="15" name="pt:f71c4a9b-e94d-4fa3-8b8c-819a1f7098a2"/>
          <p:cNvSpPr/>
          <p:nvPr/>
        </p:nvSpPr>
        <p:spPr>
          <a:xfrm rot="2700000">
            <a:off x="8586682" y="5304367"/>
            <a:ext cx="5349240" cy="31750"/>
          </a:xfrm>
          <a:prstGeom prst="rect">
            <a:avLst/>
          </a:prstGeom>
          <a:solidFill>
            <a:srgbClr val="FFFFFF">
              <a:alpha val="59000"/>
            </a:srgbClr>
          </a:solidFill>
          <a:ln/>
        </p:spPr>
      </p:sp>
      <p:sp>
        <p:nvSpPr>
          <p:cNvPr id="16" name="pt:d48e0d64-4fae-42b0-bd4e-95ef39648596"/>
          <p:cNvSpPr/>
          <p:nvPr/>
        </p:nvSpPr>
        <p:spPr>
          <a:xfrm rot="-2700000">
            <a:off x="8802582" y="1521883"/>
            <a:ext cx="5349240" cy="31750"/>
          </a:xfrm>
          <a:prstGeom prst="rect">
            <a:avLst/>
          </a:prstGeom>
          <a:solidFill>
            <a:srgbClr val="17BEBB">
              <a:alpha val="54000"/>
            </a:srgbClr>
          </a:solidFill>
          <a:ln/>
        </p:spPr>
      </p:sp>
      <p:sp>
        <p:nvSpPr>
          <p:cNvPr id="17" name="pt:b2b4c6c3-ed2d-4c6b-8ffb-81fdf6408446"/>
          <p:cNvSpPr/>
          <p:nvPr/>
        </p:nvSpPr>
        <p:spPr>
          <a:xfrm rot="2700000">
            <a:off x="8802582" y="5304367"/>
            <a:ext cx="5349240" cy="31750"/>
          </a:xfrm>
          <a:prstGeom prst="rect">
            <a:avLst/>
          </a:prstGeom>
          <a:solidFill>
            <a:srgbClr val="17BEBB">
              <a:alpha val="54000"/>
            </a:srgbClr>
          </a:solidFill>
          <a:ln/>
        </p:spPr>
      </p:sp>
      <p:sp>
        <p:nvSpPr>
          <p:cNvPr id="18" name="pt:f6cff2b2-ce04-47f2-a94f-074e079b9de0"/>
          <p:cNvSpPr/>
          <p:nvPr/>
        </p:nvSpPr>
        <p:spPr>
          <a:xfrm rot="-2700000">
            <a:off x="9018482" y="1521883"/>
            <a:ext cx="5349240" cy="31750"/>
          </a:xfrm>
          <a:prstGeom prst="rect">
            <a:avLst/>
          </a:prstGeom>
          <a:solidFill>
            <a:srgbClr val="FFFFFF">
              <a:alpha val="49000"/>
            </a:srgbClr>
          </a:solidFill>
          <a:ln/>
        </p:spPr>
      </p:sp>
      <p:sp>
        <p:nvSpPr>
          <p:cNvPr id="19" name="pt:a89fdde0-11aa-4b15-ae76-967476779329"/>
          <p:cNvSpPr/>
          <p:nvPr/>
        </p:nvSpPr>
        <p:spPr>
          <a:xfrm rot="2700000">
            <a:off x="9018482" y="5304367"/>
            <a:ext cx="5349240" cy="31750"/>
          </a:xfrm>
          <a:prstGeom prst="rect">
            <a:avLst/>
          </a:prstGeom>
          <a:solidFill>
            <a:srgbClr val="FFFFFF">
              <a:alpha val="49000"/>
            </a:srgbClr>
          </a:solidFill>
          <a:ln/>
        </p:spPr>
      </p:sp>
      <p:sp>
        <p:nvSpPr>
          <p:cNvPr id="20" name="pt:088419dc-9f02-40b8-b0f1-33dfcc5238f6"/>
          <p:cNvSpPr/>
          <p:nvPr/>
        </p:nvSpPr>
        <p:spPr>
          <a:xfrm rot="-2700000">
            <a:off x="9234382" y="1521883"/>
            <a:ext cx="5349240" cy="31750"/>
          </a:xfrm>
          <a:prstGeom prst="rect">
            <a:avLst/>
          </a:prstGeom>
          <a:solidFill>
            <a:srgbClr val="FFFFFF">
              <a:alpha val="44000"/>
            </a:srgbClr>
          </a:solidFill>
          <a:ln/>
        </p:spPr>
      </p:sp>
      <p:sp>
        <p:nvSpPr>
          <p:cNvPr id="21" name="pt:e00da985-8d69-4bd3-8182-94c83333b9b7"/>
          <p:cNvSpPr/>
          <p:nvPr/>
        </p:nvSpPr>
        <p:spPr>
          <a:xfrm rot="2700000">
            <a:off x="9234382" y="5304367"/>
            <a:ext cx="5349240" cy="31750"/>
          </a:xfrm>
          <a:prstGeom prst="rect">
            <a:avLst/>
          </a:prstGeom>
          <a:solidFill>
            <a:srgbClr val="FFFFFF">
              <a:alpha val="44000"/>
            </a:srgbClr>
          </a:solidFill>
          <a:ln/>
        </p:spPr>
      </p:sp>
      <p:sp>
        <p:nvSpPr>
          <p:cNvPr id="22" name="pt:bc3fccdb-eaa8-4264-afe4-e37815ddc09c"/>
          <p:cNvSpPr/>
          <p:nvPr/>
        </p:nvSpPr>
        <p:spPr>
          <a:xfrm rot="-2700000">
            <a:off x="9450282" y="1521883"/>
            <a:ext cx="5349240" cy="31750"/>
          </a:xfrm>
          <a:prstGeom prst="rect">
            <a:avLst/>
          </a:prstGeom>
          <a:solidFill>
            <a:srgbClr val="17BEBB">
              <a:alpha val="39000"/>
            </a:srgbClr>
          </a:solidFill>
          <a:ln/>
        </p:spPr>
      </p:sp>
      <p:sp>
        <p:nvSpPr>
          <p:cNvPr id="23" name="pt:c1b99e88-1c68-4f16-976b-19a3e73c5dba"/>
          <p:cNvSpPr/>
          <p:nvPr/>
        </p:nvSpPr>
        <p:spPr>
          <a:xfrm rot="2700000">
            <a:off x="9450282" y="5304367"/>
            <a:ext cx="5349240" cy="31750"/>
          </a:xfrm>
          <a:prstGeom prst="rect">
            <a:avLst/>
          </a:prstGeom>
          <a:solidFill>
            <a:srgbClr val="17BEBB">
              <a:alpha val="39000"/>
            </a:srgbClr>
          </a:solidFill>
          <a:ln/>
        </p:spPr>
      </p:sp>
      <p:sp>
        <p:nvSpPr>
          <p:cNvPr id="24" name="pt:ff45894a-a7c7-4f1c-b7c3-655d180f1e37"/>
          <p:cNvSpPr/>
          <p:nvPr/>
        </p:nvSpPr>
        <p:spPr>
          <a:xfrm>
            <a:off x="975360" y="1371600"/>
            <a:ext cx="698500" cy="50800"/>
          </a:xfrm>
          <a:prstGeom prst="roundRect">
            <a:avLst>
              <a:gd name="adj" fmla="val 50000"/>
            </a:avLst>
          </a:prstGeom>
          <a:solidFill>
            <a:srgbClr val="17BEBB"/>
          </a:solidFill>
          <a:ln/>
        </p:spPr>
      </p:sp>
      <p:sp>
        <p:nvSpPr>
          <p:cNvPr id="25" name="pt:015aeff7-5b9b-4fd1-b838-eb8195b45e53"/>
          <p:cNvSpPr/>
          <p:nvPr/>
        </p:nvSpPr>
        <p:spPr>
          <a:xfrm>
            <a:off x="975360" y="1562100"/>
            <a:ext cx="6339840" cy="2692400"/>
          </a:xfrm>
          <a:prstGeom prst="rect">
            <a:avLst/>
          </a:prstGeom>
          <a:noFill/>
          <a:ln/>
        </p:spPr>
        <p:txBody>
          <a:bodyPr wrap="square" lIns="0" tIns="0" rIns="0" bIns="0" rtlCol="0" anchor="ctr"/>
          <a:lstStyle/>
          <a:p>
            <a:pPr algn="l" indent="0" marL="0">
              <a:lnSpc>
                <a:spcPct val="120000"/>
              </a:lnSpc>
              <a:buNone/>
            </a:pPr>
            <a:r>
              <a:rPr lang="en-US" sz="4200" b="1" dirty="0">
                <a:solidFill>
                  <a:srgbClr val="FFFFFF"/>
                </a:solidFill>
                <a:latin typeface="Playfair Display" pitchFamily="34" charset="0"/>
                <a:ea typeface="Playfair Display" pitchFamily="34" charset="-122"/>
                <a:cs typeface="Playfair Display" pitchFamily="34" charset="-120"/>
              </a:rPr>
              <a:t>Aroma Coffee Roasters: Elevating Local Coffee</a:t>
            </a:r>
            <a:endParaRPr lang="en-US" sz="4200" dirty="0"/>
          </a:p>
        </p:txBody>
      </p:sp>
      <p:sp>
        <p:nvSpPr>
          <p:cNvPr id="26" name="pt:47e6b35b-99ea-4334-9c25-34cf1f5035f5"/>
          <p:cNvSpPr/>
          <p:nvPr/>
        </p:nvSpPr>
        <p:spPr>
          <a:xfrm>
            <a:off x="975360" y="4292600"/>
            <a:ext cx="6339840" cy="850900"/>
          </a:xfrm>
          <a:prstGeom prst="rect">
            <a:avLst/>
          </a:prstGeom>
          <a:noFill/>
          <a:ln/>
        </p:spPr>
        <p:txBody>
          <a:bodyPr wrap="square" lIns="0" tIns="0" rIns="0" bIns="0" rtlCol="0" anchor="t"/>
          <a:lstStyle/>
          <a:p>
            <a:pPr algn="l" indent="0" marL="0">
              <a:lnSpc>
                <a:spcPct val="120000"/>
              </a:lnSpc>
              <a:buNone/>
            </a:pPr>
            <a:r>
              <a:rPr lang="en-US" sz="1600" dirty="0">
                <a:solidFill>
                  <a:srgbClr val="D0CECE"/>
                </a:solidFill>
                <a:latin typeface="Playfair Display" pitchFamily="34" charset="0"/>
                <a:ea typeface="Playfair Display" pitchFamily="34" charset="-122"/>
                <a:cs typeface="Playfair Display" pitchFamily="34" charset="-120"/>
              </a:rPr>
              <a:t>Seeking investment to expand our proven small-batch roastery and retail footprint</a:t>
            </a:r>
            <a:endParaRPr lang="en-US" sz="1600" dirty="0"/>
          </a:p>
        </p:txBody>
      </p:sp>
      <p:sp>
        <p:nvSpPr>
          <p:cNvPr id="27" name="pt:4c208e9b-7357-4eb1-9214-572df0814a6a"/>
          <p:cNvSpPr/>
          <p:nvPr/>
        </p:nvSpPr>
        <p:spPr>
          <a:xfrm>
            <a:off x="546100" y="6305550"/>
            <a:ext cx="1231900" cy="495300"/>
          </a:xfrm>
          <a:prstGeom prst="roundRect">
            <a:avLst>
              <a:gd name="adj" fmla="val 12821"/>
            </a:avLst>
          </a:prstGeom>
          <a:solidFill>
            <a:srgbClr val="FFFFFF"/>
          </a:solidFill>
          <a:ln/>
        </p:spPr>
      </p:sp>
      <p:pic>
        <p:nvPicPr>
          <p:cNvPr id="28" name="pt:140309b0-c039-4bb7-b1e0-9f485f1e5a20" descr="Journey logo">    </p:cNvPr>
          <p:cNvPicPr>
            <a:picLocks noChangeAspect="1"/>
          </p:cNvPicPr>
          <p:nvPr/>
        </p:nvPicPr>
        <p:blipFill>
          <a:blip r:embed="rId3"/>
          <a:srcRect l="0" r="0" t="0" b="0"/>
          <a:stretch/>
        </p:blipFill>
        <p:spPr>
          <a:xfrm>
            <a:off x="609600" y="6369050"/>
            <a:ext cx="1104900" cy="36830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24"/>
                                        </p:tgtEl>
                                        <p:attrNameLst>
                                          <p:attrName>style.visibility</p:attrName>
                                        </p:attrNameLst>
                                      </p:cBhvr>
                                      <p:to>
                                        <p:strVal val="visible"/>
                                      </p:to>
                                    </p:set>
                                    <p:animEffect transition="in" filter="wipe(left)">
                                      <p:cBhvr>
                                        <p:cTn id="6" dur="450"/>
                                        <p:tgtEl>
                                          <p:spTgt spid="24"/>
                                        </p:tgtEl>
                                      </p:cBhvr>
                                    </p:animEffect>
                                  </p:childTnLst>
                                </p:cTn>
                              </p:par>
                              <p:par>
                                <p:cTn id="11" presetID="53" presetClass="entr" presetSubtype="16" fill="hold" decel="100000" nodeType="withEffect">
                                  <p:stCondLst>
                                    <p:cond delay="100"/>
                                  </p:stCondLst>
                                  <p:childTnLst>
                                    <p:set>
                                      <p:cBhvr>
                                        <p:cTn id="8" dur="1" fill="hold">
                                          <p:stCondLst>
                                            <p:cond delay="0"/>
                                          </p:stCondLst>
                                        </p:cTn>
                                        <p:tgtEl>
                                          <p:spTgt spid="25"/>
                                        </p:tgtEl>
                                        <p:attrNameLst>
                                          <p:attrName>style.visibility</p:attrName>
                                        </p:attrNameLst>
                                      </p:cBhvr>
                                      <p:to>
                                        <p:strVal val="visible"/>
                                      </p:to>
                                    </p:set>
                                    <p:animEffect transition="in" filter="fade">
                                      <p:cBhvr>
                                        <p:cTn id="9" dur="450"/>
                                        <p:tgtEl>
                                          <p:spTgt spid="25"/>
                                        </p:tgtEl>
                                      </p:cBhvr>
                                    </p:animEffect>
                                    <p:animScale>
                                      <p:cBhvr>
                                        <p:cTn id="10" dur="450" fill="hold"/>
                                        <p:tgtEl>
                                          <p:spTgt spid="25"/>
                                        </p:tgtEl>
                                      </p:cBhvr>
                                      <p:from x="88000" y="88000"/>
                                      <p:to x="100000" y="100000"/>
                                    </p:animScale>
                                  </p:childTnLst>
                                </p:cTn>
                              </p:par>
                              <p:par>
                                <p:cTn id="15" presetID="53" presetClass="entr" presetSubtype="16" fill="hold" decel="100000" nodeType="withEffect">
                                  <p:stCondLst>
                                    <p:cond delay="20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450"/>
                                        <p:tgtEl>
                                          <p:spTgt spid="26"/>
                                        </p:tgtEl>
                                      </p:cBhvr>
                                    </p:animEffect>
                                    <p:animScale>
                                      <p:cBhvr>
                                        <p:cTn id="14" dur="450" fill="hold"/>
                                        <p:tgtEl>
                                          <p:spTgt spid="26"/>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0F0B"/>
        </a:solidFill>
      </p:bgPr>
    </p:bg>
    <p:spTree>
      <p:nvGrpSpPr>
        <p:cNvPr id="1" name=""/>
        <p:cNvGrpSpPr/>
        <p:nvPr/>
      </p:nvGrpSpPr>
      <p:grpSpPr>
        <a:xfrm>
          <a:off x="0" y="0"/>
          <a:ext cx="0" cy="0"/>
          <a:chOff x="0" y="0"/>
          <a:chExt cx="0" cy="0"/>
        </a:xfrm>
      </p:grpSpPr>
      <p:sp>
        <p:nvSpPr>
          <p:cNvPr id="2" name="pt:d6d0bb56-b27e-4019-9c30-d59cf0be5ba8"/>
          <p:cNvSpPr/>
          <p:nvPr/>
        </p:nvSpPr>
        <p:spPr>
          <a:xfrm>
            <a:off x="0" y="304800"/>
            <a:ext cx="12192000" cy="12700"/>
          </a:xfrm>
          <a:prstGeom prst="rect">
            <a:avLst/>
          </a:prstGeom>
          <a:solidFill>
            <a:srgbClr val="392E2A"/>
          </a:solidFill>
          <a:ln/>
        </p:spPr>
      </p:sp>
      <p:sp>
        <p:nvSpPr>
          <p:cNvPr id="3" name="pt:77f46017-ed1c-4cf8-a7b1-72d3d1a1061d"/>
          <p:cNvSpPr/>
          <p:nvPr/>
        </p:nvSpPr>
        <p:spPr>
          <a:xfrm>
            <a:off x="609600" y="660400"/>
            <a:ext cx="5283200" cy="952500"/>
          </a:xfrm>
          <a:prstGeom prst="rect">
            <a:avLst/>
          </a:prstGeom>
          <a:noFill/>
          <a:ln/>
        </p:spPr>
        <p:txBody>
          <a:bodyPr wrap="square" lIns="0" tIns="0" rIns="0" bIns="0" rtlCol="0" anchor="ctr"/>
          <a:lstStyle/>
          <a:p>
            <a:pPr algn="l" indent="0" marL="0">
              <a:lnSpc>
                <a:spcPct val="120000"/>
              </a:lnSpc>
              <a:buNone/>
            </a:pPr>
            <a:r>
              <a:rPr lang="en-US" sz="2800" b="1" dirty="0">
                <a:solidFill>
                  <a:srgbClr val="F8F0ED"/>
                </a:solidFill>
                <a:latin typeface="Playfair Display" pitchFamily="34" charset="0"/>
                <a:ea typeface="Playfair Display" pitchFamily="34" charset="-122"/>
                <a:cs typeface="Playfair Display" pitchFamily="34" charset="-120"/>
              </a:rPr>
              <a:t>Proven Business Model &amp; </a:t>
            </a:r>
            <a:pPr algn="l" indent="0" marL="0">
              <a:lnSpc>
                <a:spcPct val="120000"/>
              </a:lnSpc>
              <a:buNone/>
            </a:pPr>
            <a:r>
              <a:rPr lang="en-US" sz="2800" b="1" dirty="0">
                <a:solidFill>
                  <a:srgbClr val="17BEBB"/>
                </a:solidFill>
                <a:latin typeface="Playfair Display" pitchFamily="34" charset="0"/>
                <a:ea typeface="Playfair Display" pitchFamily="34" charset="-122"/>
                <a:cs typeface="Playfair Display" pitchFamily="34" charset="-120"/>
              </a:rPr>
              <a:t>Local Operations</a:t>
            </a:r>
            <a:endParaRPr lang="en-US" sz="2800" dirty="0"/>
          </a:p>
        </p:txBody>
      </p:sp>
      <p:sp>
        <p:nvSpPr>
          <p:cNvPr id="4" name="pt:ac209794-c976-4806-97f6-c1ce9818dc16"/>
          <p:cNvSpPr/>
          <p:nvPr/>
        </p:nvSpPr>
        <p:spPr>
          <a:xfrm>
            <a:off x="609600" y="1739900"/>
            <a:ext cx="5283200" cy="4508500"/>
          </a:xfrm>
          <a:prstGeom prst="rect">
            <a:avLst/>
          </a:prstGeom>
          <a:noFill/>
          <a:ln/>
        </p:spPr>
        <p:txBody>
          <a:bodyPr wrap="square" lIns="0" tIns="0" rIns="0" bIns="0" rtlCol="0" anchor="t"/>
          <a:lstStyle/>
          <a:p>
            <a:pPr algn="l" marL="342900" indent="-342900">
              <a:lnSpc>
                <a:spcPct val="120000"/>
              </a:lnSpc>
              <a:spcAft>
                <a:spcPts val="800"/>
              </a:spcAft>
              <a:buSzPct val="100000"/>
              <a:buChar char="•"/>
            </a:pPr>
            <a:r>
              <a:rPr lang="en-US" sz="1600" dirty="0">
                <a:solidFill>
                  <a:srgbClr val="F8F0ED"/>
                </a:solidFill>
                <a:latin typeface="Lora" pitchFamily="34" charset="0"/>
                <a:ea typeface="Lora" pitchFamily="34" charset="-122"/>
                <a:cs typeface="Lora" pitchFamily="34" charset="-120"/>
              </a:rPr>
              <a:t>In-house small-batch roasting ensures premium product quality and strong margins</a:t>
            </a:r>
            <a:endParaRPr lang="en-US" sz="1600" dirty="0"/>
          </a:p>
          <a:p>
            <a:pPr algn="l" marL="342900" indent="-342900">
              <a:lnSpc>
                <a:spcPct val="120000"/>
              </a:lnSpc>
              <a:spcAft>
                <a:spcPts val="800"/>
              </a:spcAft>
              <a:buSzPct val="100000"/>
              <a:buChar char="•"/>
            </a:pPr>
            <a:r>
              <a:rPr lang="en-US" sz="1600" dirty="0">
                <a:solidFill>
                  <a:srgbClr val="F8F0ED"/>
                </a:solidFill>
                <a:latin typeface="Lora" pitchFamily="34" charset="0"/>
                <a:ea typeface="Lora" pitchFamily="34" charset="-122"/>
                <a:cs typeface="Lora" pitchFamily="34" charset="-120"/>
              </a:rPr>
              <a:t>Centralized roasting creates operational synergies across all retail locations</a:t>
            </a:r>
            <a:endParaRPr lang="en-US" sz="1600" dirty="0"/>
          </a:p>
          <a:p>
            <a:pPr algn="l" marL="342900" indent="-342900">
              <a:lnSpc>
                <a:spcPct val="120000"/>
              </a:lnSpc>
              <a:buSzPct val="100000"/>
              <a:buChar char="•"/>
            </a:pPr>
            <a:r>
              <a:rPr lang="en-US" sz="1600" dirty="0">
                <a:solidFill>
                  <a:srgbClr val="F8F0ED"/>
                </a:solidFill>
                <a:latin typeface="Lora" pitchFamily="34" charset="0"/>
                <a:ea typeface="Lora" pitchFamily="34" charset="-122"/>
                <a:cs typeface="Lora" pitchFamily="34" charset="-120"/>
              </a:rPr>
              <a:t>Diversified revenue streams span retail beverages, packaged beans, and local wholesale</a:t>
            </a:r>
            <a:endParaRPr lang="en-US" sz="1600" dirty="0"/>
          </a:p>
        </p:txBody>
      </p:sp>
      <p:pic>
        <p:nvPicPr>
          <p:cNvPr id="5" name="pt:d848fa39-9395-456c-8de4-ef6e5d13bc5a" descr="Coffee beans roasting inside a commercial roaster machine">    </p:cNvPr>
          <p:cNvPicPr>
            <a:picLocks noChangeAspect="1"/>
          </p:cNvPicPr>
          <p:nvPr/>
        </p:nvPicPr>
        <p:blipFill>
          <a:blip r:embed="rId1"/>
          <a:srcRect l="0" r="0" t="0" b="0"/>
          <a:stretch/>
        </p:blipFill>
        <p:spPr>
          <a:xfrm>
            <a:off x="6299200" y="609600"/>
            <a:ext cx="5283200" cy="5638800"/>
          </a:xfrm>
          <a:prstGeom prst="rect">
            <a:avLst/>
          </a:prstGeom>
        </p:spPr>
      </p:pic>
      <p:sp>
        <p:nvSpPr>
          <p:cNvPr id="6" name="pt:6fac57be-9394-4cb9-9d11-e24b6b4dcc4a"/>
          <p:cNvSpPr/>
          <p:nvPr/>
        </p:nvSpPr>
        <p:spPr>
          <a:xfrm>
            <a:off x="546100" y="6305550"/>
            <a:ext cx="1231900" cy="495300"/>
          </a:xfrm>
          <a:prstGeom prst="roundRect">
            <a:avLst>
              <a:gd name="adj" fmla="val 12821"/>
            </a:avLst>
          </a:prstGeom>
          <a:solidFill>
            <a:srgbClr val="FFFFFF"/>
          </a:solidFill>
          <a:ln/>
        </p:spPr>
      </p:sp>
      <p:pic>
        <p:nvPicPr>
          <p:cNvPr id="7" name="pt:e8d51654-b388-4a80-bcea-f029d6976277" descr="Journey logo">    </p:cNvPr>
          <p:cNvPicPr>
            <a:picLocks noChangeAspect="1"/>
          </p:cNvPicPr>
          <p:nvPr/>
        </p:nvPicPr>
        <p:blipFill>
          <a:blip r:embed="rId2"/>
          <a:srcRect l="0" r="0" t="0" b="0"/>
          <a:stretch/>
        </p:blipFill>
        <p:spPr>
          <a:xfrm>
            <a:off x="609600" y="6369050"/>
            <a:ext cx="1104900" cy="36830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53" presetClass="entr" presetSubtype="16"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Scale>
                                      <p:cBhvr>
                                        <p:cTn id="7" dur="450" fill="hold"/>
                                        <p:tgtEl>
                                          <p:spTgt spid="3"/>
                                        </p:tgtEl>
                                      </p:cBhvr>
                                      <p:from x="88000" y="88000"/>
                                      <p:to x="100000" y="100000"/>
                                    </p:animScale>
                                  </p:childTnLst>
                                </p:cTn>
                              </p:par>
                              <p:par>
                                <p:cTn id="12" presetID="53" presetClass="entr" presetSubtype="16" fill="hold" decel="100000" grpId="0" nodeType="withEffect">
                                  <p:stCondLst>
                                    <p:cond delay="10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450"/>
                                        <p:tgtEl>
                                          <p:spTgt spid="4">
                                            <p:txEl>
                                              <p:pRg st="0" end="0"/>
                                            </p:txEl>
                                          </p:spTgt>
                                        </p:tgtEl>
                                      </p:cBhvr>
                                    </p:animEffect>
                                    <p:animScale>
                                      <p:cBhvr>
                                        <p:cTn id="11" dur="450" fill="hold"/>
                                        <p:tgtEl>
                                          <p:spTgt spid="4">
                                            <p:txEl>
                                              <p:pRg st="0" end="0"/>
                                            </p:txEl>
                                          </p:spTgt>
                                        </p:tgtEl>
                                      </p:cBhvr>
                                      <p:from x="88000" y="88000"/>
                                      <p:to x="100000" y="100000"/>
                                    </p:animScale>
                                  </p:childTnLst>
                                </p:cTn>
                              </p:par>
                              <p:par>
                                <p:cTn id="16" presetID="53" presetClass="entr" presetSubtype="16" fill="hold" decel="100000" grpId="0" nodeType="withEffect">
                                  <p:stCondLst>
                                    <p:cond delay="18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450"/>
                                        <p:tgtEl>
                                          <p:spTgt spid="4">
                                            <p:txEl>
                                              <p:pRg st="1" end="1"/>
                                            </p:txEl>
                                          </p:spTgt>
                                        </p:tgtEl>
                                      </p:cBhvr>
                                    </p:animEffect>
                                    <p:animScale>
                                      <p:cBhvr>
                                        <p:cTn id="15" dur="450" fill="hold"/>
                                        <p:tgtEl>
                                          <p:spTgt spid="4">
                                            <p:txEl>
                                              <p:pRg st="1" end="1"/>
                                            </p:txEl>
                                          </p:spTgt>
                                        </p:tgtEl>
                                      </p:cBhvr>
                                      <p:from x="88000" y="88000"/>
                                      <p:to x="100000" y="100000"/>
                                    </p:animScale>
                                  </p:childTnLst>
                                </p:cTn>
                              </p:par>
                              <p:par>
                                <p:cTn id="20" presetID="53" presetClass="entr" presetSubtype="16" fill="hold" decel="100000" grpId="0" nodeType="withEffect">
                                  <p:stCondLst>
                                    <p:cond delay="26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450"/>
                                        <p:tgtEl>
                                          <p:spTgt spid="4">
                                            <p:txEl>
                                              <p:pRg st="2" end="2"/>
                                            </p:txEl>
                                          </p:spTgt>
                                        </p:tgtEl>
                                      </p:cBhvr>
                                    </p:animEffect>
                                    <p:animScale>
                                      <p:cBhvr>
                                        <p:cTn id="19" dur="450" fill="hold"/>
                                        <p:tgtEl>
                                          <p:spTgt spid="4">
                                            <p:txEl>
                                              <p:pRg st="2" end="2"/>
                                            </p:txEl>
                                          </p:spTgt>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0F0B"/>
        </a:solidFill>
      </p:bgPr>
    </p:bg>
    <p:spTree>
      <p:nvGrpSpPr>
        <p:cNvPr id="1" name=""/>
        <p:cNvGrpSpPr/>
        <p:nvPr/>
      </p:nvGrpSpPr>
      <p:grpSpPr>
        <a:xfrm>
          <a:off x="0" y="0"/>
          <a:ext cx="0" cy="0"/>
          <a:chOff x="0" y="0"/>
          <a:chExt cx="0" cy="0"/>
        </a:xfrm>
      </p:grpSpPr>
      <p:sp>
        <p:nvSpPr>
          <p:cNvPr id="2" name="pt:183850e4-5b86-466d-8cb8-b5a4edf3c81f"/>
          <p:cNvSpPr/>
          <p:nvPr/>
        </p:nvSpPr>
        <p:spPr>
          <a:xfrm>
            <a:off x="0" y="304800"/>
            <a:ext cx="12192000" cy="12700"/>
          </a:xfrm>
          <a:prstGeom prst="rect">
            <a:avLst/>
          </a:prstGeom>
          <a:solidFill>
            <a:srgbClr val="392E2A"/>
          </a:solidFill>
          <a:ln/>
        </p:spPr>
      </p:sp>
      <p:sp>
        <p:nvSpPr>
          <p:cNvPr id="3" name="pt:ba957d85-ac65-4452-903b-c97653f8ce61"/>
          <p:cNvSpPr/>
          <p:nvPr/>
        </p:nvSpPr>
        <p:spPr>
          <a:xfrm>
            <a:off x="609600" y="660400"/>
            <a:ext cx="10972800" cy="952500"/>
          </a:xfrm>
          <a:prstGeom prst="rect">
            <a:avLst/>
          </a:prstGeom>
          <a:noFill/>
          <a:ln/>
        </p:spPr>
        <p:txBody>
          <a:bodyPr wrap="square" lIns="0" tIns="0" rIns="0" bIns="0" rtlCol="0" anchor="ctr"/>
          <a:lstStyle/>
          <a:p>
            <a:pPr algn="l" indent="0" marL="0">
              <a:lnSpc>
                <a:spcPct val="120000"/>
              </a:lnSpc>
              <a:buNone/>
            </a:pPr>
            <a:r>
              <a:rPr lang="en-US" sz="3000" b="1" dirty="0">
                <a:solidFill>
                  <a:srgbClr val="F8F0ED"/>
                </a:solidFill>
                <a:latin typeface="Playfair Display" pitchFamily="34" charset="0"/>
                <a:ea typeface="Playfair Display" pitchFamily="34" charset="-122"/>
                <a:cs typeface="Playfair Display" pitchFamily="34" charset="-120"/>
              </a:rPr>
              <a:t>Established Market </a:t>
            </a:r>
            <a:pPr algn="l" indent="0" marL="0">
              <a:lnSpc>
                <a:spcPct val="120000"/>
              </a:lnSpc>
              <a:buNone/>
            </a:pPr>
            <a:r>
              <a:rPr lang="en-US" sz="3000" b="1" dirty="0">
                <a:solidFill>
                  <a:srgbClr val="17BEBB"/>
                </a:solidFill>
                <a:latin typeface="Playfair Display" pitchFamily="34" charset="0"/>
                <a:ea typeface="Playfair Display" pitchFamily="34" charset="-122"/>
                <a:cs typeface="Playfair Display" pitchFamily="34" charset="-120"/>
              </a:rPr>
              <a:t>Presence</a:t>
            </a:r>
            <a:endParaRPr lang="en-US" sz="3000" dirty="0"/>
          </a:p>
        </p:txBody>
      </p:sp>
      <p:sp>
        <p:nvSpPr>
          <p:cNvPr id="4" name="pt:8c8e5556-85a9-426a-b423-8524ac70fc35"/>
          <p:cNvSpPr/>
          <p:nvPr/>
        </p:nvSpPr>
        <p:spPr>
          <a:xfrm>
            <a:off x="673100" y="1816100"/>
            <a:ext cx="5334000" cy="4508500"/>
          </a:xfrm>
          <a:prstGeom prst="roundRect">
            <a:avLst>
              <a:gd name="adj" fmla="val 2254"/>
            </a:avLst>
          </a:prstGeom>
          <a:solidFill>
            <a:srgbClr val="F8F0ED">
              <a:alpha val="12000"/>
            </a:srgbClr>
          </a:solidFill>
          <a:ln/>
        </p:spPr>
      </p:sp>
      <p:sp>
        <p:nvSpPr>
          <p:cNvPr id="5" name="pt:9a06e8eb-f07f-4ebb-9121-2e43a25308c2"/>
          <p:cNvSpPr/>
          <p:nvPr/>
        </p:nvSpPr>
        <p:spPr>
          <a:xfrm>
            <a:off x="609600" y="1739900"/>
            <a:ext cx="5334000" cy="4508500"/>
          </a:xfrm>
          <a:prstGeom prst="roundRect">
            <a:avLst>
              <a:gd name="adj" fmla="val 2254"/>
            </a:avLst>
          </a:prstGeom>
          <a:solidFill>
            <a:srgbClr val="1B0F0B"/>
          </a:solidFill>
          <a:ln w="12700">
            <a:solidFill>
              <a:srgbClr val="392E2A"/>
            </a:solidFill>
            <a:prstDash val="solid"/>
          </a:ln>
        </p:spPr>
      </p:sp>
      <p:sp>
        <p:nvSpPr>
          <p:cNvPr id="6" name="pt:9b013d94-88c0-4646-85d6-024118bf923e"/>
          <p:cNvSpPr/>
          <p:nvPr/>
        </p:nvSpPr>
        <p:spPr>
          <a:xfrm>
            <a:off x="838200" y="1968500"/>
            <a:ext cx="4876800" cy="508000"/>
          </a:xfrm>
          <a:prstGeom prst="rect">
            <a:avLst/>
          </a:prstGeom>
          <a:noFill/>
          <a:ln/>
        </p:spPr>
        <p:txBody>
          <a:bodyPr wrap="square" lIns="0" tIns="0" rIns="0" bIns="0" rtlCol="0" anchor="t"/>
          <a:lstStyle/>
          <a:p>
            <a:pPr algn="l" indent="0" marL="0">
              <a:lnSpc>
                <a:spcPct val="120000"/>
              </a:lnSpc>
              <a:buNone/>
            </a:pPr>
            <a:r>
              <a:rPr lang="en-US" sz="2000" b="1" dirty="0">
                <a:solidFill>
                  <a:srgbClr val="EA7C5C"/>
                </a:solidFill>
                <a:latin typeface="Playfair Display" pitchFamily="34" charset="0"/>
                <a:ea typeface="Playfair Display" pitchFamily="34" charset="-122"/>
                <a:cs typeface="Playfair Display" pitchFamily="34" charset="-120"/>
              </a:rPr>
              <a:t>Current Footprint</a:t>
            </a:r>
            <a:endParaRPr lang="en-US" sz="2000" dirty="0"/>
          </a:p>
        </p:txBody>
      </p:sp>
      <p:sp>
        <p:nvSpPr>
          <p:cNvPr id="7" name="pt:06bf3d16-6c6b-42a4-bd41-945a2dae6914"/>
          <p:cNvSpPr/>
          <p:nvPr/>
        </p:nvSpPr>
        <p:spPr>
          <a:xfrm>
            <a:off x="838200" y="2565400"/>
            <a:ext cx="4876800" cy="3492500"/>
          </a:xfrm>
          <a:prstGeom prst="rect">
            <a:avLst/>
          </a:prstGeom>
          <a:noFill/>
          <a:ln/>
        </p:spPr>
        <p:txBody>
          <a:bodyPr wrap="square" lIns="0" tIns="0" rIns="0" bIns="0" rtlCol="0" anchor="t"/>
          <a:lstStyle/>
          <a:p>
            <a:pPr algn="l" marL="342900" indent="-342900">
              <a:lnSpc>
                <a:spcPct val="120000"/>
              </a:lnSpc>
              <a:spcAft>
                <a:spcPts val="800"/>
              </a:spcAft>
              <a:buSzPct val="100000"/>
              <a:buChar char="•"/>
            </a:pPr>
            <a:r>
              <a:rPr lang="en-US" sz="1500" dirty="0">
                <a:solidFill>
                  <a:srgbClr val="F8F0ED"/>
                </a:solidFill>
                <a:latin typeface="Lora" pitchFamily="34" charset="0"/>
                <a:ea typeface="Lora" pitchFamily="34" charset="-122"/>
                <a:cs typeface="Lora" pitchFamily="34" charset="-120"/>
              </a:rPr>
              <a:t>4 operational retail stores in high-demand neighborhoods</a:t>
            </a:r>
            <a:endParaRPr lang="en-US" sz="1500" dirty="0"/>
          </a:p>
          <a:p>
            <a:pPr algn="l" marL="342900" indent="-342900">
              <a:lnSpc>
                <a:spcPct val="120000"/>
              </a:lnSpc>
              <a:spcAft>
                <a:spcPts val="800"/>
              </a:spcAft>
              <a:buSzPct val="100000"/>
              <a:buChar char="•"/>
            </a:pPr>
            <a:r>
              <a:rPr lang="en-US" sz="1500" dirty="0">
                <a:solidFill>
                  <a:srgbClr val="F8F0ED"/>
                </a:solidFill>
                <a:latin typeface="Lora" pitchFamily="34" charset="0"/>
                <a:ea typeface="Lora" pitchFamily="34" charset="-122"/>
                <a:cs typeface="Lora" pitchFamily="34" charset="-120"/>
              </a:rPr>
              <a:t>Established daily customer habits and loyal local following</a:t>
            </a:r>
            <a:endParaRPr lang="en-US" sz="1500" dirty="0"/>
          </a:p>
          <a:p>
            <a:pPr algn="l" marL="342900" indent="-342900">
              <a:lnSpc>
                <a:spcPct val="120000"/>
              </a:lnSpc>
              <a:buSzPct val="100000"/>
              <a:buChar char="•"/>
            </a:pPr>
            <a:r>
              <a:rPr lang="en-US" sz="1500" dirty="0">
                <a:solidFill>
                  <a:srgbClr val="F8F0ED"/>
                </a:solidFill>
                <a:latin typeface="Lora" pitchFamily="34" charset="0"/>
                <a:ea typeface="Lora" pitchFamily="34" charset="-122"/>
                <a:cs typeface="Lora" pitchFamily="34" charset="-120"/>
              </a:rPr>
              <a:t>Deep community connection built on specialty quality</a:t>
            </a:r>
            <a:endParaRPr lang="en-US" sz="1500" dirty="0"/>
          </a:p>
        </p:txBody>
      </p:sp>
      <p:sp>
        <p:nvSpPr>
          <p:cNvPr id="8" name="pt:09125c62-ed80-4bf6-93c5-6c1f36055112"/>
          <p:cNvSpPr/>
          <p:nvPr/>
        </p:nvSpPr>
        <p:spPr>
          <a:xfrm>
            <a:off x="6311900" y="1816100"/>
            <a:ext cx="5334000" cy="4508500"/>
          </a:xfrm>
          <a:prstGeom prst="roundRect">
            <a:avLst>
              <a:gd name="adj" fmla="val 2254"/>
            </a:avLst>
          </a:prstGeom>
          <a:solidFill>
            <a:srgbClr val="F8F0ED">
              <a:alpha val="12000"/>
            </a:srgbClr>
          </a:solidFill>
          <a:ln/>
        </p:spPr>
      </p:sp>
      <p:sp>
        <p:nvSpPr>
          <p:cNvPr id="9" name="pt:25ea7d17-7cbe-497f-af96-5c8d92400d36"/>
          <p:cNvSpPr/>
          <p:nvPr/>
        </p:nvSpPr>
        <p:spPr>
          <a:xfrm>
            <a:off x="6248400" y="1739900"/>
            <a:ext cx="5334000" cy="4508500"/>
          </a:xfrm>
          <a:prstGeom prst="roundRect">
            <a:avLst>
              <a:gd name="adj" fmla="val 2254"/>
            </a:avLst>
          </a:prstGeom>
          <a:solidFill>
            <a:srgbClr val="1B0F0B"/>
          </a:solidFill>
          <a:ln w="12700">
            <a:solidFill>
              <a:srgbClr val="392E2A"/>
            </a:solidFill>
            <a:prstDash val="solid"/>
          </a:ln>
        </p:spPr>
      </p:sp>
      <p:sp>
        <p:nvSpPr>
          <p:cNvPr id="10" name="pt:9a5184d5-1e5b-4bd1-8988-752e860d0761"/>
          <p:cNvSpPr/>
          <p:nvPr/>
        </p:nvSpPr>
        <p:spPr>
          <a:xfrm>
            <a:off x="6477000" y="1968500"/>
            <a:ext cx="4876800" cy="508000"/>
          </a:xfrm>
          <a:prstGeom prst="rect">
            <a:avLst/>
          </a:prstGeom>
          <a:noFill/>
          <a:ln/>
        </p:spPr>
        <p:txBody>
          <a:bodyPr wrap="square" lIns="0" tIns="0" rIns="0" bIns="0" rtlCol="0" anchor="t"/>
          <a:lstStyle/>
          <a:p>
            <a:pPr algn="l" indent="0" marL="0">
              <a:lnSpc>
                <a:spcPct val="120000"/>
              </a:lnSpc>
              <a:buNone/>
            </a:pPr>
            <a:r>
              <a:rPr lang="en-US" sz="2000" b="1" dirty="0">
                <a:solidFill>
                  <a:srgbClr val="EA7C5C"/>
                </a:solidFill>
                <a:latin typeface="Playfair Display" pitchFamily="34" charset="0"/>
                <a:ea typeface="Playfair Display" pitchFamily="34" charset="-122"/>
                <a:cs typeface="Playfair Display" pitchFamily="34" charset="-120"/>
              </a:rPr>
              <a:t>Operational Readiness</a:t>
            </a:r>
            <a:endParaRPr lang="en-US" sz="2000" dirty="0"/>
          </a:p>
        </p:txBody>
      </p:sp>
      <p:sp>
        <p:nvSpPr>
          <p:cNvPr id="11" name="pt:db3fc761-e5d2-43fb-9a74-0e02703f31bc"/>
          <p:cNvSpPr/>
          <p:nvPr/>
        </p:nvSpPr>
        <p:spPr>
          <a:xfrm>
            <a:off x="6477000" y="2565400"/>
            <a:ext cx="4876800" cy="3492500"/>
          </a:xfrm>
          <a:prstGeom prst="rect">
            <a:avLst/>
          </a:prstGeom>
          <a:noFill/>
          <a:ln/>
        </p:spPr>
        <p:txBody>
          <a:bodyPr wrap="square" lIns="0" tIns="0" rIns="0" bIns="0" rtlCol="0" anchor="t"/>
          <a:lstStyle/>
          <a:p>
            <a:pPr algn="l" marL="342900" indent="-342900">
              <a:lnSpc>
                <a:spcPct val="120000"/>
              </a:lnSpc>
              <a:spcAft>
                <a:spcPts val="800"/>
              </a:spcAft>
              <a:buSzPct val="100000"/>
              <a:buChar char="•"/>
            </a:pPr>
            <a:r>
              <a:rPr lang="en-US" sz="1500" dirty="0">
                <a:solidFill>
                  <a:srgbClr val="F8F0ED"/>
                </a:solidFill>
                <a:latin typeface="Lora" pitchFamily="34" charset="0"/>
                <a:ea typeface="Lora" pitchFamily="34" charset="-122"/>
                <a:cs typeface="Lora" pitchFamily="34" charset="-120"/>
              </a:rPr>
              <a:t>Standardized store design and service workflows</a:t>
            </a:r>
            <a:endParaRPr lang="en-US" sz="1500" dirty="0"/>
          </a:p>
          <a:p>
            <a:pPr algn="l" marL="342900" indent="-342900">
              <a:lnSpc>
                <a:spcPct val="120000"/>
              </a:lnSpc>
              <a:spcAft>
                <a:spcPts val="800"/>
              </a:spcAft>
              <a:buSzPct val="100000"/>
              <a:buChar char="•"/>
            </a:pPr>
            <a:r>
              <a:rPr lang="en-US" sz="1500" dirty="0">
                <a:solidFill>
                  <a:srgbClr val="F8F0ED"/>
                </a:solidFill>
                <a:latin typeface="Lora" pitchFamily="34" charset="0"/>
                <a:ea typeface="Lora" pitchFamily="34" charset="-122"/>
                <a:cs typeface="Lora" pitchFamily="34" charset="-120"/>
              </a:rPr>
              <a:t>Proven playbook ready for replication in new sites</a:t>
            </a:r>
            <a:endParaRPr lang="en-US" sz="1500" dirty="0"/>
          </a:p>
          <a:p>
            <a:pPr algn="l" marL="342900" indent="-342900">
              <a:lnSpc>
                <a:spcPct val="120000"/>
              </a:lnSpc>
              <a:buSzPct val="100000"/>
              <a:buChar char="•"/>
            </a:pPr>
            <a:r>
              <a:rPr lang="en-US" sz="1500" dirty="0">
                <a:solidFill>
                  <a:srgbClr val="F8F0ED"/>
                </a:solidFill>
                <a:latin typeface="Lora" pitchFamily="34" charset="0"/>
                <a:ea typeface="Lora" pitchFamily="34" charset="-122"/>
                <a:cs typeface="Lora" pitchFamily="34" charset="-120"/>
              </a:rPr>
              <a:t>Supply chain scaled to support rapid retail expansion</a:t>
            </a:r>
            <a:endParaRPr lang="en-US" sz="1500" dirty="0"/>
          </a:p>
        </p:txBody>
      </p:sp>
      <p:sp>
        <p:nvSpPr>
          <p:cNvPr id="12" name="pt:b9a02592-cb91-4d73-ba91-9722b2e49c97"/>
          <p:cNvSpPr/>
          <p:nvPr/>
        </p:nvSpPr>
        <p:spPr>
          <a:xfrm>
            <a:off x="546100" y="6305550"/>
            <a:ext cx="1231900" cy="495300"/>
          </a:xfrm>
          <a:prstGeom prst="roundRect">
            <a:avLst>
              <a:gd name="adj" fmla="val 12821"/>
            </a:avLst>
          </a:prstGeom>
          <a:solidFill>
            <a:srgbClr val="FFFFFF"/>
          </a:solidFill>
          <a:ln/>
        </p:spPr>
      </p:sp>
      <p:pic>
        <p:nvPicPr>
          <p:cNvPr id="13" name="pt:73d6d423-9b82-49b5-9399-b3310115b4e6" descr="Journey logo">    </p:cNvPr>
          <p:cNvPicPr>
            <a:picLocks noChangeAspect="1"/>
          </p:cNvPicPr>
          <p:nvPr/>
        </p:nvPicPr>
        <p:blipFill>
          <a:blip r:embed="rId1"/>
          <a:srcRect l="0" r="0" t="0" b="0"/>
          <a:stretch/>
        </p:blipFill>
        <p:spPr>
          <a:xfrm>
            <a:off x="609600" y="6369050"/>
            <a:ext cx="1104900" cy="36830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53" presetClass="entr" presetSubtype="16"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Scale>
                                      <p:cBhvr>
                                        <p:cTn id="7" dur="450" fill="hold"/>
                                        <p:tgtEl>
                                          <p:spTgt spid="3"/>
                                        </p:tgtEl>
                                      </p:cBhvr>
                                      <p:from x="88000" y="88000"/>
                                      <p:to x="100000" y="100000"/>
                                    </p:animScale>
                                  </p:childTnLst>
                                </p:cTn>
                              </p:par>
                              <p:par>
                                <p:cTn id="12" presetID="53" presetClass="entr" presetSubtype="16" fill="hold" decel="100000" nodeType="withEffect">
                                  <p:stCondLst>
                                    <p:cond delay="1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animScale>
                                      <p:cBhvr>
                                        <p:cTn id="11" dur="450" fill="hold"/>
                                        <p:tgtEl>
                                          <p:spTgt spid="5"/>
                                        </p:tgtEl>
                                      </p:cBhvr>
                                      <p:from x="88000" y="88000"/>
                                      <p:to x="100000" y="100000"/>
                                    </p:animScale>
                                  </p:childTnLst>
                                </p:cTn>
                              </p:par>
                              <p:par>
                                <p:cTn id="16" presetID="53" presetClass="entr" presetSubtype="16" fill="hold" decel="100000" grpId="0" nodeType="withEffect">
                                  <p:stCondLst>
                                    <p:cond delay="20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450"/>
                                        <p:tgtEl>
                                          <p:spTgt spid="7">
                                            <p:txEl>
                                              <p:pRg st="0" end="0"/>
                                            </p:txEl>
                                          </p:spTgt>
                                        </p:tgtEl>
                                      </p:cBhvr>
                                    </p:animEffect>
                                    <p:animScale>
                                      <p:cBhvr>
                                        <p:cTn id="15" dur="450" fill="hold"/>
                                        <p:tgtEl>
                                          <p:spTgt spid="7">
                                            <p:txEl>
                                              <p:pRg st="0" end="0"/>
                                            </p:txEl>
                                          </p:spTgt>
                                        </p:tgtEl>
                                      </p:cBhvr>
                                      <p:from x="88000" y="88000"/>
                                      <p:to x="100000" y="100000"/>
                                    </p:animScale>
                                  </p:childTnLst>
                                </p:cTn>
                              </p:par>
                              <p:par>
                                <p:cTn id="20" presetID="53" presetClass="entr" presetSubtype="16" fill="hold" decel="100000" grpId="0" nodeType="withEffect">
                                  <p:stCondLst>
                                    <p:cond delay="280"/>
                                  </p:stCondLst>
                                  <p:childTnLst>
                                    <p:set>
                                      <p:cBhvr>
                                        <p:cTn id="17" dur="1" fill="hold">
                                          <p:stCondLst>
                                            <p:cond delay="0"/>
                                          </p:stCondLst>
                                        </p:cTn>
                                        <p:tgtEl>
                                          <p:spTgt spid="7">
                                            <p:txEl>
                                              <p:pRg st="1" end="1"/>
                                            </p:txEl>
                                          </p:spTgt>
                                        </p:tgtEl>
                                        <p:attrNameLst>
                                          <p:attrName>style.visibility</p:attrName>
                                        </p:attrNameLst>
                                      </p:cBhvr>
                                      <p:to>
                                        <p:strVal val="visible"/>
                                      </p:to>
                                    </p:set>
                                    <p:animEffect transition="in" filter="fade">
                                      <p:cBhvr>
                                        <p:cTn id="18" dur="450"/>
                                        <p:tgtEl>
                                          <p:spTgt spid="7">
                                            <p:txEl>
                                              <p:pRg st="1" end="1"/>
                                            </p:txEl>
                                          </p:spTgt>
                                        </p:tgtEl>
                                      </p:cBhvr>
                                    </p:animEffect>
                                    <p:animScale>
                                      <p:cBhvr>
                                        <p:cTn id="19" dur="450" fill="hold"/>
                                        <p:tgtEl>
                                          <p:spTgt spid="7">
                                            <p:txEl>
                                              <p:pRg st="1" end="1"/>
                                            </p:txEl>
                                          </p:spTgt>
                                        </p:tgtEl>
                                      </p:cBhvr>
                                      <p:from x="88000" y="88000"/>
                                      <p:to x="100000" y="100000"/>
                                    </p:animScale>
                                  </p:childTnLst>
                                </p:cTn>
                              </p:par>
                              <p:par>
                                <p:cTn id="24" presetID="53" presetClass="entr" presetSubtype="16" fill="hold" decel="100000" grpId="0" nodeType="withEffect">
                                  <p:stCondLst>
                                    <p:cond delay="36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fade">
                                      <p:cBhvr>
                                        <p:cTn id="22" dur="450"/>
                                        <p:tgtEl>
                                          <p:spTgt spid="7">
                                            <p:txEl>
                                              <p:pRg st="2" end="2"/>
                                            </p:txEl>
                                          </p:spTgt>
                                        </p:tgtEl>
                                      </p:cBhvr>
                                    </p:animEffect>
                                    <p:animScale>
                                      <p:cBhvr>
                                        <p:cTn id="23" dur="450" fill="hold"/>
                                        <p:tgtEl>
                                          <p:spTgt spid="7">
                                            <p:txEl>
                                              <p:pRg st="2" end="2"/>
                                            </p:txEl>
                                          </p:spTgt>
                                        </p:tgtEl>
                                      </p:cBhvr>
                                      <p:from x="88000" y="88000"/>
                                      <p:to x="100000" y="100000"/>
                                    </p:animScale>
                                  </p:childTnLst>
                                </p:cTn>
                              </p:par>
                              <p:par>
                                <p:cTn id="28" presetID="53" presetClass="entr" presetSubtype="16" fill="hold" decel="100000" nodeType="withEffect">
                                  <p:stCondLst>
                                    <p:cond delay="3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animScale>
                                      <p:cBhvr>
                                        <p:cTn id="27" dur="450" fill="hold"/>
                                        <p:tgtEl>
                                          <p:spTgt spid="9"/>
                                        </p:tgtEl>
                                      </p:cBhvr>
                                      <p:from x="88000" y="88000"/>
                                      <p:to x="100000" y="100000"/>
                                    </p:animScale>
                                  </p:childTnLst>
                                </p:cTn>
                              </p:par>
                              <p:par>
                                <p:cTn id="32" presetID="53" presetClass="entr" presetSubtype="16" fill="hold" decel="100000" grpId="0" nodeType="withEffect">
                                  <p:stCondLst>
                                    <p:cond delay="400"/>
                                  </p:stCondLst>
                                  <p:childTnLst>
                                    <p:set>
                                      <p:cBhvr>
                                        <p:cTn id="29" dur="1" fill="hold">
                                          <p:stCondLst>
                                            <p:cond delay="0"/>
                                          </p:stCondLst>
                                        </p:cTn>
                                        <p:tgtEl>
                                          <p:spTgt spid="11">
                                            <p:txEl>
                                              <p:pRg st="0" end="0"/>
                                            </p:txEl>
                                          </p:spTgt>
                                        </p:tgtEl>
                                        <p:attrNameLst>
                                          <p:attrName>style.visibility</p:attrName>
                                        </p:attrNameLst>
                                      </p:cBhvr>
                                      <p:to>
                                        <p:strVal val="visible"/>
                                      </p:to>
                                    </p:set>
                                    <p:animEffect transition="in" filter="fade">
                                      <p:cBhvr>
                                        <p:cTn id="30" dur="450"/>
                                        <p:tgtEl>
                                          <p:spTgt spid="11">
                                            <p:txEl>
                                              <p:pRg st="0" end="0"/>
                                            </p:txEl>
                                          </p:spTgt>
                                        </p:tgtEl>
                                      </p:cBhvr>
                                    </p:animEffect>
                                    <p:animScale>
                                      <p:cBhvr>
                                        <p:cTn id="31" dur="450" fill="hold"/>
                                        <p:tgtEl>
                                          <p:spTgt spid="11">
                                            <p:txEl>
                                              <p:pRg st="0" end="0"/>
                                            </p:txEl>
                                          </p:spTgt>
                                        </p:tgtEl>
                                      </p:cBhvr>
                                      <p:from x="88000" y="88000"/>
                                      <p:to x="100000" y="100000"/>
                                    </p:animScale>
                                  </p:childTnLst>
                                </p:cTn>
                              </p:par>
                              <p:par>
                                <p:cTn id="36" presetID="53" presetClass="entr" presetSubtype="16" fill="hold" decel="100000" grpId="0" nodeType="withEffect">
                                  <p:stCondLst>
                                    <p:cond delay="480"/>
                                  </p:stCondLst>
                                  <p:childTnLst>
                                    <p:set>
                                      <p:cBhvr>
                                        <p:cTn id="33" dur="1" fill="hold">
                                          <p:stCondLst>
                                            <p:cond delay="0"/>
                                          </p:stCondLst>
                                        </p:cTn>
                                        <p:tgtEl>
                                          <p:spTgt spid="11">
                                            <p:txEl>
                                              <p:pRg st="1" end="1"/>
                                            </p:txEl>
                                          </p:spTgt>
                                        </p:tgtEl>
                                        <p:attrNameLst>
                                          <p:attrName>style.visibility</p:attrName>
                                        </p:attrNameLst>
                                      </p:cBhvr>
                                      <p:to>
                                        <p:strVal val="visible"/>
                                      </p:to>
                                    </p:set>
                                    <p:animEffect transition="in" filter="fade">
                                      <p:cBhvr>
                                        <p:cTn id="34" dur="450"/>
                                        <p:tgtEl>
                                          <p:spTgt spid="11">
                                            <p:txEl>
                                              <p:pRg st="1" end="1"/>
                                            </p:txEl>
                                          </p:spTgt>
                                        </p:tgtEl>
                                      </p:cBhvr>
                                    </p:animEffect>
                                    <p:animScale>
                                      <p:cBhvr>
                                        <p:cTn id="35" dur="450" fill="hold"/>
                                        <p:tgtEl>
                                          <p:spTgt spid="11">
                                            <p:txEl>
                                              <p:pRg st="1" end="1"/>
                                            </p:txEl>
                                          </p:spTgt>
                                        </p:tgtEl>
                                      </p:cBhvr>
                                      <p:from x="88000" y="88000"/>
                                      <p:to x="100000" y="100000"/>
                                    </p:animScale>
                                  </p:childTnLst>
                                </p:cTn>
                              </p:par>
                              <p:par>
                                <p:cTn id="40" presetID="53" presetClass="entr" presetSubtype="16" fill="hold" decel="100000" grpId="0" nodeType="withEffect">
                                  <p:stCondLst>
                                    <p:cond delay="560"/>
                                  </p:stCondLst>
                                  <p:childTnLst>
                                    <p:set>
                                      <p:cBhvr>
                                        <p:cTn id="37" dur="1" fill="hold">
                                          <p:stCondLst>
                                            <p:cond delay="0"/>
                                          </p:stCondLst>
                                        </p:cTn>
                                        <p:tgtEl>
                                          <p:spTgt spid="11">
                                            <p:txEl>
                                              <p:pRg st="2" end="2"/>
                                            </p:txEl>
                                          </p:spTgt>
                                        </p:tgtEl>
                                        <p:attrNameLst>
                                          <p:attrName>style.visibility</p:attrName>
                                        </p:attrNameLst>
                                      </p:cBhvr>
                                      <p:to>
                                        <p:strVal val="visible"/>
                                      </p:to>
                                    </p:set>
                                    <p:animEffect transition="in" filter="fade">
                                      <p:cBhvr>
                                        <p:cTn id="38" dur="450"/>
                                        <p:tgtEl>
                                          <p:spTgt spid="11">
                                            <p:txEl>
                                              <p:pRg st="2" end="2"/>
                                            </p:txEl>
                                          </p:spTgt>
                                        </p:tgtEl>
                                      </p:cBhvr>
                                    </p:animEffect>
                                    <p:animScale>
                                      <p:cBhvr>
                                        <p:cTn id="39" dur="450" fill="hold"/>
                                        <p:tgtEl>
                                          <p:spTgt spid="11">
                                            <p:txEl>
                                              <p:pRg st="2" end="2"/>
                                            </p:txEl>
                                          </p:spTgt>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1"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0F0B"/>
        </a:solidFill>
      </p:bgPr>
    </p:bg>
    <p:spTree>
      <p:nvGrpSpPr>
        <p:cNvPr id="1" name=""/>
        <p:cNvGrpSpPr/>
        <p:nvPr/>
      </p:nvGrpSpPr>
      <p:grpSpPr>
        <a:xfrm>
          <a:off x="0" y="0"/>
          <a:ext cx="0" cy="0"/>
          <a:chOff x="0" y="0"/>
          <a:chExt cx="0" cy="0"/>
        </a:xfrm>
      </p:grpSpPr>
      <p:sp>
        <p:nvSpPr>
          <p:cNvPr id="2" name="pt:f0d11759-269e-431a-bd0e-1ad37e6aed80"/>
          <p:cNvSpPr/>
          <p:nvPr/>
        </p:nvSpPr>
        <p:spPr>
          <a:xfrm>
            <a:off x="0" y="304800"/>
            <a:ext cx="12192000" cy="12700"/>
          </a:xfrm>
          <a:prstGeom prst="rect">
            <a:avLst/>
          </a:prstGeom>
          <a:solidFill>
            <a:srgbClr val="392E2A"/>
          </a:solidFill>
          <a:ln/>
        </p:spPr>
      </p:sp>
      <p:sp>
        <p:nvSpPr>
          <p:cNvPr id="3" name="pt:c0f59b27-6334-4fd2-b592-21b7b2c3bdfa"/>
          <p:cNvSpPr/>
          <p:nvPr/>
        </p:nvSpPr>
        <p:spPr>
          <a:xfrm>
            <a:off x="609600" y="660400"/>
            <a:ext cx="10972800" cy="952500"/>
          </a:xfrm>
          <a:prstGeom prst="rect">
            <a:avLst/>
          </a:prstGeom>
          <a:noFill/>
          <a:ln/>
        </p:spPr>
        <p:txBody>
          <a:bodyPr wrap="square" lIns="0" tIns="0" rIns="0" bIns="0" rtlCol="0" anchor="ctr"/>
          <a:lstStyle/>
          <a:p>
            <a:pPr algn="l" indent="0" marL="0">
              <a:lnSpc>
                <a:spcPct val="120000"/>
              </a:lnSpc>
              <a:buNone/>
            </a:pPr>
            <a:r>
              <a:rPr lang="en-US" sz="3000" b="1" dirty="0">
                <a:solidFill>
                  <a:srgbClr val="F8F0ED"/>
                </a:solidFill>
                <a:latin typeface="Playfair Display" pitchFamily="34" charset="0"/>
                <a:ea typeface="Playfair Display" pitchFamily="34" charset="-122"/>
                <a:cs typeface="Playfair Display" pitchFamily="34" charset="-120"/>
              </a:rPr>
              <a:t>Strategic Growth </a:t>
            </a:r>
            <a:pPr algn="l" indent="0" marL="0">
              <a:lnSpc>
                <a:spcPct val="120000"/>
              </a:lnSpc>
              <a:buNone/>
            </a:pPr>
            <a:r>
              <a:rPr lang="en-US" sz="3000" b="1" dirty="0">
                <a:solidFill>
                  <a:srgbClr val="17BEBB"/>
                </a:solidFill>
                <a:latin typeface="Playfair Display" pitchFamily="34" charset="0"/>
                <a:ea typeface="Playfair Display" pitchFamily="34" charset="-122"/>
                <a:cs typeface="Playfair Display" pitchFamily="34" charset="-120"/>
              </a:rPr>
              <a:t>Potential</a:t>
            </a:r>
            <a:endParaRPr lang="en-US" sz="3000" dirty="0"/>
          </a:p>
        </p:txBody>
      </p:sp>
      <p:sp>
        <p:nvSpPr>
          <p:cNvPr id="4" name="pt:6f4d4f14-9e6a-4f0f-b4d4-ae277e0ad419"/>
          <p:cNvSpPr/>
          <p:nvPr/>
        </p:nvSpPr>
        <p:spPr>
          <a:xfrm>
            <a:off x="609600" y="1739900"/>
            <a:ext cx="3763433" cy="584200"/>
          </a:xfrm>
          <a:prstGeom prst="chevron">
            <a:avLst/>
          </a:prstGeom>
          <a:solidFill>
            <a:srgbClr val="834634"/>
          </a:solidFill>
          <a:ln/>
        </p:spPr>
      </p:sp>
      <p:sp>
        <p:nvSpPr>
          <p:cNvPr id="5" name="pt:7b29307c-968c-4940-be21-428002233c10"/>
          <p:cNvSpPr/>
          <p:nvPr/>
        </p:nvSpPr>
        <p:spPr>
          <a:xfrm>
            <a:off x="863600" y="1739900"/>
            <a:ext cx="3179233" cy="584200"/>
          </a:xfrm>
          <a:prstGeom prst="rect">
            <a:avLst/>
          </a:prstGeom>
          <a:noFill/>
          <a:ln/>
        </p:spPr>
        <p:txBody>
          <a:bodyPr wrap="square" lIns="0" tIns="0" rIns="0" bIns="0" rtlCol="0" anchor="ctr"/>
          <a:lstStyle/>
          <a:p>
            <a:pPr algn="ctr" indent="0" marL="0">
              <a:lnSpc>
                <a:spcPct val="120000"/>
              </a:lnSpc>
              <a:buNone/>
            </a:pPr>
            <a:r>
              <a:rPr lang="en-US" sz="1500" b="1" dirty="0">
                <a:solidFill>
                  <a:srgbClr val="FFFFFF"/>
                </a:solidFill>
                <a:latin typeface="Playfair Display" pitchFamily="34" charset="0"/>
                <a:ea typeface="Playfair Display" pitchFamily="34" charset="-122"/>
                <a:cs typeface="Playfair Display" pitchFamily="34" charset="-120"/>
              </a:rPr>
              <a:t>Phase 1</a:t>
            </a:r>
            <a:endParaRPr lang="en-US" sz="1500" dirty="0"/>
          </a:p>
        </p:txBody>
      </p:sp>
      <p:sp>
        <p:nvSpPr>
          <p:cNvPr id="6" name="pt:135344e6-e99a-4258-9eb8-1e0ecc924161"/>
          <p:cNvSpPr/>
          <p:nvPr/>
        </p:nvSpPr>
        <p:spPr>
          <a:xfrm>
            <a:off x="673100" y="2578100"/>
            <a:ext cx="3598333" cy="3746500"/>
          </a:xfrm>
          <a:prstGeom prst="roundRect">
            <a:avLst>
              <a:gd name="adj" fmla="val 2824"/>
            </a:avLst>
          </a:prstGeom>
          <a:solidFill>
            <a:srgbClr val="F8F0ED">
              <a:alpha val="12000"/>
            </a:srgbClr>
          </a:solidFill>
          <a:ln/>
        </p:spPr>
      </p:sp>
      <p:sp>
        <p:nvSpPr>
          <p:cNvPr id="7" name="pt:164fde81-31ad-4cdf-a641-0c86feb3e420"/>
          <p:cNvSpPr/>
          <p:nvPr/>
        </p:nvSpPr>
        <p:spPr>
          <a:xfrm>
            <a:off x="609600" y="2501900"/>
            <a:ext cx="3598333" cy="3746500"/>
          </a:xfrm>
          <a:prstGeom prst="roundRect">
            <a:avLst>
              <a:gd name="adj" fmla="val 2824"/>
            </a:avLst>
          </a:prstGeom>
          <a:solidFill>
            <a:srgbClr val="1B0F0B"/>
          </a:solidFill>
          <a:ln w="12700">
            <a:solidFill>
              <a:srgbClr val="392E2A"/>
            </a:solidFill>
            <a:prstDash val="solid"/>
          </a:ln>
        </p:spPr>
      </p:sp>
      <p:sp>
        <p:nvSpPr>
          <p:cNvPr id="8" name="pt:953589a7-ee79-4785-8e8a-6b5be77ffdde"/>
          <p:cNvSpPr/>
          <p:nvPr/>
        </p:nvSpPr>
        <p:spPr>
          <a:xfrm>
            <a:off x="812800" y="2654300"/>
            <a:ext cx="3191933" cy="508000"/>
          </a:xfrm>
          <a:prstGeom prst="rect">
            <a:avLst/>
          </a:prstGeom>
          <a:noFill/>
          <a:ln/>
        </p:spPr>
        <p:txBody>
          <a:bodyPr wrap="square" lIns="0" tIns="0" rIns="0" bIns="0" rtlCol="0" anchor="t"/>
          <a:lstStyle/>
          <a:p>
            <a:pPr algn="l" indent="0" marL="0">
              <a:lnSpc>
                <a:spcPct val="120000"/>
              </a:lnSpc>
              <a:buNone/>
            </a:pPr>
            <a:r>
              <a:rPr lang="en-US" sz="1600" b="1" dirty="0">
                <a:solidFill>
                  <a:srgbClr val="F8F0ED"/>
                </a:solidFill>
                <a:latin typeface="Playfair Display" pitchFamily="34" charset="0"/>
                <a:ea typeface="Playfair Display" pitchFamily="34" charset="-122"/>
                <a:cs typeface="Playfair Display" pitchFamily="34" charset="-120"/>
              </a:rPr>
              <a:t>Operational Optimization</a:t>
            </a:r>
            <a:endParaRPr lang="en-US" sz="1600" dirty="0"/>
          </a:p>
        </p:txBody>
      </p:sp>
      <p:sp>
        <p:nvSpPr>
          <p:cNvPr id="9" name="pt:e6e5fb5a-13f4-42b4-b838-ada1970948e6"/>
          <p:cNvSpPr/>
          <p:nvPr/>
        </p:nvSpPr>
        <p:spPr>
          <a:xfrm>
            <a:off x="812800" y="3213100"/>
            <a:ext cx="3191933" cy="2908300"/>
          </a:xfrm>
          <a:prstGeom prst="rect">
            <a:avLst/>
          </a:prstGeom>
          <a:noFill/>
          <a:ln/>
        </p:spPr>
        <p:txBody>
          <a:bodyPr wrap="square" lIns="0" tIns="0" rIns="0" bIns="0" rtlCol="0" anchor="t"/>
          <a:lstStyle/>
          <a:p>
            <a:pPr algn="l" marL="342900" indent="-342900">
              <a:lnSpc>
                <a:spcPct val="120000"/>
              </a:lnSpc>
              <a:spcAft>
                <a:spcPts val="700"/>
              </a:spcAft>
              <a:buSzPct val="100000"/>
              <a:buChar char="•"/>
            </a:pPr>
            <a:r>
              <a:rPr lang="en-US" sz="1300" dirty="0">
                <a:solidFill>
                  <a:srgbClr val="B1A8A5"/>
                </a:solidFill>
                <a:latin typeface="Lora" pitchFamily="34" charset="0"/>
                <a:ea typeface="Lora" pitchFamily="34" charset="-122"/>
                <a:cs typeface="Lora" pitchFamily="34" charset="-120"/>
              </a:rPr>
              <a:t>Maximize throughput across 4 existing stores</a:t>
            </a:r>
            <a:endParaRPr lang="en-US" sz="1300" dirty="0"/>
          </a:p>
          <a:p>
            <a:pPr algn="l" marL="342900" indent="-342900">
              <a:lnSpc>
                <a:spcPct val="120000"/>
              </a:lnSpc>
              <a:buSzPct val="100000"/>
              <a:buChar char="•"/>
            </a:pPr>
            <a:r>
              <a:rPr lang="en-US" sz="1300" dirty="0">
                <a:solidFill>
                  <a:srgbClr val="B1A8A5"/>
                </a:solidFill>
                <a:latin typeface="Lora" pitchFamily="34" charset="0"/>
                <a:ea typeface="Lora" pitchFamily="34" charset="-122"/>
                <a:cs typeface="Lora" pitchFamily="34" charset="-120"/>
              </a:rPr>
              <a:t>Refine central roasting production capacity</a:t>
            </a:r>
            <a:endParaRPr lang="en-US" sz="1300" dirty="0"/>
          </a:p>
        </p:txBody>
      </p:sp>
      <p:sp>
        <p:nvSpPr>
          <p:cNvPr id="10" name="pt:d9992be3-e06b-4a92-aa8b-45d721bf0946"/>
          <p:cNvSpPr/>
          <p:nvPr/>
        </p:nvSpPr>
        <p:spPr>
          <a:xfrm>
            <a:off x="4296833" y="1739900"/>
            <a:ext cx="3763433" cy="584200"/>
          </a:xfrm>
          <a:prstGeom prst="chevron">
            <a:avLst/>
          </a:prstGeom>
          <a:solidFill>
            <a:srgbClr val="B76148"/>
          </a:solidFill>
          <a:ln/>
        </p:spPr>
      </p:sp>
      <p:sp>
        <p:nvSpPr>
          <p:cNvPr id="11" name="pt:19603dfb-2656-4b8e-8bab-fa80c3dccc18"/>
          <p:cNvSpPr/>
          <p:nvPr/>
        </p:nvSpPr>
        <p:spPr>
          <a:xfrm>
            <a:off x="4550833" y="1739900"/>
            <a:ext cx="3179233" cy="584200"/>
          </a:xfrm>
          <a:prstGeom prst="rect">
            <a:avLst/>
          </a:prstGeom>
          <a:noFill/>
          <a:ln/>
        </p:spPr>
        <p:txBody>
          <a:bodyPr wrap="square" lIns="0" tIns="0" rIns="0" bIns="0" rtlCol="0" anchor="ctr"/>
          <a:lstStyle/>
          <a:p>
            <a:pPr algn="ctr" indent="0" marL="0">
              <a:lnSpc>
                <a:spcPct val="120000"/>
              </a:lnSpc>
              <a:buNone/>
            </a:pPr>
            <a:r>
              <a:rPr lang="en-US" sz="1500" b="1" dirty="0">
                <a:solidFill>
                  <a:srgbClr val="0B0F1A"/>
                </a:solidFill>
                <a:latin typeface="Playfair Display" pitchFamily="34" charset="0"/>
                <a:ea typeface="Playfair Display" pitchFamily="34" charset="-122"/>
                <a:cs typeface="Playfair Display" pitchFamily="34" charset="-120"/>
              </a:rPr>
              <a:t>Phase 2</a:t>
            </a:r>
            <a:endParaRPr lang="en-US" sz="1500" dirty="0"/>
          </a:p>
        </p:txBody>
      </p:sp>
      <p:sp>
        <p:nvSpPr>
          <p:cNvPr id="12" name="pt:539fc4ad-1500-45dd-951c-38d97e85c1bd"/>
          <p:cNvSpPr/>
          <p:nvPr/>
        </p:nvSpPr>
        <p:spPr>
          <a:xfrm>
            <a:off x="4360333" y="2578100"/>
            <a:ext cx="3598333" cy="3746500"/>
          </a:xfrm>
          <a:prstGeom prst="roundRect">
            <a:avLst>
              <a:gd name="adj" fmla="val 2824"/>
            </a:avLst>
          </a:prstGeom>
          <a:solidFill>
            <a:srgbClr val="F8F0ED">
              <a:alpha val="12000"/>
            </a:srgbClr>
          </a:solidFill>
          <a:ln/>
        </p:spPr>
      </p:sp>
      <p:sp>
        <p:nvSpPr>
          <p:cNvPr id="13" name="pt:8c57be23-bc05-4cb6-ac3b-ca64f88b7d5c"/>
          <p:cNvSpPr/>
          <p:nvPr/>
        </p:nvSpPr>
        <p:spPr>
          <a:xfrm>
            <a:off x="4296833" y="2501900"/>
            <a:ext cx="3598333" cy="3746500"/>
          </a:xfrm>
          <a:prstGeom prst="roundRect">
            <a:avLst>
              <a:gd name="adj" fmla="val 2824"/>
            </a:avLst>
          </a:prstGeom>
          <a:solidFill>
            <a:srgbClr val="1B0F0B"/>
          </a:solidFill>
          <a:ln w="12700">
            <a:solidFill>
              <a:srgbClr val="392E2A"/>
            </a:solidFill>
            <a:prstDash val="solid"/>
          </a:ln>
        </p:spPr>
      </p:sp>
      <p:sp>
        <p:nvSpPr>
          <p:cNvPr id="14" name="pt:728eef51-361e-463a-866f-7ad78fda3c45"/>
          <p:cNvSpPr/>
          <p:nvPr/>
        </p:nvSpPr>
        <p:spPr>
          <a:xfrm>
            <a:off x="4500033" y="2654300"/>
            <a:ext cx="3191933" cy="508000"/>
          </a:xfrm>
          <a:prstGeom prst="rect">
            <a:avLst/>
          </a:prstGeom>
          <a:noFill/>
          <a:ln/>
        </p:spPr>
        <p:txBody>
          <a:bodyPr wrap="square" lIns="0" tIns="0" rIns="0" bIns="0" rtlCol="0" anchor="t"/>
          <a:lstStyle/>
          <a:p>
            <a:pPr algn="l" indent="0" marL="0">
              <a:lnSpc>
                <a:spcPct val="120000"/>
              </a:lnSpc>
              <a:buNone/>
            </a:pPr>
            <a:r>
              <a:rPr lang="en-US" sz="1600" b="1" dirty="0">
                <a:solidFill>
                  <a:srgbClr val="F8F0ED"/>
                </a:solidFill>
                <a:latin typeface="Playfair Display" pitchFamily="34" charset="0"/>
                <a:ea typeface="Playfair Display" pitchFamily="34" charset="-122"/>
                <a:cs typeface="Playfair Display" pitchFamily="34" charset="-120"/>
              </a:rPr>
              <a:t>Retail Expansion</a:t>
            </a:r>
            <a:endParaRPr lang="en-US" sz="1600" dirty="0"/>
          </a:p>
        </p:txBody>
      </p:sp>
      <p:sp>
        <p:nvSpPr>
          <p:cNvPr id="15" name="pt:eb194d33-49cc-4320-9a51-7d60f3329880"/>
          <p:cNvSpPr/>
          <p:nvPr/>
        </p:nvSpPr>
        <p:spPr>
          <a:xfrm>
            <a:off x="4500033" y="3213100"/>
            <a:ext cx="3191933" cy="2908300"/>
          </a:xfrm>
          <a:prstGeom prst="rect">
            <a:avLst/>
          </a:prstGeom>
          <a:noFill/>
          <a:ln/>
        </p:spPr>
        <p:txBody>
          <a:bodyPr wrap="square" lIns="0" tIns="0" rIns="0" bIns="0" rtlCol="0" anchor="t"/>
          <a:lstStyle/>
          <a:p>
            <a:pPr algn="l" marL="342900" indent="-342900">
              <a:lnSpc>
                <a:spcPct val="120000"/>
              </a:lnSpc>
              <a:spcAft>
                <a:spcPts val="700"/>
              </a:spcAft>
              <a:buSzPct val="100000"/>
              <a:buChar char="•"/>
            </a:pPr>
            <a:r>
              <a:rPr lang="en-US" sz="1300" dirty="0">
                <a:solidFill>
                  <a:srgbClr val="B1A8A5"/>
                </a:solidFill>
                <a:latin typeface="Lora" pitchFamily="34" charset="0"/>
                <a:ea typeface="Lora" pitchFamily="34" charset="-122"/>
                <a:cs typeface="Lora" pitchFamily="34" charset="-120"/>
              </a:rPr>
              <a:t>Secure prime high-footfall sites for new locations</a:t>
            </a:r>
            <a:endParaRPr lang="en-US" sz="1300" dirty="0"/>
          </a:p>
          <a:p>
            <a:pPr algn="l" marL="342900" indent="-342900">
              <a:lnSpc>
                <a:spcPct val="120000"/>
              </a:lnSpc>
              <a:buSzPct val="100000"/>
              <a:buChar char="•"/>
            </a:pPr>
            <a:r>
              <a:rPr lang="en-US" sz="1300" dirty="0">
                <a:solidFill>
                  <a:srgbClr val="B1A8A5"/>
                </a:solidFill>
                <a:latin typeface="Lora" pitchFamily="34" charset="0"/>
                <a:ea typeface="Lora" pitchFamily="34" charset="-122"/>
                <a:cs typeface="Lora" pitchFamily="34" charset="-120"/>
              </a:rPr>
              <a:t>Roll out proven store blueprint in target markets</a:t>
            </a:r>
            <a:endParaRPr lang="en-US" sz="1300" dirty="0"/>
          </a:p>
        </p:txBody>
      </p:sp>
      <p:sp>
        <p:nvSpPr>
          <p:cNvPr id="16" name="pt:10dfc459-3e6a-4ee7-9aed-f92032dd7e5a"/>
          <p:cNvSpPr/>
          <p:nvPr/>
        </p:nvSpPr>
        <p:spPr>
          <a:xfrm>
            <a:off x="7984067" y="1739900"/>
            <a:ext cx="3598333" cy="584200"/>
          </a:xfrm>
          <a:prstGeom prst="chevron">
            <a:avLst/>
          </a:prstGeom>
          <a:solidFill>
            <a:srgbClr val="EA7C5C"/>
          </a:solidFill>
          <a:ln/>
        </p:spPr>
      </p:sp>
      <p:sp>
        <p:nvSpPr>
          <p:cNvPr id="17" name="pt:457bf77a-4c1d-4a3b-9782-1ad93799a646"/>
          <p:cNvSpPr/>
          <p:nvPr/>
        </p:nvSpPr>
        <p:spPr>
          <a:xfrm>
            <a:off x="8238067" y="1739900"/>
            <a:ext cx="3179233" cy="584200"/>
          </a:xfrm>
          <a:prstGeom prst="rect">
            <a:avLst/>
          </a:prstGeom>
          <a:noFill/>
          <a:ln/>
        </p:spPr>
        <p:txBody>
          <a:bodyPr wrap="square" lIns="0" tIns="0" rIns="0" bIns="0" rtlCol="0" anchor="ctr"/>
          <a:lstStyle/>
          <a:p>
            <a:pPr algn="ctr" indent="0" marL="0">
              <a:lnSpc>
                <a:spcPct val="120000"/>
              </a:lnSpc>
              <a:buNone/>
            </a:pPr>
            <a:r>
              <a:rPr lang="en-US" sz="1500" b="1" dirty="0">
                <a:solidFill>
                  <a:srgbClr val="0B0F1A"/>
                </a:solidFill>
                <a:latin typeface="Playfair Display" pitchFamily="34" charset="0"/>
                <a:ea typeface="Playfair Display" pitchFamily="34" charset="-122"/>
                <a:cs typeface="Playfair Display" pitchFamily="34" charset="-120"/>
              </a:rPr>
              <a:t>Phase 3</a:t>
            </a:r>
            <a:endParaRPr lang="en-US" sz="1500" dirty="0"/>
          </a:p>
        </p:txBody>
      </p:sp>
      <p:sp>
        <p:nvSpPr>
          <p:cNvPr id="18" name="pt:d51b901b-78e1-4467-8474-188a0bd7b676"/>
          <p:cNvSpPr/>
          <p:nvPr/>
        </p:nvSpPr>
        <p:spPr>
          <a:xfrm>
            <a:off x="8047567" y="2578100"/>
            <a:ext cx="3598333" cy="3746500"/>
          </a:xfrm>
          <a:prstGeom prst="roundRect">
            <a:avLst>
              <a:gd name="adj" fmla="val 2824"/>
            </a:avLst>
          </a:prstGeom>
          <a:solidFill>
            <a:srgbClr val="F8F0ED">
              <a:alpha val="12000"/>
            </a:srgbClr>
          </a:solidFill>
          <a:ln/>
        </p:spPr>
      </p:sp>
      <p:sp>
        <p:nvSpPr>
          <p:cNvPr id="19" name="pt:6088b9cb-1cdd-45eb-8049-9c0099ad4073"/>
          <p:cNvSpPr/>
          <p:nvPr/>
        </p:nvSpPr>
        <p:spPr>
          <a:xfrm>
            <a:off x="7984067" y="2501900"/>
            <a:ext cx="3598333" cy="3746500"/>
          </a:xfrm>
          <a:prstGeom prst="roundRect">
            <a:avLst>
              <a:gd name="adj" fmla="val 2824"/>
            </a:avLst>
          </a:prstGeom>
          <a:solidFill>
            <a:srgbClr val="1B0F0B"/>
          </a:solidFill>
          <a:ln w="12700">
            <a:solidFill>
              <a:srgbClr val="392E2A"/>
            </a:solidFill>
            <a:prstDash val="solid"/>
          </a:ln>
        </p:spPr>
      </p:sp>
      <p:sp>
        <p:nvSpPr>
          <p:cNvPr id="20" name="pt:d559e49b-03b8-4c1b-865e-b4b33be90f4e"/>
          <p:cNvSpPr/>
          <p:nvPr/>
        </p:nvSpPr>
        <p:spPr>
          <a:xfrm>
            <a:off x="8187267" y="2654300"/>
            <a:ext cx="3191933" cy="508000"/>
          </a:xfrm>
          <a:prstGeom prst="rect">
            <a:avLst/>
          </a:prstGeom>
          <a:noFill/>
          <a:ln/>
        </p:spPr>
        <p:txBody>
          <a:bodyPr wrap="square" lIns="0" tIns="0" rIns="0" bIns="0" rtlCol="0" anchor="t"/>
          <a:lstStyle/>
          <a:p>
            <a:pPr algn="l" indent="0" marL="0">
              <a:lnSpc>
                <a:spcPct val="120000"/>
              </a:lnSpc>
              <a:buNone/>
            </a:pPr>
            <a:r>
              <a:rPr lang="en-US" sz="1600" b="1" dirty="0">
                <a:solidFill>
                  <a:srgbClr val="F8F0ED"/>
                </a:solidFill>
                <a:latin typeface="Playfair Display" pitchFamily="34" charset="0"/>
                <a:ea typeface="Playfair Display" pitchFamily="34" charset="-122"/>
                <a:cs typeface="Playfair Display" pitchFamily="34" charset="-120"/>
              </a:rPr>
              <a:t>Brand &amp; Wholesale Scaling</a:t>
            </a:r>
            <a:endParaRPr lang="en-US" sz="1600" dirty="0"/>
          </a:p>
        </p:txBody>
      </p:sp>
      <p:sp>
        <p:nvSpPr>
          <p:cNvPr id="21" name="pt:e2f8cb9c-8fbb-4923-b3de-730c7c09e7dd"/>
          <p:cNvSpPr/>
          <p:nvPr/>
        </p:nvSpPr>
        <p:spPr>
          <a:xfrm>
            <a:off x="8187267" y="3213100"/>
            <a:ext cx="3191933" cy="2908300"/>
          </a:xfrm>
          <a:prstGeom prst="rect">
            <a:avLst/>
          </a:prstGeom>
          <a:noFill/>
          <a:ln/>
        </p:spPr>
        <p:txBody>
          <a:bodyPr wrap="square" lIns="0" tIns="0" rIns="0" bIns="0" rtlCol="0" anchor="t"/>
          <a:lstStyle/>
          <a:p>
            <a:pPr algn="l" marL="342900" indent="-342900">
              <a:lnSpc>
                <a:spcPct val="120000"/>
              </a:lnSpc>
              <a:spcAft>
                <a:spcPts val="700"/>
              </a:spcAft>
              <a:buSzPct val="100000"/>
              <a:buChar char="•"/>
            </a:pPr>
            <a:r>
              <a:rPr lang="en-US" sz="1300" dirty="0">
                <a:solidFill>
                  <a:srgbClr val="B1A8A5"/>
                </a:solidFill>
                <a:latin typeface="Lora" pitchFamily="34" charset="0"/>
                <a:ea typeface="Lora" pitchFamily="34" charset="-122"/>
                <a:cs typeface="Lora" pitchFamily="34" charset="-120"/>
              </a:rPr>
              <a:t>Expand regional brand marketing initiatives</a:t>
            </a:r>
            <a:endParaRPr lang="en-US" sz="1300" dirty="0"/>
          </a:p>
          <a:p>
            <a:pPr algn="l" marL="342900" indent="-342900">
              <a:lnSpc>
                <a:spcPct val="120000"/>
              </a:lnSpc>
              <a:buSzPct val="100000"/>
              <a:buChar char="•"/>
            </a:pPr>
            <a:r>
              <a:rPr lang="en-US" sz="1300" dirty="0">
                <a:solidFill>
                  <a:srgbClr val="B1A8A5"/>
                </a:solidFill>
                <a:latin typeface="Lora" pitchFamily="34" charset="0"/>
                <a:ea typeface="Lora" pitchFamily="34" charset="-122"/>
                <a:cs typeface="Lora" pitchFamily="34" charset="-120"/>
              </a:rPr>
              <a:t>Grow strategic local wholesale partnerships</a:t>
            </a:r>
            <a:endParaRPr lang="en-US" sz="1300" dirty="0"/>
          </a:p>
        </p:txBody>
      </p:sp>
      <p:sp>
        <p:nvSpPr>
          <p:cNvPr id="22" name="pt:7223a827-64ac-4e09-8894-5c89b871cd7a"/>
          <p:cNvSpPr/>
          <p:nvPr/>
        </p:nvSpPr>
        <p:spPr>
          <a:xfrm>
            <a:off x="546100" y="6305550"/>
            <a:ext cx="1231900" cy="495300"/>
          </a:xfrm>
          <a:prstGeom prst="roundRect">
            <a:avLst>
              <a:gd name="adj" fmla="val 12821"/>
            </a:avLst>
          </a:prstGeom>
          <a:solidFill>
            <a:srgbClr val="FFFFFF"/>
          </a:solidFill>
          <a:ln/>
        </p:spPr>
      </p:sp>
      <p:pic>
        <p:nvPicPr>
          <p:cNvPr id="23" name="pt:5e0d1d6c-1114-4d9c-b97b-85e4d75d81f3" descr="Journey logo">    </p:cNvPr>
          <p:cNvPicPr>
            <a:picLocks noChangeAspect="1"/>
          </p:cNvPicPr>
          <p:nvPr/>
        </p:nvPicPr>
        <p:blipFill>
          <a:blip r:embed="rId1"/>
          <a:srcRect l="0" r="0" t="0" b="0"/>
          <a:stretch/>
        </p:blipFill>
        <p:spPr>
          <a:xfrm>
            <a:off x="609600" y="6369050"/>
            <a:ext cx="1104900" cy="36830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53" presetClass="entr" presetSubtype="16"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Scale>
                                      <p:cBhvr>
                                        <p:cTn id="7" dur="450" fill="hold"/>
                                        <p:tgtEl>
                                          <p:spTgt spid="3"/>
                                        </p:tgtEl>
                                      </p:cBhvr>
                                      <p:from x="88000" y="88000"/>
                                      <p:to x="100000" y="100000"/>
                                    </p:animScale>
                                  </p:childTnLst>
                                </p:cTn>
                              </p:par>
                              <p:par>
                                <p:cTn id="12" presetID="53" presetClass="entr" presetSubtype="16" fill="hold" decel="100000" nodeType="withEffect">
                                  <p:stCondLst>
                                    <p:cond delay="71"/>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animScale>
                                      <p:cBhvr>
                                        <p:cTn id="11" dur="450" fill="hold"/>
                                        <p:tgtEl>
                                          <p:spTgt spid="4"/>
                                        </p:tgtEl>
                                      </p:cBhvr>
                                      <p:from x="88000" y="88000"/>
                                      <p:to x="100000" y="100000"/>
                                    </p:animScale>
                                  </p:childTnLst>
                                </p:cTn>
                              </p:par>
                              <p:par>
                                <p:cTn id="16" presetID="53" presetClass="entr" presetSubtype="16" fill="hold" decel="100000" nodeType="withEffect">
                                  <p:stCondLst>
                                    <p:cond delay="143"/>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animScale>
                                      <p:cBhvr>
                                        <p:cTn id="15" dur="450" fill="hold"/>
                                        <p:tgtEl>
                                          <p:spTgt spid="7"/>
                                        </p:tgtEl>
                                      </p:cBhvr>
                                      <p:from x="88000" y="88000"/>
                                      <p:to x="100000" y="100000"/>
                                    </p:animScale>
                                  </p:childTnLst>
                                </p:cTn>
                              </p:par>
                              <p:par>
                                <p:cTn id="20" presetID="53" presetClass="entr" presetSubtype="16" fill="hold" decel="100000" grpId="0" nodeType="withEffect">
                                  <p:stCondLst>
                                    <p:cond delay="214"/>
                                  </p:stCondLst>
                                  <p:childTnLst>
                                    <p:set>
                                      <p:cBhvr>
                                        <p:cTn id="17" dur="1" fill="hold">
                                          <p:stCondLst>
                                            <p:cond delay="0"/>
                                          </p:stCondLst>
                                        </p:cTn>
                                        <p:tgtEl>
                                          <p:spTgt spid="9">
                                            <p:txEl>
                                              <p:pRg st="0" end="0"/>
                                            </p:txEl>
                                          </p:spTgt>
                                        </p:tgtEl>
                                        <p:attrNameLst>
                                          <p:attrName>style.visibility</p:attrName>
                                        </p:attrNameLst>
                                      </p:cBhvr>
                                      <p:to>
                                        <p:strVal val="visible"/>
                                      </p:to>
                                    </p:set>
                                    <p:animEffect transition="in" filter="fade">
                                      <p:cBhvr>
                                        <p:cTn id="18" dur="450"/>
                                        <p:tgtEl>
                                          <p:spTgt spid="9">
                                            <p:txEl>
                                              <p:pRg st="0" end="0"/>
                                            </p:txEl>
                                          </p:spTgt>
                                        </p:tgtEl>
                                      </p:cBhvr>
                                    </p:animEffect>
                                    <p:animScale>
                                      <p:cBhvr>
                                        <p:cTn id="19" dur="450" fill="hold"/>
                                        <p:tgtEl>
                                          <p:spTgt spid="9">
                                            <p:txEl>
                                              <p:pRg st="0" end="0"/>
                                            </p:txEl>
                                          </p:spTgt>
                                        </p:tgtEl>
                                      </p:cBhvr>
                                      <p:from x="88000" y="88000"/>
                                      <p:to x="100000" y="100000"/>
                                    </p:animScale>
                                  </p:childTnLst>
                                </p:cTn>
                              </p:par>
                              <p:par>
                                <p:cTn id="24" presetID="53" presetClass="entr" presetSubtype="16" fill="hold" decel="100000" grpId="0" nodeType="withEffect">
                                  <p:stCondLst>
                                    <p:cond delay="271"/>
                                  </p:stCondLst>
                                  <p:childTnLst>
                                    <p:set>
                                      <p:cBhvr>
                                        <p:cTn id="21" dur="1" fill="hold">
                                          <p:stCondLst>
                                            <p:cond delay="0"/>
                                          </p:stCondLst>
                                        </p:cTn>
                                        <p:tgtEl>
                                          <p:spTgt spid="9">
                                            <p:txEl>
                                              <p:pRg st="1" end="1"/>
                                            </p:txEl>
                                          </p:spTgt>
                                        </p:tgtEl>
                                        <p:attrNameLst>
                                          <p:attrName>style.visibility</p:attrName>
                                        </p:attrNameLst>
                                      </p:cBhvr>
                                      <p:to>
                                        <p:strVal val="visible"/>
                                      </p:to>
                                    </p:set>
                                    <p:animEffect transition="in" filter="fade">
                                      <p:cBhvr>
                                        <p:cTn id="22" dur="450"/>
                                        <p:tgtEl>
                                          <p:spTgt spid="9">
                                            <p:txEl>
                                              <p:pRg st="1" end="1"/>
                                            </p:txEl>
                                          </p:spTgt>
                                        </p:tgtEl>
                                      </p:cBhvr>
                                    </p:animEffect>
                                    <p:animScale>
                                      <p:cBhvr>
                                        <p:cTn id="23" dur="450" fill="hold"/>
                                        <p:tgtEl>
                                          <p:spTgt spid="9">
                                            <p:txEl>
                                              <p:pRg st="1" end="1"/>
                                            </p:txEl>
                                          </p:spTgt>
                                        </p:tgtEl>
                                      </p:cBhvr>
                                      <p:from x="88000" y="88000"/>
                                      <p:to x="100000" y="100000"/>
                                    </p:animScale>
                                  </p:childTnLst>
                                </p:cTn>
                              </p:par>
                              <p:par>
                                <p:cTn id="28" presetID="53" presetClass="entr" presetSubtype="16" fill="hold" decel="100000" nodeType="withEffect">
                                  <p:stCondLst>
                                    <p:cond delay="286"/>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animScale>
                                      <p:cBhvr>
                                        <p:cTn id="27" dur="450" fill="hold"/>
                                        <p:tgtEl>
                                          <p:spTgt spid="10"/>
                                        </p:tgtEl>
                                      </p:cBhvr>
                                      <p:from x="88000" y="88000"/>
                                      <p:to x="100000" y="100000"/>
                                    </p:animScale>
                                  </p:childTnLst>
                                </p:cTn>
                              </p:par>
                              <p:par>
                                <p:cTn id="32" presetID="53" presetClass="entr" presetSubtype="16" fill="hold" decel="100000" nodeType="withEffect">
                                  <p:stCondLst>
                                    <p:cond delay="357"/>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50"/>
                                        <p:tgtEl>
                                          <p:spTgt spid="13"/>
                                        </p:tgtEl>
                                      </p:cBhvr>
                                    </p:animEffect>
                                    <p:animScale>
                                      <p:cBhvr>
                                        <p:cTn id="31" dur="450" fill="hold"/>
                                        <p:tgtEl>
                                          <p:spTgt spid="13"/>
                                        </p:tgtEl>
                                      </p:cBhvr>
                                      <p:from x="88000" y="88000"/>
                                      <p:to x="100000" y="100000"/>
                                    </p:animScale>
                                  </p:childTnLst>
                                </p:cTn>
                              </p:par>
                              <p:par>
                                <p:cTn id="36" presetID="53" presetClass="entr" presetSubtype="16" fill="hold" decel="100000" grpId="0" nodeType="withEffect">
                                  <p:stCondLst>
                                    <p:cond delay="429"/>
                                  </p:stCondLst>
                                  <p:childTnLst>
                                    <p:set>
                                      <p:cBhvr>
                                        <p:cTn id="33" dur="1" fill="hold">
                                          <p:stCondLst>
                                            <p:cond delay="0"/>
                                          </p:stCondLst>
                                        </p:cTn>
                                        <p:tgtEl>
                                          <p:spTgt spid="15">
                                            <p:txEl>
                                              <p:pRg st="0" end="0"/>
                                            </p:txEl>
                                          </p:spTgt>
                                        </p:tgtEl>
                                        <p:attrNameLst>
                                          <p:attrName>style.visibility</p:attrName>
                                        </p:attrNameLst>
                                      </p:cBhvr>
                                      <p:to>
                                        <p:strVal val="visible"/>
                                      </p:to>
                                    </p:set>
                                    <p:animEffect transition="in" filter="fade">
                                      <p:cBhvr>
                                        <p:cTn id="34" dur="450"/>
                                        <p:tgtEl>
                                          <p:spTgt spid="15">
                                            <p:txEl>
                                              <p:pRg st="0" end="0"/>
                                            </p:txEl>
                                          </p:spTgt>
                                        </p:tgtEl>
                                      </p:cBhvr>
                                    </p:animEffect>
                                    <p:animScale>
                                      <p:cBhvr>
                                        <p:cTn id="35" dur="450" fill="hold"/>
                                        <p:tgtEl>
                                          <p:spTgt spid="15">
                                            <p:txEl>
                                              <p:pRg st="0" end="0"/>
                                            </p:txEl>
                                          </p:spTgt>
                                        </p:tgtEl>
                                      </p:cBhvr>
                                      <p:from x="88000" y="88000"/>
                                      <p:to x="100000" y="100000"/>
                                    </p:animScale>
                                  </p:childTnLst>
                                </p:cTn>
                              </p:par>
                              <p:par>
                                <p:cTn id="40" presetID="53" presetClass="entr" presetSubtype="16" fill="hold" decel="100000" grpId="0" nodeType="withEffect">
                                  <p:stCondLst>
                                    <p:cond delay="486"/>
                                  </p:stCondLst>
                                  <p:childTnLst>
                                    <p:set>
                                      <p:cBhvr>
                                        <p:cTn id="37" dur="1" fill="hold">
                                          <p:stCondLst>
                                            <p:cond delay="0"/>
                                          </p:stCondLst>
                                        </p:cTn>
                                        <p:tgtEl>
                                          <p:spTgt spid="15">
                                            <p:txEl>
                                              <p:pRg st="1" end="1"/>
                                            </p:txEl>
                                          </p:spTgt>
                                        </p:tgtEl>
                                        <p:attrNameLst>
                                          <p:attrName>style.visibility</p:attrName>
                                        </p:attrNameLst>
                                      </p:cBhvr>
                                      <p:to>
                                        <p:strVal val="visible"/>
                                      </p:to>
                                    </p:set>
                                    <p:animEffect transition="in" filter="fade">
                                      <p:cBhvr>
                                        <p:cTn id="38" dur="450"/>
                                        <p:tgtEl>
                                          <p:spTgt spid="15">
                                            <p:txEl>
                                              <p:pRg st="1" end="1"/>
                                            </p:txEl>
                                          </p:spTgt>
                                        </p:tgtEl>
                                      </p:cBhvr>
                                    </p:animEffect>
                                    <p:animScale>
                                      <p:cBhvr>
                                        <p:cTn id="39" dur="450" fill="hold"/>
                                        <p:tgtEl>
                                          <p:spTgt spid="15">
                                            <p:txEl>
                                              <p:pRg st="1" end="1"/>
                                            </p:txEl>
                                          </p:spTgt>
                                        </p:tgtEl>
                                      </p:cBhvr>
                                      <p:from x="88000" y="88000"/>
                                      <p:to x="100000" y="100000"/>
                                    </p:animScale>
                                  </p:childTnLst>
                                </p:cTn>
                              </p:par>
                              <p:par>
                                <p:cTn id="44" presetID="53" presetClass="entr" presetSubtype="16" fill="hold" decel="100000" nodeType="withEffect">
                                  <p:stCondLst>
                                    <p:cond delay="50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50"/>
                                        <p:tgtEl>
                                          <p:spTgt spid="16"/>
                                        </p:tgtEl>
                                      </p:cBhvr>
                                    </p:animEffect>
                                    <p:animScale>
                                      <p:cBhvr>
                                        <p:cTn id="43" dur="450" fill="hold"/>
                                        <p:tgtEl>
                                          <p:spTgt spid="16"/>
                                        </p:tgtEl>
                                      </p:cBhvr>
                                      <p:from x="88000" y="88000"/>
                                      <p:to x="100000" y="100000"/>
                                    </p:animScale>
                                  </p:childTnLst>
                                </p:cTn>
                              </p:par>
                              <p:par>
                                <p:cTn id="48" presetID="53" presetClass="entr" presetSubtype="16" fill="hold" decel="100000" nodeType="withEffect">
                                  <p:stCondLst>
                                    <p:cond delay="571"/>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50"/>
                                        <p:tgtEl>
                                          <p:spTgt spid="19"/>
                                        </p:tgtEl>
                                      </p:cBhvr>
                                    </p:animEffect>
                                    <p:animScale>
                                      <p:cBhvr>
                                        <p:cTn id="47" dur="450" fill="hold"/>
                                        <p:tgtEl>
                                          <p:spTgt spid="19"/>
                                        </p:tgtEl>
                                      </p:cBhvr>
                                      <p:from x="88000" y="88000"/>
                                      <p:to x="100000" y="100000"/>
                                    </p:animScale>
                                  </p:childTnLst>
                                </p:cTn>
                              </p:par>
                              <p:par>
                                <p:cTn id="52" presetID="53" presetClass="entr" presetSubtype="16" fill="hold" decel="100000" grpId="0" nodeType="withEffect">
                                  <p:stCondLst>
                                    <p:cond delay="643"/>
                                  </p:stCondLst>
                                  <p:childTnLst>
                                    <p:set>
                                      <p:cBhvr>
                                        <p:cTn id="49" dur="1" fill="hold">
                                          <p:stCondLst>
                                            <p:cond delay="0"/>
                                          </p:stCondLst>
                                        </p:cTn>
                                        <p:tgtEl>
                                          <p:spTgt spid="21">
                                            <p:txEl>
                                              <p:pRg st="0" end="0"/>
                                            </p:txEl>
                                          </p:spTgt>
                                        </p:tgtEl>
                                        <p:attrNameLst>
                                          <p:attrName>style.visibility</p:attrName>
                                        </p:attrNameLst>
                                      </p:cBhvr>
                                      <p:to>
                                        <p:strVal val="visible"/>
                                      </p:to>
                                    </p:set>
                                    <p:animEffect transition="in" filter="fade">
                                      <p:cBhvr>
                                        <p:cTn id="50" dur="450"/>
                                        <p:tgtEl>
                                          <p:spTgt spid="21">
                                            <p:txEl>
                                              <p:pRg st="0" end="0"/>
                                            </p:txEl>
                                          </p:spTgt>
                                        </p:tgtEl>
                                      </p:cBhvr>
                                    </p:animEffect>
                                    <p:animScale>
                                      <p:cBhvr>
                                        <p:cTn id="51" dur="450" fill="hold"/>
                                        <p:tgtEl>
                                          <p:spTgt spid="21">
                                            <p:txEl>
                                              <p:pRg st="0" end="0"/>
                                            </p:txEl>
                                          </p:spTgt>
                                        </p:tgtEl>
                                      </p:cBhvr>
                                      <p:from x="88000" y="88000"/>
                                      <p:to x="100000" y="100000"/>
                                    </p:animScale>
                                  </p:childTnLst>
                                </p:cTn>
                              </p:par>
                              <p:par>
                                <p:cTn id="56" presetID="53" presetClass="entr" presetSubtype="16" fill="hold" decel="100000" grpId="0" nodeType="withEffect">
                                  <p:stCondLst>
                                    <p:cond delay="700"/>
                                  </p:stCondLst>
                                  <p:childTnLst>
                                    <p:set>
                                      <p:cBhvr>
                                        <p:cTn id="53" dur="1" fill="hold">
                                          <p:stCondLst>
                                            <p:cond delay="0"/>
                                          </p:stCondLst>
                                        </p:cTn>
                                        <p:tgtEl>
                                          <p:spTgt spid="21">
                                            <p:txEl>
                                              <p:pRg st="1" end="1"/>
                                            </p:txEl>
                                          </p:spTgt>
                                        </p:tgtEl>
                                        <p:attrNameLst>
                                          <p:attrName>style.visibility</p:attrName>
                                        </p:attrNameLst>
                                      </p:cBhvr>
                                      <p:to>
                                        <p:strVal val="visible"/>
                                      </p:to>
                                    </p:set>
                                    <p:animEffect transition="in" filter="fade">
                                      <p:cBhvr>
                                        <p:cTn id="54" dur="450"/>
                                        <p:tgtEl>
                                          <p:spTgt spid="21">
                                            <p:txEl>
                                              <p:pRg st="1" end="1"/>
                                            </p:txEl>
                                          </p:spTgt>
                                        </p:tgtEl>
                                      </p:cBhvr>
                                    </p:animEffect>
                                    <p:animScale>
                                      <p:cBhvr>
                                        <p:cTn id="55" dur="450" fill="hold"/>
                                        <p:tgtEl>
                                          <p:spTgt spid="21">
                                            <p:txEl>
                                              <p:pRg st="1" end="1"/>
                                            </p:txEl>
                                          </p:spTgt>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5" grpId="0" build="p"/>
      <p:bldP spid="2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0C09"/>
        </a:solidFill>
      </p:bgPr>
    </p:bg>
    <p:spTree>
      <p:nvGrpSpPr>
        <p:cNvPr id="1" name=""/>
        <p:cNvGrpSpPr/>
        <p:nvPr/>
      </p:nvGrpSpPr>
      <p:grpSpPr>
        <a:xfrm>
          <a:off x="0" y="0"/>
          <a:ext cx="0" cy="0"/>
          <a:chOff x="0" y="0"/>
          <a:chExt cx="0" cy="0"/>
        </a:xfrm>
      </p:grpSpPr>
      <p:pic>
        <p:nvPicPr>
          <p:cNvPr id="2" name="pt:b0a52c40-49d5-4044-b100-1ffbc9f751b5" descr="man buying coffee on counter">    </p:cNvPr>
          <p:cNvPicPr>
            <a:picLocks noChangeAspect="1"/>
          </p:cNvPicPr>
          <p:nvPr/>
        </p:nvPicPr>
        <p:blipFill>
          <a:blip r:embed="rId1"/>
          <a:srcRect l="0" r="0" t="0" b="0"/>
          <a:stretch/>
        </p:blipFill>
        <p:spPr>
          <a:xfrm>
            <a:off x="0" y="0"/>
            <a:ext cx="12192000" cy="6858000"/>
          </a:xfrm>
          <a:prstGeom prst="rect">
            <a:avLst/>
          </a:prstGeom>
        </p:spPr>
      </p:pic>
      <p:pic>
        <p:nvPicPr>
          <p:cNvPr id="3" name="pt:b0a52c40-49d5-4044-b100-1ffbc9f751b5" descr="preencoded.png">    </p:cNvPr>
          <p:cNvPicPr>
            <a:picLocks noChangeAspect="1"/>
          </p:cNvPicPr>
          <p:nvPr/>
        </p:nvPicPr>
        <p:blipFill>
          <a:blip r:embed="rId2"/>
          <a:stretch>
            <a:fillRect/>
          </a:stretch>
        </p:blipFill>
        <p:spPr>
          <a:xfrm>
            <a:off x="0" y="0"/>
            <a:ext cx="12192000" cy="6858000"/>
          </a:xfrm>
          <a:prstGeom prst="rect">
            <a:avLst/>
          </a:prstGeom>
        </p:spPr>
      </p:pic>
      <p:sp>
        <p:nvSpPr>
          <p:cNvPr id="4" name="pt:7acfaf52-f912-450f-b01f-3cc787aafbd5"/>
          <p:cNvSpPr/>
          <p:nvPr/>
        </p:nvSpPr>
        <p:spPr>
          <a:xfrm rot="-2700000">
            <a:off x="7507182" y="1521883"/>
            <a:ext cx="5349240" cy="31750"/>
          </a:xfrm>
          <a:prstGeom prst="rect">
            <a:avLst/>
          </a:prstGeom>
          <a:solidFill>
            <a:srgbClr val="17BEBB">
              <a:alpha val="85000"/>
            </a:srgbClr>
          </a:solidFill>
          <a:ln/>
        </p:spPr>
      </p:sp>
      <p:sp>
        <p:nvSpPr>
          <p:cNvPr id="5" name="pt:1d7cf0f8-99ba-4a4e-9bbc-6140f9f06e64"/>
          <p:cNvSpPr/>
          <p:nvPr/>
        </p:nvSpPr>
        <p:spPr>
          <a:xfrm rot="2700000">
            <a:off x="7507182" y="5304367"/>
            <a:ext cx="5349240" cy="31750"/>
          </a:xfrm>
          <a:prstGeom prst="rect">
            <a:avLst/>
          </a:prstGeom>
          <a:solidFill>
            <a:srgbClr val="17BEBB">
              <a:alpha val="85000"/>
            </a:srgbClr>
          </a:solidFill>
          <a:ln/>
        </p:spPr>
      </p:sp>
      <p:sp>
        <p:nvSpPr>
          <p:cNvPr id="6" name="pt:299e1612-da4b-4211-95dc-2616edca7e3e"/>
          <p:cNvSpPr/>
          <p:nvPr/>
        </p:nvSpPr>
        <p:spPr>
          <a:xfrm rot="-2700000">
            <a:off x="7723082" y="1521883"/>
            <a:ext cx="5349240" cy="31750"/>
          </a:xfrm>
          <a:prstGeom prst="rect">
            <a:avLst/>
          </a:prstGeom>
          <a:solidFill>
            <a:srgbClr val="FFFFFF">
              <a:alpha val="80000"/>
            </a:srgbClr>
          </a:solidFill>
          <a:ln/>
        </p:spPr>
      </p:sp>
      <p:sp>
        <p:nvSpPr>
          <p:cNvPr id="7" name="pt:5c65090c-b8e6-4f5d-84d6-730638c184e6"/>
          <p:cNvSpPr/>
          <p:nvPr/>
        </p:nvSpPr>
        <p:spPr>
          <a:xfrm rot="2700000">
            <a:off x="7723082" y="5304367"/>
            <a:ext cx="5349240" cy="31750"/>
          </a:xfrm>
          <a:prstGeom prst="rect">
            <a:avLst/>
          </a:prstGeom>
          <a:solidFill>
            <a:srgbClr val="FFFFFF">
              <a:alpha val="80000"/>
            </a:srgbClr>
          </a:solidFill>
          <a:ln/>
        </p:spPr>
      </p:sp>
      <p:sp>
        <p:nvSpPr>
          <p:cNvPr id="8" name="pt:b4387bdf-4b5a-410c-a1e5-289e6497944b"/>
          <p:cNvSpPr/>
          <p:nvPr/>
        </p:nvSpPr>
        <p:spPr>
          <a:xfrm rot="-2700000">
            <a:off x="7938982" y="1521883"/>
            <a:ext cx="5349240" cy="31750"/>
          </a:xfrm>
          <a:prstGeom prst="rect">
            <a:avLst/>
          </a:prstGeom>
          <a:solidFill>
            <a:srgbClr val="FFFFFF">
              <a:alpha val="75000"/>
            </a:srgbClr>
          </a:solidFill>
          <a:ln/>
        </p:spPr>
      </p:sp>
      <p:sp>
        <p:nvSpPr>
          <p:cNvPr id="9" name="pt:c0441b84-26fa-409d-8a18-02c53dd40798"/>
          <p:cNvSpPr/>
          <p:nvPr/>
        </p:nvSpPr>
        <p:spPr>
          <a:xfrm rot="2700000">
            <a:off x="7938982" y="5304367"/>
            <a:ext cx="5349240" cy="31750"/>
          </a:xfrm>
          <a:prstGeom prst="rect">
            <a:avLst/>
          </a:prstGeom>
          <a:solidFill>
            <a:srgbClr val="FFFFFF">
              <a:alpha val="75000"/>
            </a:srgbClr>
          </a:solidFill>
          <a:ln/>
        </p:spPr>
      </p:sp>
      <p:sp>
        <p:nvSpPr>
          <p:cNvPr id="10" name="pt:e7bd34fd-4b51-4f2c-967d-93f1af3df3f3"/>
          <p:cNvSpPr/>
          <p:nvPr/>
        </p:nvSpPr>
        <p:spPr>
          <a:xfrm rot="-2700000">
            <a:off x="8154882" y="1521883"/>
            <a:ext cx="5349240" cy="31750"/>
          </a:xfrm>
          <a:prstGeom prst="rect">
            <a:avLst/>
          </a:prstGeom>
          <a:solidFill>
            <a:srgbClr val="17BEBB">
              <a:alpha val="70000"/>
            </a:srgbClr>
          </a:solidFill>
          <a:ln/>
        </p:spPr>
      </p:sp>
      <p:sp>
        <p:nvSpPr>
          <p:cNvPr id="11" name="pt:1a2c7454-1bf7-4834-a197-3e9692adc3fe"/>
          <p:cNvSpPr/>
          <p:nvPr/>
        </p:nvSpPr>
        <p:spPr>
          <a:xfrm rot="2700000">
            <a:off x="8154882" y="5304367"/>
            <a:ext cx="5349240" cy="31750"/>
          </a:xfrm>
          <a:prstGeom prst="rect">
            <a:avLst/>
          </a:prstGeom>
          <a:solidFill>
            <a:srgbClr val="17BEBB">
              <a:alpha val="70000"/>
            </a:srgbClr>
          </a:solidFill>
          <a:ln/>
        </p:spPr>
      </p:sp>
      <p:sp>
        <p:nvSpPr>
          <p:cNvPr id="12" name="pt:12935ffe-52e5-4df7-be16-4b727d192a5a"/>
          <p:cNvSpPr/>
          <p:nvPr/>
        </p:nvSpPr>
        <p:spPr>
          <a:xfrm rot="-2700000">
            <a:off x="8370782" y="1521883"/>
            <a:ext cx="5349240" cy="31750"/>
          </a:xfrm>
          <a:prstGeom prst="rect">
            <a:avLst/>
          </a:prstGeom>
          <a:solidFill>
            <a:srgbClr val="FFFFFF">
              <a:alpha val="65000"/>
            </a:srgbClr>
          </a:solidFill>
          <a:ln/>
        </p:spPr>
      </p:sp>
      <p:sp>
        <p:nvSpPr>
          <p:cNvPr id="13" name="pt:7e2563d4-81b0-4008-bbb5-2be00e1c86de"/>
          <p:cNvSpPr/>
          <p:nvPr/>
        </p:nvSpPr>
        <p:spPr>
          <a:xfrm rot="2700000">
            <a:off x="8370782" y="5304367"/>
            <a:ext cx="5349240" cy="31750"/>
          </a:xfrm>
          <a:prstGeom prst="rect">
            <a:avLst/>
          </a:prstGeom>
          <a:solidFill>
            <a:srgbClr val="FFFFFF">
              <a:alpha val="65000"/>
            </a:srgbClr>
          </a:solidFill>
          <a:ln/>
        </p:spPr>
      </p:sp>
      <p:sp>
        <p:nvSpPr>
          <p:cNvPr id="14" name="pt:720a5818-4568-4357-a766-b480f6669c44"/>
          <p:cNvSpPr/>
          <p:nvPr/>
        </p:nvSpPr>
        <p:spPr>
          <a:xfrm rot="-2700000">
            <a:off x="8586682" y="1521883"/>
            <a:ext cx="5349240" cy="31750"/>
          </a:xfrm>
          <a:prstGeom prst="rect">
            <a:avLst/>
          </a:prstGeom>
          <a:solidFill>
            <a:srgbClr val="FFFFFF">
              <a:alpha val="59000"/>
            </a:srgbClr>
          </a:solidFill>
          <a:ln/>
        </p:spPr>
      </p:sp>
      <p:sp>
        <p:nvSpPr>
          <p:cNvPr id="15" name="pt:fcc2c686-c0e6-4f5f-9ef2-f1d7f14f9685"/>
          <p:cNvSpPr/>
          <p:nvPr/>
        </p:nvSpPr>
        <p:spPr>
          <a:xfrm rot="2700000">
            <a:off x="8586682" y="5304367"/>
            <a:ext cx="5349240" cy="31750"/>
          </a:xfrm>
          <a:prstGeom prst="rect">
            <a:avLst/>
          </a:prstGeom>
          <a:solidFill>
            <a:srgbClr val="FFFFFF">
              <a:alpha val="59000"/>
            </a:srgbClr>
          </a:solidFill>
          <a:ln/>
        </p:spPr>
      </p:sp>
      <p:sp>
        <p:nvSpPr>
          <p:cNvPr id="16" name="pt:c8d23690-bb43-4a12-be05-c29a1a07a554"/>
          <p:cNvSpPr/>
          <p:nvPr/>
        </p:nvSpPr>
        <p:spPr>
          <a:xfrm rot="-2700000">
            <a:off x="8802582" y="1521883"/>
            <a:ext cx="5349240" cy="31750"/>
          </a:xfrm>
          <a:prstGeom prst="rect">
            <a:avLst/>
          </a:prstGeom>
          <a:solidFill>
            <a:srgbClr val="17BEBB">
              <a:alpha val="54000"/>
            </a:srgbClr>
          </a:solidFill>
          <a:ln/>
        </p:spPr>
      </p:sp>
      <p:sp>
        <p:nvSpPr>
          <p:cNvPr id="17" name="pt:791fc77b-875f-49df-92fb-17b890fba344"/>
          <p:cNvSpPr/>
          <p:nvPr/>
        </p:nvSpPr>
        <p:spPr>
          <a:xfrm rot="2700000">
            <a:off x="8802582" y="5304367"/>
            <a:ext cx="5349240" cy="31750"/>
          </a:xfrm>
          <a:prstGeom prst="rect">
            <a:avLst/>
          </a:prstGeom>
          <a:solidFill>
            <a:srgbClr val="17BEBB">
              <a:alpha val="54000"/>
            </a:srgbClr>
          </a:solidFill>
          <a:ln/>
        </p:spPr>
      </p:sp>
      <p:sp>
        <p:nvSpPr>
          <p:cNvPr id="18" name="pt:d7fd365c-6965-4143-bd6f-fa355a1b27fb"/>
          <p:cNvSpPr/>
          <p:nvPr/>
        </p:nvSpPr>
        <p:spPr>
          <a:xfrm rot="-2700000">
            <a:off x="9018482" y="1521883"/>
            <a:ext cx="5349240" cy="31750"/>
          </a:xfrm>
          <a:prstGeom prst="rect">
            <a:avLst/>
          </a:prstGeom>
          <a:solidFill>
            <a:srgbClr val="FFFFFF">
              <a:alpha val="49000"/>
            </a:srgbClr>
          </a:solidFill>
          <a:ln/>
        </p:spPr>
      </p:sp>
      <p:sp>
        <p:nvSpPr>
          <p:cNvPr id="19" name="pt:818747c6-d130-4724-b07f-31d10e41295e"/>
          <p:cNvSpPr/>
          <p:nvPr/>
        </p:nvSpPr>
        <p:spPr>
          <a:xfrm rot="2700000">
            <a:off x="9018482" y="5304367"/>
            <a:ext cx="5349240" cy="31750"/>
          </a:xfrm>
          <a:prstGeom prst="rect">
            <a:avLst/>
          </a:prstGeom>
          <a:solidFill>
            <a:srgbClr val="FFFFFF">
              <a:alpha val="49000"/>
            </a:srgbClr>
          </a:solidFill>
          <a:ln/>
        </p:spPr>
      </p:sp>
      <p:sp>
        <p:nvSpPr>
          <p:cNvPr id="20" name="pt:90dda268-9a9f-4de8-9ee3-073cbf240358"/>
          <p:cNvSpPr/>
          <p:nvPr/>
        </p:nvSpPr>
        <p:spPr>
          <a:xfrm rot="-2700000">
            <a:off x="9234382" y="1521883"/>
            <a:ext cx="5349240" cy="31750"/>
          </a:xfrm>
          <a:prstGeom prst="rect">
            <a:avLst/>
          </a:prstGeom>
          <a:solidFill>
            <a:srgbClr val="FFFFFF">
              <a:alpha val="44000"/>
            </a:srgbClr>
          </a:solidFill>
          <a:ln/>
        </p:spPr>
      </p:sp>
      <p:sp>
        <p:nvSpPr>
          <p:cNvPr id="21" name="pt:98022420-f7a7-41d8-861c-e90f0461c297"/>
          <p:cNvSpPr/>
          <p:nvPr/>
        </p:nvSpPr>
        <p:spPr>
          <a:xfrm rot="2700000">
            <a:off x="9234382" y="5304367"/>
            <a:ext cx="5349240" cy="31750"/>
          </a:xfrm>
          <a:prstGeom prst="rect">
            <a:avLst/>
          </a:prstGeom>
          <a:solidFill>
            <a:srgbClr val="FFFFFF">
              <a:alpha val="44000"/>
            </a:srgbClr>
          </a:solidFill>
          <a:ln/>
        </p:spPr>
      </p:sp>
      <p:sp>
        <p:nvSpPr>
          <p:cNvPr id="22" name="pt:c26d113a-04f1-487a-a5e2-798ccfa7d556"/>
          <p:cNvSpPr/>
          <p:nvPr/>
        </p:nvSpPr>
        <p:spPr>
          <a:xfrm rot="-2700000">
            <a:off x="9450282" y="1521883"/>
            <a:ext cx="5349240" cy="31750"/>
          </a:xfrm>
          <a:prstGeom prst="rect">
            <a:avLst/>
          </a:prstGeom>
          <a:solidFill>
            <a:srgbClr val="17BEBB">
              <a:alpha val="39000"/>
            </a:srgbClr>
          </a:solidFill>
          <a:ln/>
        </p:spPr>
      </p:sp>
      <p:sp>
        <p:nvSpPr>
          <p:cNvPr id="23" name="pt:12666802-2e30-4c4b-9536-b837e6dd6989"/>
          <p:cNvSpPr/>
          <p:nvPr/>
        </p:nvSpPr>
        <p:spPr>
          <a:xfrm rot="2700000">
            <a:off x="9450282" y="5304367"/>
            <a:ext cx="5349240" cy="31750"/>
          </a:xfrm>
          <a:prstGeom prst="rect">
            <a:avLst/>
          </a:prstGeom>
          <a:solidFill>
            <a:srgbClr val="17BEBB">
              <a:alpha val="39000"/>
            </a:srgbClr>
          </a:solidFill>
          <a:ln/>
        </p:spPr>
      </p:sp>
      <p:sp>
        <p:nvSpPr>
          <p:cNvPr id="24" name="pt:15189c90-7795-45a8-9609-d78739a34f4a"/>
          <p:cNvSpPr/>
          <p:nvPr/>
        </p:nvSpPr>
        <p:spPr>
          <a:xfrm>
            <a:off x="975360" y="1371600"/>
            <a:ext cx="698500" cy="50800"/>
          </a:xfrm>
          <a:prstGeom prst="roundRect">
            <a:avLst>
              <a:gd name="adj" fmla="val 50000"/>
            </a:avLst>
          </a:prstGeom>
          <a:solidFill>
            <a:srgbClr val="17BEBB"/>
          </a:solidFill>
          <a:ln/>
        </p:spPr>
      </p:sp>
      <p:sp>
        <p:nvSpPr>
          <p:cNvPr id="25" name="pt:7b4918db-48cb-4b7c-a55b-db290bcdda67"/>
          <p:cNvSpPr/>
          <p:nvPr/>
        </p:nvSpPr>
        <p:spPr>
          <a:xfrm>
            <a:off x="975360" y="1562100"/>
            <a:ext cx="6339840" cy="2692400"/>
          </a:xfrm>
          <a:prstGeom prst="rect">
            <a:avLst/>
          </a:prstGeom>
          <a:noFill/>
          <a:ln/>
        </p:spPr>
        <p:txBody>
          <a:bodyPr wrap="square" lIns="0" tIns="0" rIns="0" bIns="0" rtlCol="0" anchor="ctr"/>
          <a:lstStyle/>
          <a:p>
            <a:pPr algn="l" indent="0" marL="0">
              <a:lnSpc>
                <a:spcPct val="120000"/>
              </a:lnSpc>
              <a:buNone/>
            </a:pPr>
            <a:r>
              <a:rPr lang="en-US" sz="3600" b="1" dirty="0">
                <a:solidFill>
                  <a:srgbClr val="FFFFFF"/>
                </a:solidFill>
                <a:latin typeface="Playfair Display" pitchFamily="34" charset="0"/>
                <a:ea typeface="Playfair Display" pitchFamily="34" charset="-122"/>
                <a:cs typeface="Playfair Display" pitchFamily="34" charset="-120"/>
              </a:rPr>
              <a:t>Partner with Aroma Coffee Roasters</a:t>
            </a:r>
            <a:endParaRPr lang="en-US" sz="3600" dirty="0"/>
          </a:p>
        </p:txBody>
      </p:sp>
      <p:sp>
        <p:nvSpPr>
          <p:cNvPr id="26" name="pt:d8d91724-9be8-4937-8703-e8db3e2b5be4"/>
          <p:cNvSpPr/>
          <p:nvPr/>
        </p:nvSpPr>
        <p:spPr>
          <a:xfrm>
            <a:off x="975360" y="4292600"/>
            <a:ext cx="6339840" cy="850900"/>
          </a:xfrm>
          <a:prstGeom prst="rect">
            <a:avLst/>
          </a:prstGeom>
          <a:noFill/>
          <a:ln/>
        </p:spPr>
        <p:txBody>
          <a:bodyPr wrap="square" lIns="0" tIns="0" rIns="0" bIns="0" rtlCol="0" anchor="t"/>
          <a:lstStyle/>
          <a:p>
            <a:pPr algn="l" indent="0" marL="0">
              <a:lnSpc>
                <a:spcPct val="120000"/>
              </a:lnSpc>
              <a:buNone/>
            </a:pPr>
            <a:r>
              <a:rPr lang="en-US" sz="1600" dirty="0">
                <a:solidFill>
                  <a:srgbClr val="D0CECE"/>
                </a:solidFill>
                <a:latin typeface="Playfair Display" pitchFamily="34" charset="0"/>
                <a:ea typeface="Playfair Display" pitchFamily="34" charset="-122"/>
                <a:cs typeface="Playfair Display" pitchFamily="34" charset="-120"/>
              </a:rPr>
              <a:t>Seeking local investment partners to fund strategic store rollouts and expand roasting capacity.</a:t>
            </a:r>
            <a:endParaRPr lang="en-US" sz="1600" dirty="0"/>
          </a:p>
        </p:txBody>
      </p:sp>
      <p:sp>
        <p:nvSpPr>
          <p:cNvPr id="27" name="pt:33732801-437b-4c5d-8728-d892c3ea24ac"/>
          <p:cNvSpPr/>
          <p:nvPr/>
        </p:nvSpPr>
        <p:spPr>
          <a:xfrm>
            <a:off x="546100" y="6305550"/>
            <a:ext cx="1231900" cy="495300"/>
          </a:xfrm>
          <a:prstGeom prst="roundRect">
            <a:avLst>
              <a:gd name="adj" fmla="val 12821"/>
            </a:avLst>
          </a:prstGeom>
          <a:solidFill>
            <a:srgbClr val="FFFFFF"/>
          </a:solidFill>
          <a:ln/>
        </p:spPr>
      </p:sp>
      <p:pic>
        <p:nvPicPr>
          <p:cNvPr id="28" name="pt:1ad4d154-7152-46e8-b52a-9644a3c5d92b" descr="Journey logo">    </p:cNvPr>
          <p:cNvPicPr>
            <a:picLocks noChangeAspect="1"/>
          </p:cNvPicPr>
          <p:nvPr/>
        </p:nvPicPr>
        <p:blipFill>
          <a:blip r:embed="rId3"/>
          <a:srcRect l="0" r="0" t="0" b="0"/>
          <a:stretch/>
        </p:blipFill>
        <p:spPr>
          <a:xfrm>
            <a:off x="609600" y="6369050"/>
            <a:ext cx="1104900" cy="36830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24"/>
                                        </p:tgtEl>
                                        <p:attrNameLst>
                                          <p:attrName>style.visibility</p:attrName>
                                        </p:attrNameLst>
                                      </p:cBhvr>
                                      <p:to>
                                        <p:strVal val="visible"/>
                                      </p:to>
                                    </p:set>
                                    <p:animEffect transition="in" filter="wipe(left)">
                                      <p:cBhvr>
                                        <p:cTn id="6" dur="450"/>
                                        <p:tgtEl>
                                          <p:spTgt spid="24"/>
                                        </p:tgtEl>
                                      </p:cBhvr>
                                    </p:animEffect>
                                  </p:childTnLst>
                                </p:cTn>
                              </p:par>
                              <p:par>
                                <p:cTn id="11" presetID="53" presetClass="entr" presetSubtype="16" fill="hold" decel="100000" nodeType="withEffect">
                                  <p:stCondLst>
                                    <p:cond delay="100"/>
                                  </p:stCondLst>
                                  <p:childTnLst>
                                    <p:set>
                                      <p:cBhvr>
                                        <p:cTn id="8" dur="1" fill="hold">
                                          <p:stCondLst>
                                            <p:cond delay="0"/>
                                          </p:stCondLst>
                                        </p:cTn>
                                        <p:tgtEl>
                                          <p:spTgt spid="25"/>
                                        </p:tgtEl>
                                        <p:attrNameLst>
                                          <p:attrName>style.visibility</p:attrName>
                                        </p:attrNameLst>
                                      </p:cBhvr>
                                      <p:to>
                                        <p:strVal val="visible"/>
                                      </p:to>
                                    </p:set>
                                    <p:animEffect transition="in" filter="fade">
                                      <p:cBhvr>
                                        <p:cTn id="9" dur="450"/>
                                        <p:tgtEl>
                                          <p:spTgt spid="25"/>
                                        </p:tgtEl>
                                      </p:cBhvr>
                                    </p:animEffect>
                                    <p:animScale>
                                      <p:cBhvr>
                                        <p:cTn id="10" dur="450" fill="hold"/>
                                        <p:tgtEl>
                                          <p:spTgt spid="25"/>
                                        </p:tgtEl>
                                      </p:cBhvr>
                                      <p:from x="88000" y="88000"/>
                                      <p:to x="100000" y="100000"/>
                                    </p:animScale>
                                  </p:childTnLst>
                                </p:cTn>
                              </p:par>
                              <p:par>
                                <p:cTn id="15" presetID="53" presetClass="entr" presetSubtype="16" fill="hold" decel="100000" nodeType="withEffect">
                                  <p:stCondLst>
                                    <p:cond delay="20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450"/>
                                        <p:tgtEl>
                                          <p:spTgt spid="26"/>
                                        </p:tgtEl>
                                      </p:cBhvr>
                                    </p:animEffect>
                                    <p:animScale>
                                      <p:cBhvr>
                                        <p:cTn id="14" dur="450" fill="hold"/>
                                        <p:tgtEl>
                                          <p:spTgt spid="26"/>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layfai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or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promptToPpt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Aroma Coffee Roasters Investment Pitch</dc:title>
  <dc:subject>PptxGenJS Presentation</dc:subject>
  <dc:creator>PptxGenJS</dc:creator>
  <cp:lastModifiedBy>PptxGenJS</cp:lastModifiedBy>
  <cp:revision>1</cp:revision>
  <dcterms:created xsi:type="dcterms:W3CDTF">2026-10-15T18:05:00Z</dcterms:created>
  <dcterms:modified xsi:type="dcterms:W3CDTF">2026-10-15T18:05:00Z</dcterms:modified>
</cp:coreProperties>
</file>