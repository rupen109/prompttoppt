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sharing how Northwind helps modern delivery operations cut costs and increase reliability across every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logistics tools often force smaller fleets through months of onboarding and expensive pricing models. Northwind delivers immediate relief from wasted delivery spend by getting fleets operational in an afternoon. This comparison illustrates how our solution provides robust routing capability without enterprise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platform streamlines your daily logistics operations into four simple steps. We take your raw orders, build fully optimised routes in seconds, and keep both your drivers and end customers updated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Northwind is already trusted by 84 paying fleets with a 98% retention rate because it works seamlessy with your existing vehicles and hardware. Reach out today to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w_dTwmo5ZQ" descr="opened white van">    </p:cNvPr>
          <p:cNvPicPr>
            <a:picLocks noChangeAspect="1"/>
          </p:cNvPicPr>
          <p:nvPr/>
        </p:nvPicPr>
        <p:blipFill>
          <a:blip r:embed="rId1"/>
          <a:srcRect l="0" r="0" t="0" b="0"/>
          <a:stretch/>
        </p:blipFill>
        <p:spPr>
          <a:xfrm>
            <a:off x="0" y="0"/>
            <a:ext cx="9144000" cy="6858000"/>
          </a:xfrm>
          <a:prstGeom prst="rect">
            <a:avLst/>
          </a:prstGeom>
        </p:spPr>
      </p:pic>
      <p:pic>
        <p:nvPicPr>
          <p:cNvPr id="3" name="pt:w_dTwmo5ZQ"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uXjhb21Wix"/>
          <p:cNvSpPr/>
          <p:nvPr/>
        </p:nvSpPr>
        <p:spPr>
          <a:xfrm>
            <a:off x="457200" y="2880360"/>
            <a:ext cx="698500" cy="50800"/>
          </a:xfrm>
          <a:prstGeom prst="roundRect">
            <a:avLst>
              <a:gd name="adj" fmla="val 50000"/>
            </a:avLst>
          </a:prstGeom>
          <a:solidFill>
            <a:srgbClr val="17BEBB"/>
          </a:solidFill>
          <a:ln/>
        </p:spPr>
      </p:sp>
      <p:sp>
        <p:nvSpPr>
          <p:cNvPr id="5" name="pt:Mqa437OpM9"/>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Northwind: logistics software that cuts delivery cost</a:t>
            </a:r>
            <a:endParaRPr lang="en-US" sz="4100" dirty="0"/>
          </a:p>
        </p:txBody>
      </p:sp>
      <p:sp>
        <p:nvSpPr>
          <p:cNvPr id="6" name="pt:3yE0rF_Wl9"/>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Tailored route optimisation built for modern fleets of 5 to 200 vehicles</a:t>
            </a:r>
            <a:endParaRPr lang="en-US" sz="1600" dirty="0"/>
          </a:p>
        </p:txBody>
      </p:sp>
      <p:sp>
        <p:nvSpPr>
          <p:cNvPr id="7" name="pt:Jxav1S4yK-"/>
          <p:cNvSpPr/>
          <p:nvPr/>
        </p:nvSpPr>
        <p:spPr>
          <a:xfrm>
            <a:off x="412750" y="6451600"/>
            <a:ext cx="361950" cy="361950"/>
          </a:xfrm>
          <a:prstGeom prst="roundRect">
            <a:avLst>
              <a:gd name="adj" fmla="val 12281"/>
            </a:avLst>
          </a:prstGeom>
          <a:solidFill>
            <a:srgbClr val="FFFFFF"/>
          </a:solidFill>
          <a:ln/>
        </p:spPr>
      </p:sp>
      <p:pic>
        <p:nvPicPr>
          <p:cNvPr id="8" name="pt:1jVDBlhltl"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sp>
        <p:nvSpPr>
          <p:cNvPr id="2" name="pt:oFmisfauUL"/>
          <p:cNvSpPr/>
          <p:nvPr/>
        </p:nvSpPr>
        <p:spPr>
          <a:xfrm>
            <a:off x="0" y="228600"/>
            <a:ext cx="9144000" cy="12700"/>
          </a:xfrm>
          <a:prstGeom prst="rect">
            <a:avLst/>
          </a:prstGeom>
          <a:solidFill>
            <a:srgbClr val="392E2A"/>
          </a:solidFill>
          <a:ln/>
        </p:spPr>
      </p:sp>
      <p:sp>
        <p:nvSpPr>
          <p:cNvPr id="3" name="pt:7YdZO8pykP"/>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F8F0ED"/>
                </a:solidFill>
                <a:latin typeface="Space Grotesk" pitchFamily="34" charset="0"/>
                <a:ea typeface="Space Grotesk" pitchFamily="34" charset="-122"/>
                <a:cs typeface="Space Grotesk" pitchFamily="34" charset="-120"/>
              </a:rPr>
              <a:t>Why Northwind offers superior </a:t>
            </a:r>
            <a:pPr algn="l" indent="0" marL="0">
              <a:lnSpc>
                <a:spcPct val="120000"/>
              </a:lnSpc>
              <a:buNone/>
            </a:pPr>
            <a:r>
              <a:rPr lang="en-US" sz="2800" b="1" dirty="0">
                <a:solidFill>
                  <a:srgbClr val="17BEBB"/>
                </a:solidFill>
                <a:latin typeface="Space Grotesk" pitchFamily="34" charset="0"/>
                <a:ea typeface="Space Grotesk" pitchFamily="34" charset="-122"/>
                <a:cs typeface="Space Grotesk" pitchFamily="34" charset="-120"/>
              </a:rPr>
              <a:t>delivery efficiency</a:t>
            </a:r>
            <a:endParaRPr lang="en-US" sz="2800" dirty="0"/>
          </a:p>
        </p:txBody>
      </p:sp>
      <p:sp>
        <p:nvSpPr>
          <p:cNvPr id="4" name="pt:Bcm3q7nM0c"/>
          <p:cNvSpPr/>
          <p:nvPr/>
        </p:nvSpPr>
        <p:spPr>
          <a:xfrm>
            <a:off x="520700" y="1663700"/>
            <a:ext cx="3962400" cy="4813300"/>
          </a:xfrm>
          <a:prstGeom prst="roundRect">
            <a:avLst>
              <a:gd name="adj" fmla="val 2564"/>
            </a:avLst>
          </a:prstGeom>
          <a:solidFill>
            <a:srgbClr val="F8F0ED">
              <a:alpha val="12000"/>
            </a:srgbClr>
          </a:solidFill>
          <a:ln/>
        </p:spPr>
      </p:sp>
      <p:sp>
        <p:nvSpPr>
          <p:cNvPr id="5" name="pt:4pB92iH5qJ"/>
          <p:cNvSpPr/>
          <p:nvPr/>
        </p:nvSpPr>
        <p:spPr>
          <a:xfrm>
            <a:off x="457200" y="1587500"/>
            <a:ext cx="3962400" cy="4813300"/>
          </a:xfrm>
          <a:prstGeom prst="roundRect">
            <a:avLst>
              <a:gd name="adj" fmla="val 2564"/>
            </a:avLst>
          </a:prstGeom>
          <a:solidFill>
            <a:srgbClr val="1B0F0B"/>
          </a:solidFill>
          <a:ln w="12700">
            <a:solidFill>
              <a:srgbClr val="392E2A"/>
            </a:solidFill>
            <a:prstDash val="solid"/>
          </a:ln>
        </p:spPr>
      </p:sp>
      <p:sp>
        <p:nvSpPr>
          <p:cNvPr id="6" name="pt:Qxhzbd1e5j"/>
          <p:cNvSpPr/>
          <p:nvPr/>
        </p:nvSpPr>
        <p:spPr>
          <a:xfrm>
            <a:off x="685800" y="1816100"/>
            <a:ext cx="3505200" cy="508000"/>
          </a:xfrm>
          <a:prstGeom prst="rect">
            <a:avLst/>
          </a:prstGeom>
          <a:noFill/>
          <a:ln/>
        </p:spPr>
        <p:txBody>
          <a:bodyPr wrap="square" lIns="0" tIns="0" rIns="0" bIns="0" rtlCol="0" anchor="t"/>
          <a:lstStyle/>
          <a:p>
            <a:pPr algn="l" indent="0" marL="0">
              <a:lnSpc>
                <a:spcPct val="120000"/>
              </a:lnSpc>
              <a:buNone/>
            </a:pPr>
            <a:r>
              <a:rPr lang="en-US" sz="2000" b="1" dirty="0">
                <a:solidFill>
                  <a:srgbClr val="EA7C5C"/>
                </a:solidFill>
                <a:latin typeface="Space Grotesk" pitchFamily="34" charset="0"/>
                <a:ea typeface="Space Grotesk" pitchFamily="34" charset="-122"/>
                <a:cs typeface="Space Grotesk" pitchFamily="34" charset="-120"/>
              </a:rPr>
              <a:t>Typical enterprise tools</a:t>
            </a:r>
            <a:endParaRPr lang="en-US" sz="2000" dirty="0"/>
          </a:p>
        </p:txBody>
      </p:sp>
      <p:sp>
        <p:nvSpPr>
          <p:cNvPr id="7" name="pt:cZapEQNnst"/>
          <p:cNvSpPr/>
          <p:nvPr/>
        </p:nvSpPr>
        <p:spPr>
          <a:xfrm>
            <a:off x="685800" y="2413000"/>
            <a:ext cx="3505200" cy="3797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Built primarily for massive enterprise fleets</a:t>
            </a:r>
            <a:endParaRPr lang="en-US" sz="1500" dirty="0"/>
          </a:p>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Require months of complex onboarding</a:t>
            </a:r>
            <a:endParaRPr lang="en-US" sz="1500" dirty="0"/>
          </a:p>
          <a:p>
            <a:pPr algn="l" marL="342900" indent="-342900">
              <a:lnSpc>
                <a:spcPct val="120000"/>
              </a:lnSpc>
              <a:buSzPct val="100000"/>
              <a:buChar char="•"/>
            </a:pPr>
            <a:r>
              <a:rPr lang="en-US" sz="1500" dirty="0">
                <a:solidFill>
                  <a:srgbClr val="F8F0ED"/>
                </a:solidFill>
                <a:latin typeface="Inter" pitchFamily="34" charset="0"/>
                <a:ea typeface="Inter" pitchFamily="34" charset="-122"/>
                <a:cs typeface="Inter" pitchFamily="34" charset="-120"/>
              </a:rPr>
              <a:t>Use per-vehicle pricing that penalises growth</a:t>
            </a:r>
            <a:endParaRPr lang="en-US" sz="1500" dirty="0"/>
          </a:p>
        </p:txBody>
      </p:sp>
      <p:sp>
        <p:nvSpPr>
          <p:cNvPr id="8" name="pt:ZA5W8pAW0-"/>
          <p:cNvSpPr/>
          <p:nvPr/>
        </p:nvSpPr>
        <p:spPr>
          <a:xfrm>
            <a:off x="4787900" y="1663700"/>
            <a:ext cx="3962400" cy="4813300"/>
          </a:xfrm>
          <a:prstGeom prst="roundRect">
            <a:avLst>
              <a:gd name="adj" fmla="val 2564"/>
            </a:avLst>
          </a:prstGeom>
          <a:solidFill>
            <a:srgbClr val="F8F0ED">
              <a:alpha val="12000"/>
            </a:srgbClr>
          </a:solidFill>
          <a:ln/>
        </p:spPr>
      </p:sp>
      <p:sp>
        <p:nvSpPr>
          <p:cNvPr id="9" name="pt:gQh2F_Zx4d"/>
          <p:cNvSpPr/>
          <p:nvPr/>
        </p:nvSpPr>
        <p:spPr>
          <a:xfrm>
            <a:off x="4724400" y="1587500"/>
            <a:ext cx="3962400" cy="4813300"/>
          </a:xfrm>
          <a:prstGeom prst="roundRect">
            <a:avLst>
              <a:gd name="adj" fmla="val 2564"/>
            </a:avLst>
          </a:prstGeom>
          <a:solidFill>
            <a:srgbClr val="1B0F0B"/>
          </a:solidFill>
          <a:ln w="12700">
            <a:solidFill>
              <a:srgbClr val="392E2A"/>
            </a:solidFill>
            <a:prstDash val="solid"/>
          </a:ln>
        </p:spPr>
      </p:sp>
      <p:sp>
        <p:nvSpPr>
          <p:cNvPr id="10" name="pt:POBWl0jyCe"/>
          <p:cNvSpPr/>
          <p:nvPr/>
        </p:nvSpPr>
        <p:spPr>
          <a:xfrm>
            <a:off x="4953000" y="1816100"/>
            <a:ext cx="3505200" cy="508000"/>
          </a:xfrm>
          <a:prstGeom prst="rect">
            <a:avLst/>
          </a:prstGeom>
          <a:noFill/>
          <a:ln/>
        </p:spPr>
        <p:txBody>
          <a:bodyPr wrap="square" lIns="0" tIns="0" rIns="0" bIns="0" rtlCol="0" anchor="t"/>
          <a:lstStyle/>
          <a:p>
            <a:pPr algn="l" indent="0" marL="0">
              <a:lnSpc>
                <a:spcPct val="120000"/>
              </a:lnSpc>
              <a:buNone/>
            </a:pPr>
            <a:r>
              <a:rPr lang="en-US" sz="1800" b="1" dirty="0">
                <a:solidFill>
                  <a:srgbClr val="EA7C5C"/>
                </a:solidFill>
                <a:latin typeface="Space Grotesk" pitchFamily="34" charset="0"/>
                <a:ea typeface="Space Grotesk" pitchFamily="34" charset="-122"/>
                <a:cs typeface="Space Grotesk" pitchFamily="34" charset="-120"/>
              </a:rPr>
              <a:t>Northwind delivery platform</a:t>
            </a:r>
            <a:endParaRPr lang="en-US" sz="1800" dirty="0"/>
          </a:p>
        </p:txBody>
      </p:sp>
      <p:sp>
        <p:nvSpPr>
          <p:cNvPr id="11" name="pt:iPSlmFzEh4"/>
          <p:cNvSpPr/>
          <p:nvPr/>
        </p:nvSpPr>
        <p:spPr>
          <a:xfrm>
            <a:off x="4953000" y="2413000"/>
            <a:ext cx="3505200" cy="3797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Tackles the 23% of delivery spend wasted on empty miles and failed first attempts</a:t>
            </a:r>
            <a:endParaRPr lang="en-US" sz="1500" dirty="0"/>
          </a:p>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Designed specifically for fleets of 5 to 200 vehicles</a:t>
            </a:r>
            <a:endParaRPr lang="en-US" sz="1500" dirty="0"/>
          </a:p>
          <a:p>
            <a:pPr algn="l" marL="342900" indent="-342900">
              <a:lnSpc>
                <a:spcPct val="120000"/>
              </a:lnSpc>
              <a:buSzPct val="100000"/>
              <a:buChar char="•"/>
            </a:pPr>
            <a:r>
              <a:rPr lang="en-US" sz="1500" dirty="0">
                <a:solidFill>
                  <a:srgbClr val="F8F0ED"/>
                </a:solidFill>
                <a:latin typeface="Inter" pitchFamily="34" charset="0"/>
                <a:ea typeface="Inter" pitchFamily="34" charset="-122"/>
                <a:cs typeface="Inter" pitchFamily="34" charset="-120"/>
              </a:rPr>
              <a:t>Goes live in a single afternoon with simple flat pricing</a:t>
            </a:r>
            <a:endParaRPr lang="en-US" sz="1500" dirty="0"/>
          </a:p>
        </p:txBody>
      </p:sp>
      <p:sp>
        <p:nvSpPr>
          <p:cNvPr id="12" name="pt:qe7dYtzsF5"/>
          <p:cNvSpPr/>
          <p:nvPr/>
        </p:nvSpPr>
        <p:spPr>
          <a:xfrm>
            <a:off x="412750" y="6451600"/>
            <a:ext cx="361950" cy="361950"/>
          </a:xfrm>
          <a:prstGeom prst="roundRect">
            <a:avLst>
              <a:gd name="adj" fmla="val 12281"/>
            </a:avLst>
          </a:prstGeom>
          <a:solidFill>
            <a:srgbClr val="FFFFFF"/>
          </a:solidFill>
          <a:ln/>
        </p:spPr>
      </p:sp>
      <p:pic>
        <p:nvPicPr>
          <p:cNvPr id="13" name="pt:EqqyAicTyi"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88000" y="88000"/>
                                      <p:to x="100000" y="100000"/>
                                    </p:animScale>
                                  </p:childTnLst>
                                </p:cTn>
                              </p:par>
                              <p:par>
                                <p:cTn id="16" presetID="53" presetClass="entr" presetSubtype="16" fill="hold" decel="100000" grpId="0" nodeType="withEffect">
                                  <p:stCondLst>
                                    <p:cond delay="20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450"/>
                                        <p:tgtEl>
                                          <p:spTgt spid="7">
                                            <p:txEl>
                                              <p:pRg st="0" end="0"/>
                                            </p:txEl>
                                          </p:spTgt>
                                        </p:tgtEl>
                                      </p:cBhvr>
                                    </p:animEffect>
                                    <p:animScale>
                                      <p:cBhvr>
                                        <p:cTn id="15" dur="450" fill="hold"/>
                                        <p:tgtEl>
                                          <p:spTgt spid="7">
                                            <p:txEl>
                                              <p:pRg st="0" end="0"/>
                                            </p:txEl>
                                          </p:spTgt>
                                        </p:tgtEl>
                                      </p:cBhvr>
                                      <p:from x="88000" y="88000"/>
                                      <p:to x="100000" y="100000"/>
                                    </p:animScale>
                                  </p:childTnLst>
                                </p:cTn>
                              </p:par>
                              <p:par>
                                <p:cTn id="20" presetID="53" presetClass="entr" presetSubtype="16" fill="hold" decel="100000" grpId="0" nodeType="withEffect">
                                  <p:stCondLst>
                                    <p:cond delay="28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450"/>
                                        <p:tgtEl>
                                          <p:spTgt spid="7">
                                            <p:txEl>
                                              <p:pRg st="1" end="1"/>
                                            </p:txEl>
                                          </p:spTgt>
                                        </p:tgtEl>
                                      </p:cBhvr>
                                    </p:animEffect>
                                    <p:animScale>
                                      <p:cBhvr>
                                        <p:cTn id="19" dur="450" fill="hold"/>
                                        <p:tgtEl>
                                          <p:spTgt spid="7">
                                            <p:txEl>
                                              <p:pRg st="1" end="1"/>
                                            </p:txEl>
                                          </p:spTgt>
                                        </p:tgtEl>
                                      </p:cBhvr>
                                      <p:from x="88000" y="88000"/>
                                      <p:to x="100000" y="100000"/>
                                    </p:animScale>
                                  </p:childTnLst>
                                </p:cTn>
                              </p:par>
                              <p:par>
                                <p:cTn id="24" presetID="53" presetClass="entr" presetSubtype="16" fill="hold" decel="100000" grpId="0" nodeType="withEffect">
                                  <p:stCondLst>
                                    <p:cond delay="36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450"/>
                                        <p:tgtEl>
                                          <p:spTgt spid="7">
                                            <p:txEl>
                                              <p:pRg st="2" end="2"/>
                                            </p:txEl>
                                          </p:spTgt>
                                        </p:tgtEl>
                                      </p:cBhvr>
                                    </p:animEffect>
                                    <p:animScale>
                                      <p:cBhvr>
                                        <p:cTn id="23" dur="450" fill="hold"/>
                                        <p:tgtEl>
                                          <p:spTgt spid="7">
                                            <p:txEl>
                                              <p:pRg st="2" end="2"/>
                                            </p:txEl>
                                          </p:spTgt>
                                        </p:tgtEl>
                                      </p:cBhvr>
                                      <p:from x="88000" y="88000"/>
                                      <p:to x="100000" y="100000"/>
                                    </p:animScale>
                                  </p:childTnLst>
                                </p:cTn>
                              </p:par>
                              <p:par>
                                <p:cTn id="28" presetID="53" presetClass="entr" presetSubtype="16" fill="hold" decel="100000" nodeType="withEffect">
                                  <p:stCondLst>
                                    <p:cond delay="3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Scale>
                                      <p:cBhvr>
                                        <p:cTn id="27" dur="450" fill="hold"/>
                                        <p:tgtEl>
                                          <p:spTgt spid="9"/>
                                        </p:tgtEl>
                                      </p:cBhvr>
                                      <p:from x="88000" y="88000"/>
                                      <p:to x="100000" y="100000"/>
                                    </p:animScale>
                                  </p:childTnLst>
                                </p:cTn>
                              </p:par>
                              <p:par>
                                <p:cTn id="32" presetID="53" presetClass="entr" presetSubtype="16" fill="hold" decel="100000" grpId="0" nodeType="withEffect">
                                  <p:stCondLst>
                                    <p:cond delay="400"/>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fade">
                                      <p:cBhvr>
                                        <p:cTn id="30" dur="450"/>
                                        <p:tgtEl>
                                          <p:spTgt spid="11">
                                            <p:txEl>
                                              <p:pRg st="0" end="0"/>
                                            </p:txEl>
                                          </p:spTgt>
                                        </p:tgtEl>
                                      </p:cBhvr>
                                    </p:animEffect>
                                    <p:animScale>
                                      <p:cBhvr>
                                        <p:cTn id="31" dur="450" fill="hold"/>
                                        <p:tgtEl>
                                          <p:spTgt spid="11">
                                            <p:txEl>
                                              <p:pRg st="0" end="0"/>
                                            </p:txEl>
                                          </p:spTgt>
                                        </p:tgtEl>
                                      </p:cBhvr>
                                      <p:from x="88000" y="88000"/>
                                      <p:to x="100000" y="100000"/>
                                    </p:animScale>
                                  </p:childTnLst>
                                </p:cTn>
                              </p:par>
                              <p:par>
                                <p:cTn id="36" presetID="53" presetClass="entr" presetSubtype="16" fill="hold" decel="100000" grpId="0" nodeType="withEffect">
                                  <p:stCondLst>
                                    <p:cond delay="480"/>
                                  </p:stCondLst>
                                  <p:childTnLst>
                                    <p:set>
                                      <p:cBhvr>
                                        <p:cTn id="33" dur="1" fill="hold">
                                          <p:stCondLst>
                                            <p:cond delay="0"/>
                                          </p:stCondLst>
                                        </p:cTn>
                                        <p:tgtEl>
                                          <p:spTgt spid="11">
                                            <p:txEl>
                                              <p:pRg st="1" end="1"/>
                                            </p:txEl>
                                          </p:spTgt>
                                        </p:tgtEl>
                                        <p:attrNameLst>
                                          <p:attrName>style.visibility</p:attrName>
                                        </p:attrNameLst>
                                      </p:cBhvr>
                                      <p:to>
                                        <p:strVal val="visible"/>
                                      </p:to>
                                    </p:set>
                                    <p:animEffect transition="in" filter="fade">
                                      <p:cBhvr>
                                        <p:cTn id="34" dur="450"/>
                                        <p:tgtEl>
                                          <p:spTgt spid="11">
                                            <p:txEl>
                                              <p:pRg st="1" end="1"/>
                                            </p:txEl>
                                          </p:spTgt>
                                        </p:tgtEl>
                                      </p:cBhvr>
                                    </p:animEffect>
                                    <p:animScale>
                                      <p:cBhvr>
                                        <p:cTn id="35" dur="450" fill="hold"/>
                                        <p:tgtEl>
                                          <p:spTgt spid="11">
                                            <p:txEl>
                                              <p:pRg st="1" end="1"/>
                                            </p:txEl>
                                          </p:spTgt>
                                        </p:tgtEl>
                                      </p:cBhvr>
                                      <p:from x="88000" y="88000"/>
                                      <p:to x="100000" y="100000"/>
                                    </p:animScale>
                                  </p:childTnLst>
                                </p:cTn>
                              </p:par>
                              <p:par>
                                <p:cTn id="40" presetID="53" presetClass="entr" presetSubtype="16" fill="hold" decel="100000" grpId="0" nodeType="withEffect">
                                  <p:stCondLst>
                                    <p:cond delay="560"/>
                                  </p:stCondLst>
                                  <p:childTnLst>
                                    <p:set>
                                      <p:cBhvr>
                                        <p:cTn id="37" dur="1" fill="hold">
                                          <p:stCondLst>
                                            <p:cond delay="0"/>
                                          </p:stCondLst>
                                        </p:cTn>
                                        <p:tgtEl>
                                          <p:spTgt spid="11">
                                            <p:txEl>
                                              <p:pRg st="2" end="2"/>
                                            </p:txEl>
                                          </p:spTgt>
                                        </p:tgtEl>
                                        <p:attrNameLst>
                                          <p:attrName>style.visibility</p:attrName>
                                        </p:attrNameLst>
                                      </p:cBhvr>
                                      <p:to>
                                        <p:strVal val="visible"/>
                                      </p:to>
                                    </p:set>
                                    <p:animEffect transition="in" filter="fade">
                                      <p:cBhvr>
                                        <p:cTn id="38" dur="450"/>
                                        <p:tgtEl>
                                          <p:spTgt spid="11">
                                            <p:txEl>
                                              <p:pRg st="2" end="2"/>
                                            </p:txEl>
                                          </p:spTgt>
                                        </p:tgtEl>
                                      </p:cBhvr>
                                    </p:animEffect>
                                    <p:animScale>
                                      <p:cBhvr>
                                        <p:cTn id="39" dur="450" fill="hold"/>
                                        <p:tgtEl>
                                          <p:spTgt spid="11">
                                            <p:txEl>
                                              <p:pRg st="2" end="2"/>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4eG2AZgojM"/>
          <p:cNvSpPr/>
          <p:nvPr/>
        </p:nvSpPr>
        <p:spPr>
          <a:xfrm>
            <a:off x="0" y="228600"/>
            <a:ext cx="9144000" cy="12700"/>
          </a:xfrm>
          <a:prstGeom prst="rect">
            <a:avLst/>
          </a:prstGeom>
          <a:solidFill>
            <a:srgbClr val="392E2A"/>
          </a:solidFill>
          <a:ln/>
        </p:spPr>
      </p:sp>
      <p:sp>
        <p:nvSpPr>
          <p:cNvPr id="3" name="pt:JW6HrVa611"/>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F8F0ED"/>
                </a:solidFill>
                <a:latin typeface="Space Grotesk" pitchFamily="34" charset="0"/>
                <a:ea typeface="Space Grotesk" pitchFamily="34" charset="-122"/>
                <a:cs typeface="Space Grotesk" pitchFamily="34" charset="-120"/>
              </a:rPr>
              <a:t>A seamless process from order intake </a:t>
            </a:r>
            <a:pPr algn="l" indent="0" marL="0">
              <a:lnSpc>
                <a:spcPct val="120000"/>
              </a:lnSpc>
              <a:buNone/>
            </a:pPr>
            <a:r>
              <a:rPr lang="en-US" sz="2800" b="1" dirty="0">
                <a:solidFill>
                  <a:srgbClr val="17BEBB"/>
                </a:solidFill>
                <a:latin typeface="Space Grotesk" pitchFamily="34" charset="0"/>
                <a:ea typeface="Space Grotesk" pitchFamily="34" charset="-122"/>
                <a:cs typeface="Space Grotesk" pitchFamily="34" charset="-120"/>
              </a:rPr>
              <a:t>to final delivery</a:t>
            </a:r>
            <a:endParaRPr lang="en-US" sz="2800" dirty="0"/>
          </a:p>
        </p:txBody>
      </p:sp>
      <p:sp>
        <p:nvSpPr>
          <p:cNvPr id="4" name="pt:Lmz9D3nZnW"/>
          <p:cNvSpPr/>
          <p:nvPr/>
        </p:nvSpPr>
        <p:spPr>
          <a:xfrm>
            <a:off x="520700" y="1663700"/>
            <a:ext cx="1905000" cy="3302000"/>
          </a:xfrm>
          <a:prstGeom prst="roundRect">
            <a:avLst>
              <a:gd name="adj" fmla="val 5333"/>
            </a:avLst>
          </a:prstGeom>
          <a:solidFill>
            <a:srgbClr val="F8F0ED">
              <a:alpha val="12000"/>
            </a:srgbClr>
          </a:solidFill>
          <a:ln/>
        </p:spPr>
      </p:sp>
      <p:sp>
        <p:nvSpPr>
          <p:cNvPr id="5" name="pt:vVB5ms7xI5"/>
          <p:cNvSpPr/>
          <p:nvPr/>
        </p:nvSpPr>
        <p:spPr>
          <a:xfrm>
            <a:off x="457200" y="1587500"/>
            <a:ext cx="1905000" cy="3302000"/>
          </a:xfrm>
          <a:prstGeom prst="roundRect">
            <a:avLst>
              <a:gd name="adj" fmla="val 5333"/>
            </a:avLst>
          </a:prstGeom>
          <a:solidFill>
            <a:srgbClr val="1B0F0B"/>
          </a:solidFill>
          <a:ln w="12700">
            <a:solidFill>
              <a:srgbClr val="392E2A"/>
            </a:solidFill>
            <a:prstDash val="solid"/>
          </a:ln>
        </p:spPr>
      </p:sp>
      <p:sp>
        <p:nvSpPr>
          <p:cNvPr id="6" name="pt:Uk7GxnHEaS"/>
          <p:cNvSpPr/>
          <p:nvPr/>
        </p:nvSpPr>
        <p:spPr>
          <a:xfrm>
            <a:off x="6350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01</a:t>
            </a:r>
            <a:endParaRPr lang="en-US" sz="2800" dirty="0"/>
          </a:p>
        </p:txBody>
      </p:sp>
      <p:sp>
        <p:nvSpPr>
          <p:cNvPr id="7" name="pt:0HgFhpXcec"/>
          <p:cNvSpPr/>
          <p:nvPr/>
        </p:nvSpPr>
        <p:spPr>
          <a:xfrm>
            <a:off x="6350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Import</a:t>
            </a:r>
            <a:endParaRPr lang="en-US" sz="1700" dirty="0"/>
          </a:p>
        </p:txBody>
      </p:sp>
      <p:sp>
        <p:nvSpPr>
          <p:cNvPr id="8" name="pt:cRuaeK94dC"/>
          <p:cNvSpPr/>
          <p:nvPr/>
        </p:nvSpPr>
        <p:spPr>
          <a:xfrm>
            <a:off x="6350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Upload the day's orders or sync your existing system</a:t>
            </a:r>
            <a:endParaRPr lang="en-US" sz="1300" dirty="0"/>
          </a:p>
        </p:txBody>
      </p:sp>
      <p:sp>
        <p:nvSpPr>
          <p:cNvPr id="9" name="pt:KB8yIAp9o8"/>
          <p:cNvSpPr/>
          <p:nvPr/>
        </p:nvSpPr>
        <p:spPr>
          <a:xfrm>
            <a:off x="2628900" y="1663700"/>
            <a:ext cx="1905000" cy="3302000"/>
          </a:xfrm>
          <a:prstGeom prst="roundRect">
            <a:avLst>
              <a:gd name="adj" fmla="val 5333"/>
            </a:avLst>
          </a:prstGeom>
          <a:solidFill>
            <a:srgbClr val="F8F0ED">
              <a:alpha val="12000"/>
            </a:srgbClr>
          </a:solidFill>
          <a:ln/>
        </p:spPr>
      </p:sp>
      <p:sp>
        <p:nvSpPr>
          <p:cNvPr id="10" name="pt:Yn6MD9UV__"/>
          <p:cNvSpPr/>
          <p:nvPr/>
        </p:nvSpPr>
        <p:spPr>
          <a:xfrm>
            <a:off x="2565400" y="1587500"/>
            <a:ext cx="1905000" cy="3302000"/>
          </a:xfrm>
          <a:prstGeom prst="roundRect">
            <a:avLst>
              <a:gd name="adj" fmla="val 5333"/>
            </a:avLst>
          </a:prstGeom>
          <a:solidFill>
            <a:srgbClr val="1B0F0B"/>
          </a:solidFill>
          <a:ln w="12700">
            <a:solidFill>
              <a:srgbClr val="392E2A"/>
            </a:solidFill>
            <a:prstDash val="solid"/>
          </a:ln>
        </p:spPr>
      </p:sp>
      <p:sp>
        <p:nvSpPr>
          <p:cNvPr id="11" name="pt:YIzdx7_Vfk"/>
          <p:cNvSpPr/>
          <p:nvPr/>
        </p:nvSpPr>
        <p:spPr>
          <a:xfrm>
            <a:off x="27432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02</a:t>
            </a:r>
            <a:endParaRPr lang="en-US" sz="2800" dirty="0"/>
          </a:p>
        </p:txBody>
      </p:sp>
      <p:sp>
        <p:nvSpPr>
          <p:cNvPr id="12" name="pt:Fbi1gM68Wt"/>
          <p:cNvSpPr/>
          <p:nvPr/>
        </p:nvSpPr>
        <p:spPr>
          <a:xfrm>
            <a:off x="27432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Plan</a:t>
            </a:r>
            <a:endParaRPr lang="en-US" sz="1700" dirty="0"/>
          </a:p>
        </p:txBody>
      </p:sp>
      <p:sp>
        <p:nvSpPr>
          <p:cNvPr id="13" name="pt:B1G79tev34"/>
          <p:cNvSpPr/>
          <p:nvPr/>
        </p:nvSpPr>
        <p:spPr>
          <a:xfrm>
            <a:off x="27432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Routes are optimised for time, cost and capacity in under a minute</a:t>
            </a:r>
            <a:endParaRPr lang="en-US" sz="1300" dirty="0"/>
          </a:p>
        </p:txBody>
      </p:sp>
      <p:sp>
        <p:nvSpPr>
          <p:cNvPr id="14" name="pt:2jjrLjiZB9"/>
          <p:cNvSpPr/>
          <p:nvPr/>
        </p:nvSpPr>
        <p:spPr>
          <a:xfrm>
            <a:off x="4737100" y="1663700"/>
            <a:ext cx="1905000" cy="3302000"/>
          </a:xfrm>
          <a:prstGeom prst="roundRect">
            <a:avLst>
              <a:gd name="adj" fmla="val 5333"/>
            </a:avLst>
          </a:prstGeom>
          <a:solidFill>
            <a:srgbClr val="F8F0ED">
              <a:alpha val="12000"/>
            </a:srgbClr>
          </a:solidFill>
          <a:ln/>
        </p:spPr>
      </p:sp>
      <p:sp>
        <p:nvSpPr>
          <p:cNvPr id="15" name="pt:KLKFeuO66e"/>
          <p:cNvSpPr/>
          <p:nvPr/>
        </p:nvSpPr>
        <p:spPr>
          <a:xfrm>
            <a:off x="4673600" y="1587500"/>
            <a:ext cx="1905000" cy="3302000"/>
          </a:xfrm>
          <a:prstGeom prst="roundRect">
            <a:avLst>
              <a:gd name="adj" fmla="val 5333"/>
            </a:avLst>
          </a:prstGeom>
          <a:solidFill>
            <a:srgbClr val="1B0F0B"/>
          </a:solidFill>
          <a:ln w="12700">
            <a:solidFill>
              <a:srgbClr val="392E2A"/>
            </a:solidFill>
            <a:prstDash val="solid"/>
          </a:ln>
        </p:spPr>
      </p:sp>
      <p:sp>
        <p:nvSpPr>
          <p:cNvPr id="16" name="pt:nmt2MfGPDP"/>
          <p:cNvSpPr/>
          <p:nvPr/>
        </p:nvSpPr>
        <p:spPr>
          <a:xfrm>
            <a:off x="48514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03</a:t>
            </a:r>
            <a:endParaRPr lang="en-US" sz="2800" dirty="0"/>
          </a:p>
        </p:txBody>
      </p:sp>
      <p:sp>
        <p:nvSpPr>
          <p:cNvPr id="17" name="pt:xfjxidby-Z"/>
          <p:cNvSpPr/>
          <p:nvPr/>
        </p:nvSpPr>
        <p:spPr>
          <a:xfrm>
            <a:off x="48514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Deliver</a:t>
            </a:r>
            <a:endParaRPr lang="en-US" sz="1700" dirty="0"/>
          </a:p>
        </p:txBody>
      </p:sp>
      <p:sp>
        <p:nvSpPr>
          <p:cNvPr id="18" name="pt:LJhMb6BYZ4"/>
          <p:cNvSpPr/>
          <p:nvPr/>
        </p:nvSpPr>
        <p:spPr>
          <a:xfrm>
            <a:off x="48514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Drivers follow turn-by-turn routes directly in the mobile app</a:t>
            </a:r>
            <a:endParaRPr lang="en-US" sz="1300" dirty="0"/>
          </a:p>
        </p:txBody>
      </p:sp>
      <p:sp>
        <p:nvSpPr>
          <p:cNvPr id="19" name="pt:P130lt9ATe"/>
          <p:cNvSpPr/>
          <p:nvPr/>
        </p:nvSpPr>
        <p:spPr>
          <a:xfrm>
            <a:off x="6845300" y="1663700"/>
            <a:ext cx="1905000" cy="3302000"/>
          </a:xfrm>
          <a:prstGeom prst="roundRect">
            <a:avLst>
              <a:gd name="adj" fmla="val 5333"/>
            </a:avLst>
          </a:prstGeom>
          <a:solidFill>
            <a:srgbClr val="F8F0ED">
              <a:alpha val="12000"/>
            </a:srgbClr>
          </a:solidFill>
          <a:ln/>
        </p:spPr>
      </p:sp>
      <p:sp>
        <p:nvSpPr>
          <p:cNvPr id="20" name="pt:TP3HDGKmPC"/>
          <p:cNvSpPr/>
          <p:nvPr/>
        </p:nvSpPr>
        <p:spPr>
          <a:xfrm>
            <a:off x="6781800" y="1587500"/>
            <a:ext cx="1905000" cy="3302000"/>
          </a:xfrm>
          <a:prstGeom prst="roundRect">
            <a:avLst>
              <a:gd name="adj" fmla="val 5333"/>
            </a:avLst>
          </a:prstGeom>
          <a:solidFill>
            <a:srgbClr val="1B0F0B"/>
          </a:solidFill>
          <a:ln w="12700">
            <a:solidFill>
              <a:srgbClr val="392E2A"/>
            </a:solidFill>
            <a:prstDash val="solid"/>
          </a:ln>
        </p:spPr>
      </p:sp>
      <p:sp>
        <p:nvSpPr>
          <p:cNvPr id="21" name="pt:OEN5Lr4ylY"/>
          <p:cNvSpPr/>
          <p:nvPr/>
        </p:nvSpPr>
        <p:spPr>
          <a:xfrm>
            <a:off x="69596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04</a:t>
            </a:r>
            <a:endParaRPr lang="en-US" sz="2800" dirty="0"/>
          </a:p>
        </p:txBody>
      </p:sp>
      <p:sp>
        <p:nvSpPr>
          <p:cNvPr id="22" name="pt:gjUO0D_GmC"/>
          <p:cNvSpPr/>
          <p:nvPr/>
        </p:nvSpPr>
        <p:spPr>
          <a:xfrm>
            <a:off x="69596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Notify</a:t>
            </a:r>
            <a:endParaRPr lang="en-US" sz="1700" dirty="0"/>
          </a:p>
        </p:txBody>
      </p:sp>
      <p:sp>
        <p:nvSpPr>
          <p:cNvPr id="23" name="pt:COYYUGZBPU"/>
          <p:cNvSpPr/>
          <p:nvPr/>
        </p:nvSpPr>
        <p:spPr>
          <a:xfrm>
            <a:off x="69596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Customers get accurate live delivery windows and instant proof of delivery</a:t>
            </a:r>
            <a:endParaRPr lang="en-US" sz="1300" dirty="0"/>
          </a:p>
        </p:txBody>
      </p:sp>
      <p:sp>
        <p:nvSpPr>
          <p:cNvPr id="24" name="pt:9_4kWQR_5e"/>
          <p:cNvSpPr/>
          <p:nvPr/>
        </p:nvSpPr>
        <p:spPr>
          <a:xfrm>
            <a:off x="412750" y="6451600"/>
            <a:ext cx="361950" cy="361950"/>
          </a:xfrm>
          <a:prstGeom prst="roundRect">
            <a:avLst>
              <a:gd name="adj" fmla="val 12281"/>
            </a:avLst>
          </a:prstGeom>
          <a:solidFill>
            <a:srgbClr val="FFFFFF"/>
          </a:solidFill>
          <a:ln/>
        </p:spPr>
      </p:sp>
      <p:pic>
        <p:nvPicPr>
          <p:cNvPr id="25" name="pt:5BSqKKOLfS"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8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88000" y="88000"/>
                                      <p:to x="100000" y="100000"/>
                                    </p:animScale>
                                  </p:childTnLst>
                                </p:cTn>
                              </p:par>
                              <p:par>
                                <p:cTn id="16" presetID="53" presetClass="entr" presetSubtype="16" fill="hold" decel="100000" nodeType="withEffect">
                                  <p:stCondLst>
                                    <p:cond delay="175"/>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Scale>
                                      <p:cBhvr>
                                        <p:cTn id="15" dur="450" fill="hold"/>
                                        <p:tgtEl>
                                          <p:spTgt spid="7"/>
                                        </p:tgtEl>
                                      </p:cBhvr>
                                      <p:from x="88000" y="88000"/>
                                      <p:to x="100000" y="100000"/>
                                    </p:animScale>
                                  </p:childTnLst>
                                </p:cTn>
                              </p:par>
                              <p:par>
                                <p:cTn id="20" presetID="53" presetClass="entr" presetSubtype="16" fill="hold" decel="100000" nodeType="withEffect">
                                  <p:stCondLst>
                                    <p:cond delay="263"/>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animScale>
                                      <p:cBhvr>
                                        <p:cTn id="19" dur="450" fill="hold"/>
                                        <p:tgtEl>
                                          <p:spTgt spid="10"/>
                                        </p:tgtEl>
                                      </p:cBhvr>
                                      <p:from x="88000" y="88000"/>
                                      <p:to x="100000" y="100000"/>
                                    </p:animScale>
                                  </p:childTnLst>
                                </p:cTn>
                              </p:par>
                              <p:par>
                                <p:cTn id="24" presetID="53" presetClass="entr" presetSubtype="16" fill="hold" decel="100000" nodeType="withEffect">
                                  <p:stCondLst>
                                    <p:cond delay="3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animScale>
                                      <p:cBhvr>
                                        <p:cTn id="23" dur="450" fill="hold"/>
                                        <p:tgtEl>
                                          <p:spTgt spid="12"/>
                                        </p:tgtEl>
                                      </p:cBhvr>
                                      <p:from x="88000" y="88000"/>
                                      <p:to x="100000" y="100000"/>
                                    </p:animScale>
                                  </p:childTnLst>
                                </p:cTn>
                              </p:par>
                              <p:par>
                                <p:cTn id="28" presetID="53" presetClass="entr" presetSubtype="16" fill="hold" decel="100000" nodeType="withEffect">
                                  <p:stCondLst>
                                    <p:cond delay="438"/>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animScale>
                                      <p:cBhvr>
                                        <p:cTn id="27" dur="450" fill="hold"/>
                                        <p:tgtEl>
                                          <p:spTgt spid="15"/>
                                        </p:tgtEl>
                                      </p:cBhvr>
                                      <p:from x="88000" y="88000"/>
                                      <p:to x="100000" y="100000"/>
                                    </p:animScale>
                                  </p:childTnLst>
                                </p:cTn>
                              </p:par>
                              <p:par>
                                <p:cTn id="32" presetID="53" presetClass="entr" presetSubtype="16" fill="hold" decel="100000" nodeType="withEffect">
                                  <p:stCondLst>
                                    <p:cond delay="525"/>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animScale>
                                      <p:cBhvr>
                                        <p:cTn id="31" dur="450" fill="hold"/>
                                        <p:tgtEl>
                                          <p:spTgt spid="17"/>
                                        </p:tgtEl>
                                      </p:cBhvr>
                                      <p:from x="88000" y="88000"/>
                                      <p:to x="100000" y="100000"/>
                                    </p:animScale>
                                  </p:childTnLst>
                                </p:cTn>
                              </p:par>
                              <p:par>
                                <p:cTn id="36" presetID="53" presetClass="entr" presetSubtype="16" fill="hold" decel="100000" nodeType="withEffect">
                                  <p:stCondLst>
                                    <p:cond delay="613"/>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animScale>
                                      <p:cBhvr>
                                        <p:cTn id="35" dur="450" fill="hold"/>
                                        <p:tgtEl>
                                          <p:spTgt spid="20"/>
                                        </p:tgtEl>
                                      </p:cBhvr>
                                      <p:from x="88000" y="88000"/>
                                      <p:to x="100000" y="100000"/>
                                    </p:animScale>
                                  </p:childTnLst>
                                </p:cTn>
                              </p:par>
                              <p:par>
                                <p:cTn id="40" presetID="53" presetClass="entr" presetSubtype="16" fill="hold" decel="100000" nodeType="withEffect">
                                  <p:stCondLst>
                                    <p:cond delay="7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animScale>
                                      <p:cBhvr>
                                        <p:cTn id="39" dur="450" fill="hold"/>
                                        <p:tgtEl>
                                          <p:spTgt spid="22"/>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0C09"/>
        </a:solidFill>
      </p:bgPr>
    </p:bg>
    <p:spTree>
      <p:nvGrpSpPr>
        <p:cNvPr id="1" name=""/>
        <p:cNvGrpSpPr/>
        <p:nvPr/>
      </p:nvGrpSpPr>
      <p:grpSpPr>
        <a:xfrm>
          <a:off x="0" y="0"/>
          <a:ext cx="0" cy="0"/>
          <a:chOff x="0" y="0"/>
          <a:chExt cx="0" cy="0"/>
        </a:xfrm>
      </p:grpSpPr>
      <p:pic>
        <p:nvPicPr>
          <p:cNvPr id="2" name="pt:Q7q7hNTQya" descr="Couple signing for a package delivery at the door">    </p:cNvPr>
          <p:cNvPicPr>
            <a:picLocks noChangeAspect="1"/>
          </p:cNvPicPr>
          <p:nvPr/>
        </p:nvPicPr>
        <p:blipFill>
          <a:blip r:embed="rId1"/>
          <a:srcRect l="0" r="0" t="0" b="0"/>
          <a:stretch/>
        </p:blipFill>
        <p:spPr>
          <a:xfrm>
            <a:off x="0" y="0"/>
            <a:ext cx="9144000" cy="6858000"/>
          </a:xfrm>
          <a:prstGeom prst="rect">
            <a:avLst/>
          </a:prstGeom>
        </p:spPr>
      </p:pic>
      <p:pic>
        <p:nvPicPr>
          <p:cNvPr id="3" name="pt:Q7q7hNTQya"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W4sIPJTB6B"/>
          <p:cNvSpPr/>
          <p:nvPr/>
        </p:nvSpPr>
        <p:spPr>
          <a:xfrm>
            <a:off x="457200" y="2880360"/>
            <a:ext cx="698500" cy="50800"/>
          </a:xfrm>
          <a:prstGeom prst="roundRect">
            <a:avLst>
              <a:gd name="adj" fmla="val 50000"/>
            </a:avLst>
          </a:prstGeom>
          <a:solidFill>
            <a:srgbClr val="17BEBB"/>
          </a:solidFill>
          <a:ln/>
        </p:spPr>
      </p:sp>
      <p:sp>
        <p:nvSpPr>
          <p:cNvPr id="5" name="pt:C1leKW_zB7"/>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Partner with Northwind</a:t>
            </a:r>
            <a:endParaRPr lang="en-US" sz="3600" dirty="0"/>
          </a:p>
        </p:txBody>
      </p:sp>
      <p:sp>
        <p:nvSpPr>
          <p:cNvPr id="6" name="pt:MBOwJsylHZ"/>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priya@northwind.example · northwind.example</a:t>
            </a:r>
            <a:endParaRPr lang="en-US" sz="1600" dirty="0"/>
          </a:p>
        </p:txBody>
      </p:sp>
      <p:sp>
        <p:nvSpPr>
          <p:cNvPr id="7" name="pt:F3rTIqu2nn"/>
          <p:cNvSpPr/>
          <p:nvPr/>
        </p:nvSpPr>
        <p:spPr>
          <a:xfrm>
            <a:off x="412750" y="6451600"/>
            <a:ext cx="361950" cy="361950"/>
          </a:xfrm>
          <a:prstGeom prst="roundRect">
            <a:avLst>
              <a:gd name="adj" fmla="val 12281"/>
            </a:avLst>
          </a:prstGeom>
          <a:solidFill>
            <a:srgbClr val="FFFFFF"/>
          </a:solidFill>
          <a:ln/>
        </p:spPr>
      </p:sp>
      <p:pic>
        <p:nvPicPr>
          <p:cNvPr id="8" name="pt:4zb_1zliUv"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Remix edited 4757</dc:title>
  <dc:subject>PptxGenJS Presentation</dc:subject>
  <dc:creator>PptxGenJS</dc:creator>
  <cp:lastModifiedBy>PptxGenJS</cp:lastModifiedBy>
  <cp:revision>1</cp:revision>
  <dcterms:created xsi:type="dcterms:W3CDTF">2026-10-10T04:56:50Z</dcterms:created>
  <dcterms:modified xsi:type="dcterms:W3CDTF">2026-10-10T04:56:50Z</dcterms:modified>
</cp:coreProperties>
</file>