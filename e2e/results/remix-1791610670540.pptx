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I'm excited to present Northwind, our dedicated logistics platform designed specifically to eliminate inefficiencies and significantly reduce delivery costs for mid-sized fleet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fleets face immense margin pressure today. Up to 23% of total delivery spend is lost to unoptimized empty miles and missed delivery windows. Traditional enterprise logistics systems simply aren't tailored to the operational needs of mid-sized and smaller fleets.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software turns complex daily logistics into a clear four-step workflow. You start by importing orders, let the engine build optimal routes in under a minute, and send your drivers out with their existing phones. Finally, automated tracking keeps your end customers informed every step of the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exploring how Northwind transforms fleet management. Unlike traditional enterprise tools that require lengthy onboarding and complex pricing, Northwind is designed for rapid deployment and immediate value. We look forward to partnering with your fleet to streamline operations and drive delivery success.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0C09"/>
        </a:solidFill>
      </p:bgPr>
    </p:bg>
    <p:spTree>
      <p:nvGrpSpPr>
        <p:cNvPr id="1" name=""/>
        <p:cNvGrpSpPr/>
        <p:nvPr/>
      </p:nvGrpSpPr>
      <p:grpSpPr>
        <a:xfrm>
          <a:off x="0" y="0"/>
          <a:ext cx="0" cy="0"/>
          <a:chOff x="0" y="0"/>
          <a:chExt cx="0" cy="0"/>
        </a:xfrm>
      </p:grpSpPr>
      <p:pic>
        <p:nvPicPr>
          <p:cNvPr id="2" name="pt:BOhY4l06X6" descr="Floating glass app screens and UI cards in 3D on a soft gradient">    </p:cNvPr>
          <p:cNvPicPr>
            <a:picLocks noChangeAspect="1"/>
          </p:cNvPicPr>
          <p:nvPr/>
        </p:nvPicPr>
        <p:blipFill>
          <a:blip r:embed="rId1"/>
          <a:srcRect l="0" r="0" t="0" b="0"/>
          <a:stretch/>
        </p:blipFill>
        <p:spPr>
          <a:xfrm>
            <a:off x="0" y="0"/>
            <a:ext cx="9144000" cy="6858000"/>
          </a:xfrm>
          <a:prstGeom prst="rect">
            <a:avLst/>
          </a:prstGeom>
        </p:spPr>
      </p:pic>
      <p:pic>
        <p:nvPicPr>
          <p:cNvPr id="3" name="pt:BOhY4l06X6"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mMzUfR0jLP"/>
          <p:cNvSpPr/>
          <p:nvPr/>
        </p:nvSpPr>
        <p:spPr>
          <a:xfrm>
            <a:off x="457200" y="2880360"/>
            <a:ext cx="698500" cy="50800"/>
          </a:xfrm>
          <a:prstGeom prst="roundRect">
            <a:avLst>
              <a:gd name="adj" fmla="val 50000"/>
            </a:avLst>
          </a:prstGeom>
          <a:solidFill>
            <a:srgbClr val="17BEBB"/>
          </a:solidFill>
          <a:ln/>
        </p:spPr>
      </p:sp>
      <p:sp>
        <p:nvSpPr>
          <p:cNvPr id="5" name="pt:cfbxCox4zU"/>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4100" b="1" dirty="0">
                <a:solidFill>
                  <a:srgbClr val="FFFFFF"/>
                </a:solidFill>
                <a:latin typeface="Space Grotesk" pitchFamily="34" charset="0"/>
                <a:ea typeface="Space Grotesk" pitchFamily="34" charset="-122"/>
                <a:cs typeface="Space Grotesk" pitchFamily="34" charset="-120"/>
              </a:rPr>
              <a:t>Northwind: logistics software that cuts delivery cost</a:t>
            </a:r>
            <a:endParaRPr lang="en-US" sz="4100" dirty="0"/>
          </a:p>
        </p:txBody>
      </p:sp>
      <p:sp>
        <p:nvSpPr>
          <p:cNvPr id="6" name="pt:iSosYEvBvA"/>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Space Grotesk" pitchFamily="34" charset="0"/>
                <a:ea typeface="Space Grotesk" pitchFamily="34" charset="-122"/>
                <a:cs typeface="Space Grotesk" pitchFamily="34" charset="-120"/>
              </a:rPr>
              <a:t>Empowering mid-sized fleet operations with intelligent route optimization</a:t>
            </a:r>
            <a:endParaRPr lang="en-US" sz="1600" dirty="0"/>
          </a:p>
        </p:txBody>
      </p:sp>
      <p:sp>
        <p:nvSpPr>
          <p:cNvPr id="7" name="pt:5tRnkEbBa7"/>
          <p:cNvSpPr/>
          <p:nvPr/>
        </p:nvSpPr>
        <p:spPr>
          <a:xfrm>
            <a:off x="412750" y="6451600"/>
            <a:ext cx="361950" cy="361950"/>
          </a:xfrm>
          <a:prstGeom prst="roundRect">
            <a:avLst>
              <a:gd name="adj" fmla="val 12281"/>
            </a:avLst>
          </a:prstGeom>
          <a:solidFill>
            <a:srgbClr val="FFFFFF"/>
          </a:solidFill>
          <a:ln/>
        </p:spPr>
      </p:sp>
      <p:pic>
        <p:nvPicPr>
          <p:cNvPr id="8" name="pt:Q8nUf4Bf8J"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Scale>
                                      <p:cBhvr>
                                        <p:cTn id="10" dur="450" fill="hold"/>
                                        <p:tgtEl>
                                          <p:spTgt spid="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Scale>
                                      <p:cBhvr>
                                        <p:cTn id="14"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0F0B"/>
        </a:solidFill>
      </p:bgPr>
    </p:bg>
    <p:spTree>
      <p:nvGrpSpPr>
        <p:cNvPr id="1" name=""/>
        <p:cNvGrpSpPr/>
        <p:nvPr/>
      </p:nvGrpSpPr>
      <p:grpSpPr>
        <a:xfrm>
          <a:off x="0" y="0"/>
          <a:ext cx="0" cy="0"/>
          <a:chOff x="0" y="0"/>
          <a:chExt cx="0" cy="0"/>
        </a:xfrm>
      </p:grpSpPr>
      <p:pic>
        <p:nvPicPr>
          <p:cNvPr id="2" name="pt:oHLDUSMfSt" descr="Customer service agent with a headset smiling at a desk">    </p:cNvPr>
          <p:cNvPicPr>
            <a:picLocks noChangeAspect="1"/>
          </p:cNvPicPr>
          <p:nvPr/>
        </p:nvPicPr>
        <p:blipFill>
          <a:blip r:embed="rId1"/>
          <a:srcRect l="0" r="0" t="0" b="0"/>
          <a:stretch/>
        </p:blipFill>
        <p:spPr>
          <a:xfrm>
            <a:off x="457200" y="457200"/>
            <a:ext cx="8229600" cy="2057400"/>
          </a:xfrm>
          <a:prstGeom prst="rect">
            <a:avLst/>
          </a:prstGeom>
        </p:spPr>
      </p:pic>
      <p:sp>
        <p:nvSpPr>
          <p:cNvPr id="3" name="pt:jSO54iVVBk"/>
          <p:cNvSpPr/>
          <p:nvPr/>
        </p:nvSpPr>
        <p:spPr>
          <a:xfrm>
            <a:off x="457200" y="2705100"/>
            <a:ext cx="8229600" cy="369570"/>
          </a:xfrm>
          <a:prstGeom prst="rect">
            <a:avLst/>
          </a:prstGeom>
          <a:noFill/>
          <a:ln/>
        </p:spPr>
        <p:txBody>
          <a:bodyPr wrap="square" lIns="0" tIns="0" rIns="0" bIns="0" rtlCol="0" anchor="t"/>
          <a:lstStyle/>
          <a:p>
            <a:pPr algn="l" indent="0" marL="0">
              <a:lnSpc>
                <a:spcPct val="120000"/>
              </a:lnSpc>
              <a:buNone/>
            </a:pPr>
            <a:r>
              <a:rPr lang="en-US" sz="1700" b="1" spc="150" kern="0" dirty="0">
                <a:solidFill>
                  <a:srgbClr val="17BEBB"/>
                </a:solidFill>
                <a:latin typeface="Space Grotesk" pitchFamily="34" charset="0"/>
                <a:ea typeface="Space Grotesk" pitchFamily="34" charset="-122"/>
                <a:cs typeface="Space Grotesk" pitchFamily="34" charset="-120"/>
              </a:rPr>
              <a:t>ELIMINATE WASTED SPEND AND DELIVERY INEFFICIENCIES</a:t>
            </a:r>
            <a:endParaRPr lang="en-US" sz="1700" dirty="0"/>
          </a:p>
        </p:txBody>
      </p:sp>
      <p:sp>
        <p:nvSpPr>
          <p:cNvPr id="4" name="pt:wegBxrvP0O"/>
          <p:cNvSpPr/>
          <p:nvPr/>
        </p:nvSpPr>
        <p:spPr>
          <a:xfrm>
            <a:off x="457200" y="3074670"/>
            <a:ext cx="8229600" cy="1404366"/>
          </a:xfrm>
          <a:prstGeom prst="rect">
            <a:avLst/>
          </a:prstGeom>
          <a:noFill/>
          <a:ln/>
        </p:spPr>
        <p:txBody>
          <a:bodyPr wrap="square" lIns="0" tIns="0" rIns="0" bIns="0" rtlCol="0" anchor="ctr"/>
          <a:lstStyle/>
          <a:p>
            <a:pPr algn="l" indent="0" marL="0">
              <a:lnSpc>
                <a:spcPct val="120000"/>
              </a:lnSpc>
              <a:buNone/>
            </a:pPr>
            <a:r>
              <a:rPr lang="en-US" sz="8500" b="1" dirty="0">
                <a:solidFill>
                  <a:srgbClr val="F8F0ED"/>
                </a:solidFill>
                <a:latin typeface="Space Grotesk" pitchFamily="34" charset="0"/>
                <a:ea typeface="Space Grotesk" pitchFamily="34" charset="-122"/>
                <a:cs typeface="Space Grotesk" pitchFamily="34" charset="-120"/>
              </a:rPr>
              <a:t>23%</a:t>
            </a:r>
            <a:endParaRPr lang="en-US" sz="8500" dirty="0"/>
          </a:p>
        </p:txBody>
      </p:sp>
      <p:sp>
        <p:nvSpPr>
          <p:cNvPr id="5" name="pt:g50DS2XYSJ"/>
          <p:cNvSpPr/>
          <p:nvPr/>
        </p:nvSpPr>
        <p:spPr>
          <a:xfrm>
            <a:off x="457200" y="4552950"/>
            <a:ext cx="8229600" cy="665226"/>
          </a:xfrm>
          <a:prstGeom prst="rect">
            <a:avLst/>
          </a:prstGeom>
          <a:noFill/>
          <a:ln/>
        </p:spPr>
        <p:txBody>
          <a:bodyPr wrap="square" lIns="0" tIns="0" rIns="0" bIns="0" rtlCol="0" anchor="t"/>
          <a:lstStyle/>
          <a:p>
            <a:pPr algn="l" indent="0" marL="0">
              <a:lnSpc>
                <a:spcPct val="120000"/>
              </a:lnSpc>
              <a:buNone/>
            </a:pPr>
            <a:r>
              <a:rPr lang="en-US" sz="2000" b="1" dirty="0">
                <a:solidFill>
                  <a:srgbClr val="F8F0ED"/>
                </a:solidFill>
                <a:latin typeface="Space Grotesk" pitchFamily="34" charset="0"/>
                <a:ea typeface="Space Grotesk" pitchFamily="34" charset="-122"/>
                <a:cs typeface="Space Grotesk" pitchFamily="34" charset="-120"/>
              </a:rPr>
              <a:t>of delivery spend is wasted on empty miles and failed first attempts</a:t>
            </a:r>
            <a:endParaRPr lang="en-US" sz="2000" dirty="0"/>
          </a:p>
        </p:txBody>
      </p:sp>
      <p:sp>
        <p:nvSpPr>
          <p:cNvPr id="6" name="pt:j4mhXdg_N5"/>
          <p:cNvSpPr/>
          <p:nvPr/>
        </p:nvSpPr>
        <p:spPr>
          <a:xfrm>
            <a:off x="457200" y="5292090"/>
            <a:ext cx="8229600" cy="1108710"/>
          </a:xfrm>
          <a:prstGeom prst="rect">
            <a:avLst/>
          </a:prstGeom>
          <a:noFill/>
          <a:ln/>
        </p:spPr>
        <p:txBody>
          <a:bodyPr wrap="square" lIns="0" tIns="0" rIns="0" bIns="0" rtlCol="0" anchor="t"/>
          <a:lstStyle/>
          <a:p>
            <a:pPr algn="l" marL="342900" indent="-342900">
              <a:lnSpc>
                <a:spcPct val="120000"/>
              </a:lnSpc>
              <a:spcAft>
                <a:spcPts val="800"/>
              </a:spcAft>
              <a:buSzPct val="100000"/>
              <a:buChar char="•"/>
            </a:pPr>
            <a:r>
              <a:rPr lang="en-US" sz="1500" dirty="0">
                <a:solidFill>
                  <a:srgbClr val="B1A8A5"/>
                </a:solidFill>
                <a:latin typeface="Inter" pitchFamily="34" charset="0"/>
                <a:ea typeface="Inter" pitchFamily="34" charset="-122"/>
                <a:cs typeface="Inter" pitchFamily="34" charset="-120"/>
              </a:rPr>
              <a:t>Small carriers struggle with manual route planning</a:t>
            </a:r>
            <a:endParaRPr lang="en-US" sz="1500" dirty="0"/>
          </a:p>
          <a:p>
            <a:pPr algn="l" marL="342900" indent="-342900">
              <a:lnSpc>
                <a:spcPct val="120000"/>
              </a:lnSpc>
              <a:spcAft>
                <a:spcPts val="800"/>
              </a:spcAft>
              <a:buSzPct val="100000"/>
              <a:buChar char="•"/>
            </a:pPr>
            <a:r>
              <a:rPr lang="en-US" sz="1500" dirty="0">
                <a:solidFill>
                  <a:srgbClr val="B1A8A5"/>
                </a:solidFill>
                <a:latin typeface="Inter" pitchFamily="34" charset="0"/>
                <a:ea typeface="Inter" pitchFamily="34" charset="-122"/>
                <a:cs typeface="Inter" pitchFamily="34" charset="-120"/>
              </a:rPr>
              <a:t>Customers receive vague delivery windows</a:t>
            </a:r>
            <a:endParaRPr lang="en-US" sz="1500" dirty="0"/>
          </a:p>
          <a:p>
            <a:pPr algn="l" marL="342900" indent="-342900">
              <a:lnSpc>
                <a:spcPct val="120000"/>
              </a:lnSpc>
              <a:buSzPct val="100000"/>
              <a:buChar char="•"/>
            </a:pPr>
            <a:r>
              <a:rPr lang="en-US" sz="1500" dirty="0">
                <a:solidFill>
                  <a:srgbClr val="B1A8A5"/>
                </a:solidFill>
                <a:latin typeface="Inter" pitchFamily="34" charset="0"/>
                <a:ea typeface="Inter" pitchFamily="34" charset="-122"/>
                <a:cs typeface="Inter" pitchFamily="34" charset="-120"/>
              </a:rPr>
              <a:t>Traditional software fails to support fleets under 200 vehicles</a:t>
            </a:r>
            <a:endParaRPr lang="en-US" sz="1500" dirty="0"/>
          </a:p>
        </p:txBody>
      </p:sp>
      <p:sp>
        <p:nvSpPr>
          <p:cNvPr id="7" name="pt:LGl_4Okno_"/>
          <p:cNvSpPr/>
          <p:nvPr/>
        </p:nvSpPr>
        <p:spPr>
          <a:xfrm>
            <a:off x="412750" y="6451600"/>
            <a:ext cx="361950" cy="361950"/>
          </a:xfrm>
          <a:prstGeom prst="roundRect">
            <a:avLst>
              <a:gd name="adj" fmla="val 12281"/>
            </a:avLst>
          </a:prstGeom>
          <a:solidFill>
            <a:srgbClr val="FFFFFF"/>
          </a:solidFill>
          <a:ln/>
        </p:spPr>
      </p:sp>
      <p:pic>
        <p:nvPicPr>
          <p:cNvPr id="8" name="pt:LdZvd4gaP9" descr="Journey Brand logo">    </p:cNvPr>
          <p:cNvPicPr>
            <a:picLocks noChangeAspect="1"/>
          </p:cNvPicPr>
          <p:nvPr/>
        </p:nvPicPr>
        <p:blipFill>
          <a:blip r:embed="rId2"/>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1" presetID="10" presetClass="entr" presetSubtype="0" fill="hold" decel="100000" nodeType="withEffect">
                                  <p:stCondLst>
                                    <p:cond delay="10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50"/>
                                        <p:tgtEl>
                                          <p:spTgt spid="4"/>
                                        </p:tgtEl>
                                      </p:cBhvr>
                                    </p:animEffect>
                                  </p:childTnLst>
                                </p:cTn>
                              </p:par>
                              <p:par>
                                <p:cTn id="15" presetID="53" presetClass="entr" presetSubtype="16" fill="hold" decel="100000" nodeType="withEffect">
                                  <p:stCondLst>
                                    <p:cond delay="20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450"/>
                                        <p:tgtEl>
                                          <p:spTgt spid="5"/>
                                        </p:tgtEl>
                                      </p:cBhvr>
                                    </p:animEffect>
                                    <p:animScale>
                                      <p:cBhvr>
                                        <p:cTn id="14" dur="450" fill="hold"/>
                                        <p:tgtEl>
                                          <p:spTgt spid="5"/>
                                        </p:tgtEl>
                                      </p:cBhvr>
                                      <p:from x="88000" y="88000"/>
                                      <p:to x="100000" y="100000"/>
                                    </p:animScale>
                                  </p:childTnLst>
                                </p:cTn>
                              </p:par>
                              <p:par>
                                <p:cTn id="19" presetID="53" presetClass="entr" presetSubtype="16" fill="hold" decel="100000" nodeType="withEffect">
                                  <p:stCondLst>
                                    <p:cond delay="30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450"/>
                                        <p:tgtEl>
                                          <p:spTgt spid="6"/>
                                        </p:tgtEl>
                                      </p:cBhvr>
                                    </p:animEffect>
                                    <p:animScale>
                                      <p:cBhvr>
                                        <p:cTn id="18"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0F0B"/>
        </a:solidFill>
      </p:bgPr>
    </p:bg>
    <p:spTree>
      <p:nvGrpSpPr>
        <p:cNvPr id="1" name=""/>
        <p:cNvGrpSpPr/>
        <p:nvPr/>
      </p:nvGrpSpPr>
      <p:grpSpPr>
        <a:xfrm>
          <a:off x="0" y="0"/>
          <a:ext cx="0" cy="0"/>
          <a:chOff x="0" y="0"/>
          <a:chExt cx="0" cy="0"/>
        </a:xfrm>
      </p:grpSpPr>
      <p:sp>
        <p:nvSpPr>
          <p:cNvPr id="2" name="pt:2_iHYySfsS"/>
          <p:cNvSpPr/>
          <p:nvPr/>
        </p:nvSpPr>
        <p:spPr>
          <a:xfrm>
            <a:off x="0" y="228600"/>
            <a:ext cx="9144000" cy="12700"/>
          </a:xfrm>
          <a:prstGeom prst="rect">
            <a:avLst/>
          </a:prstGeom>
          <a:solidFill>
            <a:srgbClr val="392E2A"/>
          </a:solidFill>
          <a:ln/>
        </p:spPr>
      </p:sp>
      <p:sp>
        <p:nvSpPr>
          <p:cNvPr id="3" name="pt:rWH3D78V9u"/>
          <p:cNvSpPr/>
          <p:nvPr/>
        </p:nvSpPr>
        <p:spPr>
          <a:xfrm>
            <a:off x="457200" y="508000"/>
            <a:ext cx="8229600" cy="952500"/>
          </a:xfrm>
          <a:prstGeom prst="rect">
            <a:avLst/>
          </a:prstGeom>
          <a:noFill/>
          <a:ln/>
        </p:spPr>
        <p:txBody>
          <a:bodyPr wrap="square" lIns="0" tIns="0" rIns="0" bIns="0" rtlCol="0" anchor="ctr"/>
          <a:lstStyle/>
          <a:p>
            <a:pPr algn="l" indent="0" marL="0">
              <a:lnSpc>
                <a:spcPct val="120000"/>
              </a:lnSpc>
              <a:buNone/>
            </a:pPr>
            <a:r>
              <a:rPr lang="en-US" sz="2800" b="1" dirty="0">
                <a:solidFill>
                  <a:srgbClr val="F8F0ED"/>
                </a:solidFill>
                <a:latin typeface="Space Grotesk" pitchFamily="34" charset="0"/>
                <a:ea typeface="Space Grotesk" pitchFamily="34" charset="-122"/>
                <a:cs typeface="Space Grotesk" pitchFamily="34" charset="-120"/>
              </a:rPr>
              <a:t>How Northwind simplifies your </a:t>
            </a:r>
            <a:pPr algn="l" indent="0" marL="0">
              <a:lnSpc>
                <a:spcPct val="120000"/>
              </a:lnSpc>
              <a:buNone/>
            </a:pPr>
            <a:r>
              <a:rPr lang="en-US" sz="2800" b="1" dirty="0">
                <a:solidFill>
                  <a:srgbClr val="17BEBB"/>
                </a:solidFill>
                <a:latin typeface="Space Grotesk" pitchFamily="34" charset="0"/>
                <a:ea typeface="Space Grotesk" pitchFamily="34" charset="-122"/>
                <a:cs typeface="Space Grotesk" pitchFamily="34" charset="-120"/>
              </a:rPr>
              <a:t>daily delivery workflow</a:t>
            </a:r>
            <a:endParaRPr lang="en-US" sz="2800" dirty="0"/>
          </a:p>
        </p:txBody>
      </p:sp>
      <p:sp>
        <p:nvSpPr>
          <p:cNvPr id="4" name="pt:nUjnDP8zpg"/>
          <p:cNvSpPr/>
          <p:nvPr/>
        </p:nvSpPr>
        <p:spPr>
          <a:xfrm>
            <a:off x="520700" y="1663700"/>
            <a:ext cx="1905000" cy="3302000"/>
          </a:xfrm>
          <a:prstGeom prst="roundRect">
            <a:avLst>
              <a:gd name="adj" fmla="val 5333"/>
            </a:avLst>
          </a:prstGeom>
          <a:solidFill>
            <a:srgbClr val="F8F0ED">
              <a:alpha val="12000"/>
            </a:srgbClr>
          </a:solidFill>
          <a:ln/>
        </p:spPr>
      </p:sp>
      <p:sp>
        <p:nvSpPr>
          <p:cNvPr id="5" name="pt:bsjCurg6yN"/>
          <p:cNvSpPr/>
          <p:nvPr/>
        </p:nvSpPr>
        <p:spPr>
          <a:xfrm>
            <a:off x="457200" y="1587500"/>
            <a:ext cx="1905000" cy="3302000"/>
          </a:xfrm>
          <a:prstGeom prst="roundRect">
            <a:avLst>
              <a:gd name="adj" fmla="val 5333"/>
            </a:avLst>
          </a:prstGeom>
          <a:solidFill>
            <a:srgbClr val="1B0F0B"/>
          </a:solidFill>
          <a:ln w="12700">
            <a:solidFill>
              <a:srgbClr val="392E2A"/>
            </a:solidFill>
            <a:prstDash val="solid"/>
          </a:ln>
        </p:spPr>
      </p:sp>
      <p:sp>
        <p:nvSpPr>
          <p:cNvPr id="6" name="pt:EG-UHEvwEA"/>
          <p:cNvSpPr/>
          <p:nvPr/>
        </p:nvSpPr>
        <p:spPr>
          <a:xfrm>
            <a:off x="6350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01</a:t>
            </a:r>
            <a:endParaRPr lang="en-US" sz="2800" dirty="0"/>
          </a:p>
        </p:txBody>
      </p:sp>
      <p:sp>
        <p:nvSpPr>
          <p:cNvPr id="7" name="pt:NQGJGdYWHp"/>
          <p:cNvSpPr/>
          <p:nvPr/>
        </p:nvSpPr>
        <p:spPr>
          <a:xfrm>
            <a:off x="6350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Import</a:t>
            </a:r>
            <a:endParaRPr lang="en-US" sz="1700" dirty="0"/>
          </a:p>
        </p:txBody>
      </p:sp>
      <p:sp>
        <p:nvSpPr>
          <p:cNvPr id="8" name="pt:6bwT2MJXAC"/>
          <p:cNvSpPr/>
          <p:nvPr/>
        </p:nvSpPr>
        <p:spPr>
          <a:xfrm>
            <a:off x="6350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Upload the day's orders or sync directly with your existing software</a:t>
            </a:r>
            <a:endParaRPr lang="en-US" sz="1300" dirty="0"/>
          </a:p>
        </p:txBody>
      </p:sp>
      <p:sp>
        <p:nvSpPr>
          <p:cNvPr id="9" name="pt:RxUA-9akiv"/>
          <p:cNvSpPr/>
          <p:nvPr/>
        </p:nvSpPr>
        <p:spPr>
          <a:xfrm>
            <a:off x="2628900" y="1663700"/>
            <a:ext cx="1905000" cy="3302000"/>
          </a:xfrm>
          <a:prstGeom prst="roundRect">
            <a:avLst>
              <a:gd name="adj" fmla="val 5333"/>
            </a:avLst>
          </a:prstGeom>
          <a:solidFill>
            <a:srgbClr val="F8F0ED">
              <a:alpha val="12000"/>
            </a:srgbClr>
          </a:solidFill>
          <a:ln/>
        </p:spPr>
      </p:sp>
      <p:sp>
        <p:nvSpPr>
          <p:cNvPr id="10" name="pt:WiLi3tCCFw"/>
          <p:cNvSpPr/>
          <p:nvPr/>
        </p:nvSpPr>
        <p:spPr>
          <a:xfrm>
            <a:off x="2565400" y="1587500"/>
            <a:ext cx="1905000" cy="3302000"/>
          </a:xfrm>
          <a:prstGeom prst="roundRect">
            <a:avLst>
              <a:gd name="adj" fmla="val 5333"/>
            </a:avLst>
          </a:prstGeom>
          <a:solidFill>
            <a:srgbClr val="1B0F0B"/>
          </a:solidFill>
          <a:ln w="12700">
            <a:solidFill>
              <a:srgbClr val="392E2A"/>
            </a:solidFill>
            <a:prstDash val="solid"/>
          </a:ln>
        </p:spPr>
      </p:sp>
      <p:sp>
        <p:nvSpPr>
          <p:cNvPr id="11" name="pt:-CXaUqjINd"/>
          <p:cNvSpPr/>
          <p:nvPr/>
        </p:nvSpPr>
        <p:spPr>
          <a:xfrm>
            <a:off x="27432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02</a:t>
            </a:r>
            <a:endParaRPr lang="en-US" sz="2800" dirty="0"/>
          </a:p>
        </p:txBody>
      </p:sp>
      <p:sp>
        <p:nvSpPr>
          <p:cNvPr id="12" name="pt:CHHeAIo3X2"/>
          <p:cNvSpPr/>
          <p:nvPr/>
        </p:nvSpPr>
        <p:spPr>
          <a:xfrm>
            <a:off x="27432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Plan</a:t>
            </a:r>
            <a:endParaRPr lang="en-US" sz="1700" dirty="0"/>
          </a:p>
        </p:txBody>
      </p:sp>
      <p:sp>
        <p:nvSpPr>
          <p:cNvPr id="13" name="pt:OcXxL-XnkX"/>
          <p:cNvSpPr/>
          <p:nvPr/>
        </p:nvSpPr>
        <p:spPr>
          <a:xfrm>
            <a:off x="27432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Routes automatically optimize for time, cost, and capacity in under a minute</a:t>
            </a:r>
            <a:endParaRPr lang="en-US" sz="1300" dirty="0"/>
          </a:p>
        </p:txBody>
      </p:sp>
      <p:sp>
        <p:nvSpPr>
          <p:cNvPr id="14" name="pt:YHxs9NzfQq"/>
          <p:cNvSpPr/>
          <p:nvPr/>
        </p:nvSpPr>
        <p:spPr>
          <a:xfrm>
            <a:off x="4737100" y="1663700"/>
            <a:ext cx="1905000" cy="3302000"/>
          </a:xfrm>
          <a:prstGeom prst="roundRect">
            <a:avLst>
              <a:gd name="adj" fmla="val 5333"/>
            </a:avLst>
          </a:prstGeom>
          <a:solidFill>
            <a:srgbClr val="F8F0ED">
              <a:alpha val="12000"/>
            </a:srgbClr>
          </a:solidFill>
          <a:ln/>
        </p:spPr>
      </p:sp>
      <p:sp>
        <p:nvSpPr>
          <p:cNvPr id="15" name="pt:EUpO7cUucK"/>
          <p:cNvSpPr/>
          <p:nvPr/>
        </p:nvSpPr>
        <p:spPr>
          <a:xfrm>
            <a:off x="4673600" y="1587500"/>
            <a:ext cx="1905000" cy="3302000"/>
          </a:xfrm>
          <a:prstGeom prst="roundRect">
            <a:avLst>
              <a:gd name="adj" fmla="val 5333"/>
            </a:avLst>
          </a:prstGeom>
          <a:solidFill>
            <a:srgbClr val="1B0F0B"/>
          </a:solidFill>
          <a:ln w="12700">
            <a:solidFill>
              <a:srgbClr val="392E2A"/>
            </a:solidFill>
            <a:prstDash val="solid"/>
          </a:ln>
        </p:spPr>
      </p:sp>
      <p:sp>
        <p:nvSpPr>
          <p:cNvPr id="16" name="pt:2U1TYBqh4j"/>
          <p:cNvSpPr/>
          <p:nvPr/>
        </p:nvSpPr>
        <p:spPr>
          <a:xfrm>
            <a:off x="48514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03</a:t>
            </a:r>
            <a:endParaRPr lang="en-US" sz="2800" dirty="0"/>
          </a:p>
        </p:txBody>
      </p:sp>
      <p:sp>
        <p:nvSpPr>
          <p:cNvPr id="17" name="pt:gi_BQL-Xke"/>
          <p:cNvSpPr/>
          <p:nvPr/>
        </p:nvSpPr>
        <p:spPr>
          <a:xfrm>
            <a:off x="48514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Deliver</a:t>
            </a:r>
            <a:endParaRPr lang="en-US" sz="1700" dirty="0"/>
          </a:p>
        </p:txBody>
      </p:sp>
      <p:sp>
        <p:nvSpPr>
          <p:cNvPr id="18" name="pt:DNHyv8cXDS"/>
          <p:cNvSpPr/>
          <p:nvPr/>
        </p:nvSpPr>
        <p:spPr>
          <a:xfrm>
            <a:off x="48514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Drivers follow clear turn-by-turn routes in the app using existing vans and phones</a:t>
            </a:r>
            <a:endParaRPr lang="en-US" sz="1300" dirty="0"/>
          </a:p>
        </p:txBody>
      </p:sp>
      <p:sp>
        <p:nvSpPr>
          <p:cNvPr id="19" name="pt:8OEFzatwzT"/>
          <p:cNvSpPr/>
          <p:nvPr/>
        </p:nvSpPr>
        <p:spPr>
          <a:xfrm>
            <a:off x="6845300" y="1663700"/>
            <a:ext cx="1905000" cy="3302000"/>
          </a:xfrm>
          <a:prstGeom prst="roundRect">
            <a:avLst>
              <a:gd name="adj" fmla="val 5333"/>
            </a:avLst>
          </a:prstGeom>
          <a:solidFill>
            <a:srgbClr val="F8F0ED">
              <a:alpha val="12000"/>
            </a:srgbClr>
          </a:solidFill>
          <a:ln/>
        </p:spPr>
      </p:sp>
      <p:sp>
        <p:nvSpPr>
          <p:cNvPr id="20" name="pt:MaCNGhXe-t"/>
          <p:cNvSpPr/>
          <p:nvPr/>
        </p:nvSpPr>
        <p:spPr>
          <a:xfrm>
            <a:off x="6781800" y="1587500"/>
            <a:ext cx="1905000" cy="3302000"/>
          </a:xfrm>
          <a:prstGeom prst="roundRect">
            <a:avLst>
              <a:gd name="adj" fmla="val 5333"/>
            </a:avLst>
          </a:prstGeom>
          <a:solidFill>
            <a:srgbClr val="1B0F0B"/>
          </a:solidFill>
          <a:ln w="12700">
            <a:solidFill>
              <a:srgbClr val="392E2A"/>
            </a:solidFill>
            <a:prstDash val="solid"/>
          </a:ln>
        </p:spPr>
      </p:sp>
      <p:sp>
        <p:nvSpPr>
          <p:cNvPr id="21" name="pt:kcbyoq2uvQ"/>
          <p:cNvSpPr/>
          <p:nvPr/>
        </p:nvSpPr>
        <p:spPr>
          <a:xfrm>
            <a:off x="6959600" y="1739900"/>
            <a:ext cx="1549400" cy="508000"/>
          </a:xfrm>
          <a:prstGeom prst="rect">
            <a:avLst/>
          </a:prstGeom>
          <a:noFill/>
          <a:ln/>
        </p:spPr>
        <p:txBody>
          <a:bodyPr wrap="square" lIns="0" tIns="0" rIns="0" bIns="0" rtlCol="0" anchor="t"/>
          <a:lstStyle/>
          <a:p>
            <a:pPr algn="l" indent="0" marL="0">
              <a:lnSpc>
                <a:spcPct val="120000"/>
              </a:lnSpc>
              <a:buNone/>
            </a:pPr>
            <a:r>
              <a:rPr lang="en-US" sz="2800" b="1" dirty="0">
                <a:solidFill>
                  <a:srgbClr val="EA7C5C"/>
                </a:solidFill>
                <a:latin typeface="Space Grotesk" pitchFamily="34" charset="0"/>
                <a:ea typeface="Space Grotesk" pitchFamily="34" charset="-122"/>
                <a:cs typeface="Space Grotesk" pitchFamily="34" charset="-120"/>
              </a:rPr>
              <a:t>04</a:t>
            </a:r>
            <a:endParaRPr lang="en-US" sz="2800" dirty="0"/>
          </a:p>
        </p:txBody>
      </p:sp>
      <p:sp>
        <p:nvSpPr>
          <p:cNvPr id="22" name="pt:ccnF30l7IE"/>
          <p:cNvSpPr/>
          <p:nvPr/>
        </p:nvSpPr>
        <p:spPr>
          <a:xfrm>
            <a:off x="6959600" y="2311400"/>
            <a:ext cx="1549400" cy="635000"/>
          </a:xfrm>
          <a:prstGeom prst="rect">
            <a:avLst/>
          </a:prstGeom>
          <a:noFill/>
          <a:ln/>
        </p:spPr>
        <p:txBody>
          <a:bodyPr wrap="square" lIns="0" tIns="0" rIns="0" bIns="0" rtlCol="0" anchor="t"/>
          <a:lstStyle/>
          <a:p>
            <a:pPr algn="l" indent="0" marL="0">
              <a:lnSpc>
                <a:spcPct val="120000"/>
              </a:lnSpc>
              <a:buNone/>
            </a:pPr>
            <a:r>
              <a:rPr lang="en-US" sz="1700" b="1" dirty="0">
                <a:solidFill>
                  <a:srgbClr val="F8F0ED"/>
                </a:solidFill>
                <a:latin typeface="Space Grotesk" pitchFamily="34" charset="0"/>
                <a:ea typeface="Space Grotesk" pitchFamily="34" charset="-122"/>
                <a:cs typeface="Space Grotesk" pitchFamily="34" charset="-120"/>
              </a:rPr>
              <a:t>Notify</a:t>
            </a:r>
            <a:endParaRPr lang="en-US" sz="1700" dirty="0"/>
          </a:p>
        </p:txBody>
      </p:sp>
      <p:sp>
        <p:nvSpPr>
          <p:cNvPr id="23" name="pt:Yvs0U98xSe"/>
          <p:cNvSpPr/>
          <p:nvPr/>
        </p:nvSpPr>
        <p:spPr>
          <a:xfrm>
            <a:off x="6959600" y="3009900"/>
            <a:ext cx="1549400" cy="1778000"/>
          </a:xfrm>
          <a:prstGeom prst="rect">
            <a:avLst/>
          </a:prstGeom>
          <a:noFill/>
          <a:ln/>
        </p:spPr>
        <p:txBody>
          <a:bodyPr wrap="square" lIns="0" tIns="0" rIns="0" bIns="0" rtlCol="0" anchor="t"/>
          <a:lstStyle/>
          <a:p>
            <a:pPr algn="l" indent="0" marL="0">
              <a:lnSpc>
                <a:spcPct val="120000"/>
              </a:lnSpc>
              <a:buNone/>
            </a:pPr>
            <a:r>
              <a:rPr lang="en-US" sz="1300" dirty="0">
                <a:solidFill>
                  <a:srgbClr val="B1A8A5"/>
                </a:solidFill>
                <a:latin typeface="Inter" pitchFamily="34" charset="0"/>
                <a:ea typeface="Inter" pitchFamily="34" charset="-122"/>
                <a:cs typeface="Inter" pitchFamily="34" charset="-120"/>
              </a:rPr>
              <a:t>Customers receive live delivery windows and automated digital proof of delivery</a:t>
            </a:r>
            <a:endParaRPr lang="en-US" sz="1300" dirty="0"/>
          </a:p>
        </p:txBody>
      </p:sp>
      <p:sp>
        <p:nvSpPr>
          <p:cNvPr id="24" name="pt:h6vRHTtyXS"/>
          <p:cNvSpPr/>
          <p:nvPr/>
        </p:nvSpPr>
        <p:spPr>
          <a:xfrm>
            <a:off x="412750" y="6451600"/>
            <a:ext cx="361950" cy="361950"/>
          </a:xfrm>
          <a:prstGeom prst="roundRect">
            <a:avLst>
              <a:gd name="adj" fmla="val 12281"/>
            </a:avLst>
          </a:prstGeom>
          <a:solidFill>
            <a:srgbClr val="FFFFFF"/>
          </a:solidFill>
          <a:ln/>
        </p:spPr>
      </p:sp>
      <p:pic>
        <p:nvPicPr>
          <p:cNvPr id="25" name="pt:xEzDoUCQVn" descr="Journey Brand logo">    </p:cNvPr>
          <p:cNvPicPr>
            <a:picLocks noChangeAspect="1"/>
          </p:cNvPicPr>
          <p:nvPr/>
        </p:nvPicPr>
        <p:blipFill>
          <a:blip r:embed="rId1"/>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8" presetID="53" presetClass="entr" presetSubtype="16" fill="hold" decel="10000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50"/>
                                        <p:tgtEl>
                                          <p:spTgt spid="3"/>
                                        </p:tgtEl>
                                      </p:cBhvr>
                                    </p:animEffect>
                                    <p:animScale>
                                      <p:cBhvr>
                                        <p:cTn id="7" dur="450" fill="hold"/>
                                        <p:tgtEl>
                                          <p:spTgt spid="3"/>
                                        </p:tgtEl>
                                      </p:cBhvr>
                                      <p:from x="88000" y="88000"/>
                                      <p:to x="100000" y="100000"/>
                                    </p:animScale>
                                  </p:childTnLst>
                                </p:cTn>
                              </p:par>
                              <p:par>
                                <p:cTn id="12" presetID="53" presetClass="entr" presetSubtype="16" fill="hold" decel="100000" nodeType="withEffect">
                                  <p:stCondLst>
                                    <p:cond delay="88"/>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450"/>
                                        <p:tgtEl>
                                          <p:spTgt spid="5"/>
                                        </p:tgtEl>
                                      </p:cBhvr>
                                    </p:animEffect>
                                    <p:animScale>
                                      <p:cBhvr>
                                        <p:cTn id="11" dur="450" fill="hold"/>
                                        <p:tgtEl>
                                          <p:spTgt spid="5"/>
                                        </p:tgtEl>
                                      </p:cBhvr>
                                      <p:from x="88000" y="88000"/>
                                      <p:to x="100000" y="100000"/>
                                    </p:animScale>
                                  </p:childTnLst>
                                </p:cTn>
                              </p:par>
                              <p:par>
                                <p:cTn id="16" presetID="53" presetClass="entr" presetSubtype="16" fill="hold" decel="100000" nodeType="withEffect">
                                  <p:stCondLst>
                                    <p:cond delay="175"/>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450"/>
                                        <p:tgtEl>
                                          <p:spTgt spid="7"/>
                                        </p:tgtEl>
                                      </p:cBhvr>
                                    </p:animEffect>
                                    <p:animScale>
                                      <p:cBhvr>
                                        <p:cTn id="15" dur="450" fill="hold"/>
                                        <p:tgtEl>
                                          <p:spTgt spid="7"/>
                                        </p:tgtEl>
                                      </p:cBhvr>
                                      <p:from x="88000" y="88000"/>
                                      <p:to x="100000" y="100000"/>
                                    </p:animScale>
                                  </p:childTnLst>
                                </p:cTn>
                              </p:par>
                              <p:par>
                                <p:cTn id="20" presetID="53" presetClass="entr" presetSubtype="16" fill="hold" decel="100000" nodeType="withEffect">
                                  <p:stCondLst>
                                    <p:cond delay="263"/>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450"/>
                                        <p:tgtEl>
                                          <p:spTgt spid="10"/>
                                        </p:tgtEl>
                                      </p:cBhvr>
                                    </p:animEffect>
                                    <p:animScale>
                                      <p:cBhvr>
                                        <p:cTn id="19" dur="450" fill="hold"/>
                                        <p:tgtEl>
                                          <p:spTgt spid="10"/>
                                        </p:tgtEl>
                                      </p:cBhvr>
                                      <p:from x="88000" y="88000"/>
                                      <p:to x="100000" y="100000"/>
                                    </p:animScale>
                                  </p:childTnLst>
                                </p:cTn>
                              </p:par>
                              <p:par>
                                <p:cTn id="24" presetID="53" presetClass="entr" presetSubtype="16" fill="hold" decel="100000" nodeType="withEffect">
                                  <p:stCondLst>
                                    <p:cond delay="35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450"/>
                                        <p:tgtEl>
                                          <p:spTgt spid="12"/>
                                        </p:tgtEl>
                                      </p:cBhvr>
                                    </p:animEffect>
                                    <p:animScale>
                                      <p:cBhvr>
                                        <p:cTn id="23" dur="450" fill="hold"/>
                                        <p:tgtEl>
                                          <p:spTgt spid="12"/>
                                        </p:tgtEl>
                                      </p:cBhvr>
                                      <p:from x="88000" y="88000"/>
                                      <p:to x="100000" y="100000"/>
                                    </p:animScale>
                                  </p:childTnLst>
                                </p:cTn>
                              </p:par>
                              <p:par>
                                <p:cTn id="28" presetID="53" presetClass="entr" presetSubtype="16" fill="hold" decel="100000" nodeType="withEffect">
                                  <p:stCondLst>
                                    <p:cond delay="438"/>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50"/>
                                        <p:tgtEl>
                                          <p:spTgt spid="15"/>
                                        </p:tgtEl>
                                      </p:cBhvr>
                                    </p:animEffect>
                                    <p:animScale>
                                      <p:cBhvr>
                                        <p:cTn id="27" dur="450" fill="hold"/>
                                        <p:tgtEl>
                                          <p:spTgt spid="15"/>
                                        </p:tgtEl>
                                      </p:cBhvr>
                                      <p:from x="88000" y="88000"/>
                                      <p:to x="100000" y="100000"/>
                                    </p:animScale>
                                  </p:childTnLst>
                                </p:cTn>
                              </p:par>
                              <p:par>
                                <p:cTn id="32" presetID="53" presetClass="entr" presetSubtype="16" fill="hold" decel="100000" nodeType="withEffect">
                                  <p:stCondLst>
                                    <p:cond delay="525"/>
                                  </p:stCondLst>
                                  <p:childTnLst>
                                    <p:set>
                                      <p:cBhvr>
                                        <p:cTn id="29" dur="1" fill="hold">
                                          <p:stCondLst>
                                            <p:cond delay="0"/>
                                          </p:stCondLst>
                                        </p:cTn>
                                        <p:tgtEl>
                                          <p:spTgt spid="17"/>
                                        </p:tgtEl>
                                        <p:attrNameLst>
                                          <p:attrName>style.visibility</p:attrName>
                                        </p:attrNameLst>
                                      </p:cBhvr>
                                      <p:to>
                                        <p:strVal val="visible"/>
                                      </p:to>
                                    </p:set>
                                    <p:animEffect transition="in" filter="fade">
                                      <p:cBhvr>
                                        <p:cTn id="30" dur="450"/>
                                        <p:tgtEl>
                                          <p:spTgt spid="17"/>
                                        </p:tgtEl>
                                      </p:cBhvr>
                                    </p:animEffect>
                                    <p:animScale>
                                      <p:cBhvr>
                                        <p:cTn id="31" dur="450" fill="hold"/>
                                        <p:tgtEl>
                                          <p:spTgt spid="17"/>
                                        </p:tgtEl>
                                      </p:cBhvr>
                                      <p:from x="88000" y="88000"/>
                                      <p:to x="100000" y="100000"/>
                                    </p:animScale>
                                  </p:childTnLst>
                                </p:cTn>
                              </p:par>
                              <p:par>
                                <p:cTn id="36" presetID="53" presetClass="entr" presetSubtype="16" fill="hold" decel="100000" nodeType="withEffect">
                                  <p:stCondLst>
                                    <p:cond delay="613"/>
                                  </p:stCondLst>
                                  <p:childTnLst>
                                    <p:set>
                                      <p:cBhvr>
                                        <p:cTn id="33" dur="1" fill="hold">
                                          <p:stCondLst>
                                            <p:cond delay="0"/>
                                          </p:stCondLst>
                                        </p:cTn>
                                        <p:tgtEl>
                                          <p:spTgt spid="20"/>
                                        </p:tgtEl>
                                        <p:attrNameLst>
                                          <p:attrName>style.visibility</p:attrName>
                                        </p:attrNameLst>
                                      </p:cBhvr>
                                      <p:to>
                                        <p:strVal val="visible"/>
                                      </p:to>
                                    </p:set>
                                    <p:animEffect transition="in" filter="fade">
                                      <p:cBhvr>
                                        <p:cTn id="34" dur="450"/>
                                        <p:tgtEl>
                                          <p:spTgt spid="20"/>
                                        </p:tgtEl>
                                      </p:cBhvr>
                                    </p:animEffect>
                                    <p:animScale>
                                      <p:cBhvr>
                                        <p:cTn id="35" dur="450" fill="hold"/>
                                        <p:tgtEl>
                                          <p:spTgt spid="20"/>
                                        </p:tgtEl>
                                      </p:cBhvr>
                                      <p:from x="88000" y="88000"/>
                                      <p:to x="100000" y="100000"/>
                                    </p:animScale>
                                  </p:childTnLst>
                                </p:cTn>
                              </p:par>
                              <p:par>
                                <p:cTn id="40" presetID="53" presetClass="entr" presetSubtype="16" fill="hold" decel="100000" nodeType="withEffect">
                                  <p:stCondLst>
                                    <p:cond delay="70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450"/>
                                        <p:tgtEl>
                                          <p:spTgt spid="22"/>
                                        </p:tgtEl>
                                      </p:cBhvr>
                                    </p:animEffect>
                                    <p:animScale>
                                      <p:cBhvr>
                                        <p:cTn id="39" dur="450" fill="hold"/>
                                        <p:tgtEl>
                                          <p:spTgt spid="22"/>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0C09"/>
        </a:solidFill>
      </p:bgPr>
    </p:bg>
    <p:spTree>
      <p:nvGrpSpPr>
        <p:cNvPr id="1" name=""/>
        <p:cNvGrpSpPr/>
        <p:nvPr/>
      </p:nvGrpSpPr>
      <p:grpSpPr>
        <a:xfrm>
          <a:off x="0" y="0"/>
          <a:ext cx="0" cy="0"/>
          <a:chOff x="0" y="0"/>
          <a:chExt cx="0" cy="0"/>
        </a:xfrm>
      </p:grpSpPr>
      <p:pic>
        <p:nvPicPr>
          <p:cNvPr id="2" name="pt:reNs2YsCxx" descr="Team celebrating success with a high-five in an office">    </p:cNvPr>
          <p:cNvPicPr>
            <a:picLocks noChangeAspect="1"/>
          </p:cNvPicPr>
          <p:nvPr/>
        </p:nvPicPr>
        <p:blipFill>
          <a:blip r:embed="rId1"/>
          <a:srcRect l="0" r="0" t="0" b="0"/>
          <a:stretch/>
        </p:blipFill>
        <p:spPr>
          <a:xfrm>
            <a:off x="0" y="0"/>
            <a:ext cx="9144000" cy="6858000"/>
          </a:xfrm>
          <a:prstGeom prst="rect">
            <a:avLst/>
          </a:prstGeom>
        </p:spPr>
      </p:pic>
      <p:pic>
        <p:nvPicPr>
          <p:cNvPr id="3" name="pt:reNs2YsCxx" descr="preencoded.png">    </p:cNvPr>
          <p:cNvPicPr>
            <a:picLocks noChangeAspect="1"/>
          </p:cNvPicPr>
          <p:nvPr/>
        </p:nvPicPr>
        <p:blipFill>
          <a:blip r:embed="rId2"/>
          <a:stretch>
            <a:fillRect/>
          </a:stretch>
        </p:blipFill>
        <p:spPr>
          <a:xfrm>
            <a:off x="0" y="0"/>
            <a:ext cx="9144000" cy="6858000"/>
          </a:xfrm>
          <a:prstGeom prst="rect">
            <a:avLst/>
          </a:prstGeom>
        </p:spPr>
      </p:pic>
      <p:sp>
        <p:nvSpPr>
          <p:cNvPr id="4" name="pt:DD6HS_qmKN"/>
          <p:cNvSpPr/>
          <p:nvPr/>
        </p:nvSpPr>
        <p:spPr>
          <a:xfrm>
            <a:off x="457200" y="2880360"/>
            <a:ext cx="698500" cy="50800"/>
          </a:xfrm>
          <a:prstGeom prst="roundRect">
            <a:avLst>
              <a:gd name="adj" fmla="val 50000"/>
            </a:avLst>
          </a:prstGeom>
          <a:solidFill>
            <a:srgbClr val="17BEBB"/>
          </a:solidFill>
          <a:ln/>
        </p:spPr>
      </p:sp>
      <p:sp>
        <p:nvSpPr>
          <p:cNvPr id="5" name="pt:Km8cYxX_Gf"/>
          <p:cNvSpPr/>
          <p:nvPr/>
        </p:nvSpPr>
        <p:spPr>
          <a:xfrm>
            <a:off x="457200" y="3070860"/>
            <a:ext cx="8229600" cy="2075180"/>
          </a:xfrm>
          <a:prstGeom prst="rect">
            <a:avLst/>
          </a:prstGeom>
          <a:noFill/>
          <a:ln/>
        </p:spPr>
        <p:txBody>
          <a:bodyPr wrap="square" lIns="0" tIns="0" rIns="0" bIns="0" rtlCol="0" anchor="ctr"/>
          <a:lstStyle/>
          <a:p>
            <a:pPr algn="l" indent="0" marL="0">
              <a:lnSpc>
                <a:spcPct val="120000"/>
              </a:lnSpc>
              <a:buNone/>
            </a:pPr>
            <a:r>
              <a:rPr lang="en-US" sz="3600" b="1" dirty="0">
                <a:solidFill>
                  <a:srgbClr val="FFFFFF"/>
                </a:solidFill>
                <a:latin typeface="Space Grotesk" pitchFamily="34" charset="0"/>
                <a:ea typeface="Space Grotesk" pitchFamily="34" charset="-122"/>
                <a:cs typeface="Space Grotesk" pitchFamily="34" charset="-120"/>
              </a:rPr>
              <a:t>Built for fleet success and rapid deployment</a:t>
            </a:r>
            <a:endParaRPr lang="en-US" sz="3600" dirty="0"/>
          </a:p>
        </p:txBody>
      </p:sp>
      <p:sp>
        <p:nvSpPr>
          <p:cNvPr id="6" name="pt:4kOlgJYqjm"/>
          <p:cNvSpPr/>
          <p:nvPr/>
        </p:nvSpPr>
        <p:spPr>
          <a:xfrm>
            <a:off x="457200" y="5184140"/>
            <a:ext cx="8229600" cy="850900"/>
          </a:xfrm>
          <a:prstGeom prst="rect">
            <a:avLst/>
          </a:prstGeom>
          <a:noFill/>
          <a:ln/>
        </p:spPr>
        <p:txBody>
          <a:bodyPr wrap="square" lIns="0" tIns="0" rIns="0" bIns="0" rtlCol="0" anchor="t"/>
          <a:lstStyle/>
          <a:p>
            <a:pPr algn="l" indent="0" marL="0">
              <a:lnSpc>
                <a:spcPct val="120000"/>
              </a:lnSpc>
              <a:buNone/>
            </a:pPr>
            <a:r>
              <a:rPr lang="en-US" sz="1600" dirty="0">
                <a:solidFill>
                  <a:srgbClr val="D0CECE"/>
                </a:solidFill>
                <a:latin typeface="Space Grotesk" pitchFamily="34" charset="0"/>
                <a:ea typeface="Space Grotesk" pitchFamily="34" charset="-122"/>
                <a:cs typeface="Space Grotesk" pitchFamily="34" charset="-120"/>
              </a:rPr>
              <a:t>Discover how Northwind optimizes routes and delivers proven results across active fleets</a:t>
            </a:r>
            <a:endParaRPr lang="en-US" sz="1600" dirty="0"/>
          </a:p>
        </p:txBody>
      </p:sp>
      <p:sp>
        <p:nvSpPr>
          <p:cNvPr id="7" name="pt:NgU2LwLO6O"/>
          <p:cNvSpPr/>
          <p:nvPr/>
        </p:nvSpPr>
        <p:spPr>
          <a:xfrm>
            <a:off x="412750" y="6451600"/>
            <a:ext cx="361950" cy="361950"/>
          </a:xfrm>
          <a:prstGeom prst="roundRect">
            <a:avLst>
              <a:gd name="adj" fmla="val 12281"/>
            </a:avLst>
          </a:prstGeom>
          <a:solidFill>
            <a:srgbClr val="FFFFFF"/>
          </a:solidFill>
          <a:ln/>
        </p:spPr>
      </p:sp>
      <p:pic>
        <p:nvPicPr>
          <p:cNvPr id="8" name="pt:699rXkPgBo" descr="Journey Brand logo">    </p:cNvPr>
          <p:cNvPicPr>
            <a:picLocks noChangeAspect="1"/>
          </p:cNvPicPr>
          <p:nvPr/>
        </p:nvPicPr>
        <p:blipFill>
          <a:blip r:embed="rId3"/>
          <a:srcRect l="0" r="0" t="0" b="0"/>
          <a:stretch/>
        </p:blipFill>
        <p:spPr>
          <a:xfrm>
            <a:off x="457200" y="6496050"/>
            <a:ext cx="273050" cy="273050"/>
          </a:xfrm>
          <a:prstGeom prst="rect">
            <a:avLst/>
          </a:prstGeom>
        </p:spPr>
      </p:pic>
    </p:spTree>
  </p:cSld>
  <p:clrMapOvr>
    <a:masterClrMapping/>
  </p:clrMapOvr>
  <p:transition spd="fast">
    <p:zoom dir="in"/>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22" presetClass="entr" presetSubtype="8" fill="hold" decel="100000"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wipe(left)">
                                      <p:cBhvr>
                                        <p:cTn id="6" dur="450"/>
                                        <p:tgtEl>
                                          <p:spTgt spid="4"/>
                                        </p:tgtEl>
                                      </p:cBhvr>
                                    </p:animEffect>
                                  </p:childTnLst>
                                </p:cTn>
                              </p:par>
                              <p:par>
                                <p:cTn id="11" presetID="53" presetClass="entr" presetSubtype="16" fill="hold" decel="100000" nodeType="withEffect">
                                  <p:stCondLst>
                                    <p:cond delay="100"/>
                                  </p:stCondLst>
                                  <p:childTnLst>
                                    <p:set>
                                      <p:cBhvr>
                                        <p:cTn id="8" dur="1" fill="hold">
                                          <p:stCondLst>
                                            <p:cond delay="0"/>
                                          </p:stCondLst>
                                        </p:cTn>
                                        <p:tgtEl>
                                          <p:spTgt spid="5"/>
                                        </p:tgtEl>
                                        <p:attrNameLst>
                                          <p:attrName>style.visibility</p:attrName>
                                        </p:attrNameLst>
                                      </p:cBhvr>
                                      <p:to>
                                        <p:strVal val="visible"/>
                                      </p:to>
                                    </p:set>
                                    <p:animEffect transition="in" filter="fade">
                                      <p:cBhvr>
                                        <p:cTn id="9" dur="450"/>
                                        <p:tgtEl>
                                          <p:spTgt spid="5"/>
                                        </p:tgtEl>
                                      </p:cBhvr>
                                    </p:animEffect>
                                    <p:animScale>
                                      <p:cBhvr>
                                        <p:cTn id="10" dur="450" fill="hold"/>
                                        <p:tgtEl>
                                          <p:spTgt spid="5"/>
                                        </p:tgtEl>
                                      </p:cBhvr>
                                      <p:from x="88000" y="88000"/>
                                      <p:to x="100000" y="100000"/>
                                    </p:animScale>
                                  </p:childTnLst>
                                </p:cTn>
                              </p:par>
                              <p:par>
                                <p:cTn id="15" presetID="53" presetClass="entr" presetSubtype="16" fill="hold" decel="100000" nodeType="withEffect">
                                  <p:stCondLst>
                                    <p:cond delay="20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450"/>
                                        <p:tgtEl>
                                          <p:spTgt spid="6"/>
                                        </p:tgtEl>
                                      </p:cBhvr>
                                    </p:animEffect>
                                    <p:animScale>
                                      <p:cBhvr>
                                        <p:cTn id="14" dur="450" fill="hold"/>
                                        <p:tgtEl>
                                          <p:spTgt spid="6"/>
                                        </p:tgtEl>
                                      </p:cBhvr>
                                      <p:from x="88000" y="88000"/>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promptToPpt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Remix edited 65942</dc:title>
  <dc:subject>PptxGenJS Presentation</dc:subject>
  <dc:creator>PptxGenJS</dc:creator>
  <cp:lastModifiedBy>PptxGenJS</cp:lastModifiedBy>
  <cp:revision>1</cp:revision>
  <dcterms:created xsi:type="dcterms:W3CDTF">2026-10-10T05:37:50Z</dcterms:created>
  <dcterms:modified xsi:type="dcterms:W3CDTF">2026-10-10T05:37:50Z</dcterms:modified>
</cp:coreProperties>
</file>