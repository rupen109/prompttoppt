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our logistics platform, designed specifically to help growing fleets reduce delivery expenses, eliminate empty miles, and streamline overall fleet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end-to-end workflow handles the entire delivery journey seamlessly. We import your orders, automate route optimization in seconds, empower your drivers via mobile tools, and keep your customers informed with live delivery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enterprise platforms often penalise growing fleets with complex onboarding and escalating per-vehicle fees. ZETA-77 hand editNorthwind provides predictable flat pricing and deploys in a single afternoon using standard mobile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proud to serve 84 paying fleets with a 98% customer retention rate. Reach out today to see how quickly we can optimize your delivery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16"/>
        </a:solidFill>
      </p:bgPr>
    </p:bg>
    <p:spTree>
      <p:nvGrpSpPr>
        <p:cNvPr id="1" name=""/>
        <p:cNvGrpSpPr/>
        <p:nvPr/>
      </p:nvGrpSpPr>
      <p:grpSpPr>
        <a:xfrm>
          <a:off x="0" y="0"/>
          <a:ext cx="0" cy="0"/>
          <a:chOff x="0" y="0"/>
          <a:chExt cx="0" cy="0"/>
        </a:xfrm>
      </p:grpSpPr>
      <p:pic>
        <p:nvPicPr>
          <p:cNvPr id="2" name="pt:9908db42-99df-4394-9c2a-4436de10e404" descr="Floating glass app screens and UI cards in 3D on a soft gradient">    </p:cNvPr>
          <p:cNvPicPr>
            <a:picLocks noChangeAspect="1"/>
          </p:cNvPicPr>
          <p:nvPr/>
        </p:nvPicPr>
        <p:blipFill>
          <a:blip r:embed="rId1"/>
          <a:srcRect l="0" r="0" t="0" b="0"/>
          <a:stretch/>
        </p:blipFill>
        <p:spPr>
          <a:xfrm>
            <a:off x="0" y="0"/>
            <a:ext cx="9144000" cy="6858000"/>
          </a:xfrm>
          <a:prstGeom prst="rect">
            <a:avLst/>
          </a:prstGeom>
        </p:spPr>
      </p:pic>
      <p:pic>
        <p:nvPicPr>
          <p:cNvPr id="3" name="pt:9908db42-99df-4394-9c2a-4436de10e404"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1d2a7e30-90e4-4d38-b85b-89d77f3dacc3"/>
          <p:cNvSpPr/>
          <p:nvPr/>
        </p:nvSpPr>
        <p:spPr>
          <a:xfrm>
            <a:off x="457200" y="2880360"/>
            <a:ext cx="698500" cy="50800"/>
          </a:xfrm>
          <a:prstGeom prst="roundRect">
            <a:avLst>
              <a:gd name="adj" fmla="val 50000"/>
            </a:avLst>
          </a:prstGeom>
          <a:solidFill>
            <a:srgbClr val="22D3EE"/>
          </a:solidFill>
          <a:ln/>
        </p:spPr>
      </p:sp>
      <p:sp>
        <p:nvSpPr>
          <p:cNvPr id="5" name="pt:603eb39a-2210-4cc6-be75-c726a08b38f7"/>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ZETA-77 hand editNorthwind: Logistics Software That Cuts Delivery Cost</a:t>
            </a:r>
            <a:endParaRPr lang="en-US" sz="4100" dirty="0"/>
          </a:p>
        </p:txBody>
      </p:sp>
      <p:sp>
        <p:nvSpPr>
          <p:cNvPr id="6" name="pt:ca5625d2-cac5-4665-8bf7-51d06a24c8c5"/>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Modern delivery management engineered to reduce expenses and eliminate wasted miles for growing fleets</a:t>
            </a:r>
            <a:endParaRPr lang="en-US" sz="1600" dirty="0"/>
          </a:p>
        </p:txBody>
      </p:sp>
      <p:sp>
        <p:nvSpPr>
          <p:cNvPr id="7" name="pt:f6b610ee-bb3f-400d-9b33-8e452ed273a6"/>
          <p:cNvSpPr/>
          <p:nvPr/>
        </p:nvSpPr>
        <p:spPr>
          <a:xfrm>
            <a:off x="412750" y="6451600"/>
            <a:ext cx="361950" cy="361950"/>
          </a:xfrm>
          <a:prstGeom prst="roundRect">
            <a:avLst>
              <a:gd name="adj" fmla="val 12281"/>
            </a:avLst>
          </a:prstGeom>
          <a:solidFill>
            <a:srgbClr val="FFFFFF"/>
          </a:solidFill>
          <a:ln/>
        </p:spPr>
      </p:sp>
      <p:pic>
        <p:nvPicPr>
          <p:cNvPr id="8" name="pt:49cb7021-ea93-428b-9dd8-e2bbd200782c"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B"/>
        </a:solidFill>
      </p:bgPr>
    </p:bg>
    <p:spTree>
      <p:nvGrpSpPr>
        <p:cNvPr id="1" name=""/>
        <p:cNvGrpSpPr/>
        <p:nvPr/>
      </p:nvGrpSpPr>
      <p:grpSpPr>
        <a:xfrm>
          <a:off x="0" y="0"/>
          <a:ext cx="0" cy="0"/>
          <a:chOff x="0" y="0"/>
          <a:chExt cx="0" cy="0"/>
        </a:xfrm>
      </p:grpSpPr>
      <p:sp>
        <p:nvSpPr>
          <p:cNvPr id="2" name="pt:263bf703-e40c-4870-a12b-001086798bb3"/>
          <p:cNvSpPr/>
          <p:nvPr/>
        </p:nvSpPr>
        <p:spPr>
          <a:xfrm>
            <a:off x="0" y="228600"/>
            <a:ext cx="9144000" cy="12700"/>
          </a:xfrm>
          <a:prstGeom prst="rect">
            <a:avLst/>
          </a:prstGeom>
          <a:solidFill>
            <a:srgbClr val="2A2A39"/>
          </a:solidFill>
          <a:ln/>
        </p:spPr>
      </p:sp>
      <p:sp>
        <p:nvSpPr>
          <p:cNvPr id="3" name="pt:667ac98d-de8f-44a6-8f54-7b2469f3c8c0"/>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EDEDF8"/>
                </a:solidFill>
                <a:latin typeface="Space Grotesk" pitchFamily="34" charset="0"/>
                <a:ea typeface="Space Grotesk" pitchFamily="34" charset="-122"/>
                <a:cs typeface="Space Grotesk" pitchFamily="34" charset="-120"/>
              </a:rPr>
              <a:t>Streamlined Logistics from Order </a:t>
            </a:r>
            <a:pPr algn="l" indent="0" marL="0">
              <a:lnSpc>
                <a:spcPct val="120000"/>
              </a:lnSpc>
              <a:buNone/>
            </a:pPr>
            <a:r>
              <a:rPr lang="en-US" sz="2800" b="1" dirty="0">
                <a:solidFill>
                  <a:srgbClr val="22D3EE"/>
                </a:solidFill>
                <a:latin typeface="Space Grotesk" pitchFamily="34" charset="0"/>
                <a:ea typeface="Space Grotesk" pitchFamily="34" charset="-122"/>
                <a:cs typeface="Space Grotesk" pitchFamily="34" charset="-120"/>
              </a:rPr>
              <a:t>Import to Delivery</a:t>
            </a:r>
            <a:endParaRPr lang="en-US" sz="2800" dirty="0"/>
          </a:p>
        </p:txBody>
      </p:sp>
      <p:sp>
        <p:nvSpPr>
          <p:cNvPr id="4" name="pt:1d834196-2325-45c6-9dbc-a5b51b6e5085"/>
          <p:cNvSpPr/>
          <p:nvPr/>
        </p:nvSpPr>
        <p:spPr>
          <a:xfrm>
            <a:off x="520700" y="1663700"/>
            <a:ext cx="1905000" cy="3302000"/>
          </a:xfrm>
          <a:prstGeom prst="roundRect">
            <a:avLst>
              <a:gd name="adj" fmla="val 5333"/>
            </a:avLst>
          </a:prstGeom>
          <a:solidFill>
            <a:srgbClr val="EDEDF8">
              <a:alpha val="12000"/>
            </a:srgbClr>
          </a:solidFill>
          <a:ln/>
        </p:spPr>
      </p:sp>
      <p:sp>
        <p:nvSpPr>
          <p:cNvPr id="5" name="pt:5836fb8b-d8d0-48ff-bce8-f497b3757724"/>
          <p:cNvSpPr/>
          <p:nvPr/>
        </p:nvSpPr>
        <p:spPr>
          <a:xfrm>
            <a:off x="457200" y="1587500"/>
            <a:ext cx="1905000" cy="3302000"/>
          </a:xfrm>
          <a:prstGeom prst="roundRect">
            <a:avLst>
              <a:gd name="adj" fmla="val 5333"/>
            </a:avLst>
          </a:prstGeom>
          <a:solidFill>
            <a:srgbClr val="0B0B1B"/>
          </a:solidFill>
          <a:ln w="12700">
            <a:solidFill>
              <a:srgbClr val="2A2A39"/>
            </a:solidFill>
            <a:prstDash val="solid"/>
          </a:ln>
        </p:spPr>
      </p:sp>
      <p:sp>
        <p:nvSpPr>
          <p:cNvPr id="6" name="pt:e72eed41-54af-4509-9180-e7885dfe4268"/>
          <p:cNvSpPr/>
          <p:nvPr/>
        </p:nvSpPr>
        <p:spPr>
          <a:xfrm>
            <a:off x="6350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01</a:t>
            </a:r>
            <a:endParaRPr lang="en-US" sz="2800" dirty="0"/>
          </a:p>
        </p:txBody>
      </p:sp>
      <p:sp>
        <p:nvSpPr>
          <p:cNvPr id="7" name="pt:fc7a92b8-13de-4160-9de9-6269e32529ad"/>
          <p:cNvSpPr/>
          <p:nvPr/>
        </p:nvSpPr>
        <p:spPr>
          <a:xfrm>
            <a:off x="6350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Import</a:t>
            </a:r>
            <a:endParaRPr lang="en-US" sz="1700" dirty="0"/>
          </a:p>
        </p:txBody>
      </p:sp>
      <p:sp>
        <p:nvSpPr>
          <p:cNvPr id="8" name="pt:9cb805e3-94de-475f-83bb-37f9efb459ed"/>
          <p:cNvSpPr/>
          <p:nvPr/>
        </p:nvSpPr>
        <p:spPr>
          <a:xfrm>
            <a:off x="6350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Upload daily orders seamlessly or sync directly with your current systems</a:t>
            </a:r>
            <a:endParaRPr lang="en-US" sz="1300" dirty="0"/>
          </a:p>
        </p:txBody>
      </p:sp>
      <p:sp>
        <p:nvSpPr>
          <p:cNvPr id="9" name="pt:fde5629e-aa87-428e-a6be-d3158061c107"/>
          <p:cNvSpPr/>
          <p:nvPr/>
        </p:nvSpPr>
        <p:spPr>
          <a:xfrm>
            <a:off x="2628900" y="1663700"/>
            <a:ext cx="1905000" cy="3302000"/>
          </a:xfrm>
          <a:prstGeom prst="roundRect">
            <a:avLst>
              <a:gd name="adj" fmla="val 5333"/>
            </a:avLst>
          </a:prstGeom>
          <a:solidFill>
            <a:srgbClr val="EDEDF8">
              <a:alpha val="12000"/>
            </a:srgbClr>
          </a:solidFill>
          <a:ln/>
        </p:spPr>
      </p:sp>
      <p:sp>
        <p:nvSpPr>
          <p:cNvPr id="10" name="pt:1c798667-ef76-4cb6-9ef9-83657a8e3abf"/>
          <p:cNvSpPr/>
          <p:nvPr/>
        </p:nvSpPr>
        <p:spPr>
          <a:xfrm>
            <a:off x="2565400" y="1587500"/>
            <a:ext cx="1905000" cy="3302000"/>
          </a:xfrm>
          <a:prstGeom prst="roundRect">
            <a:avLst>
              <a:gd name="adj" fmla="val 5333"/>
            </a:avLst>
          </a:prstGeom>
          <a:solidFill>
            <a:srgbClr val="0B0B1B"/>
          </a:solidFill>
          <a:ln w="12700">
            <a:solidFill>
              <a:srgbClr val="2A2A39"/>
            </a:solidFill>
            <a:prstDash val="solid"/>
          </a:ln>
        </p:spPr>
      </p:sp>
      <p:sp>
        <p:nvSpPr>
          <p:cNvPr id="11" name="pt:9aa7a33e-bef2-4869-8381-3762cc383e32"/>
          <p:cNvSpPr/>
          <p:nvPr/>
        </p:nvSpPr>
        <p:spPr>
          <a:xfrm>
            <a:off x="27432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02</a:t>
            </a:r>
            <a:endParaRPr lang="en-US" sz="2800" dirty="0"/>
          </a:p>
        </p:txBody>
      </p:sp>
      <p:sp>
        <p:nvSpPr>
          <p:cNvPr id="12" name="pt:1a24b81e-fb3c-4e4c-a4d8-f997a6bcde8d"/>
          <p:cNvSpPr/>
          <p:nvPr/>
        </p:nvSpPr>
        <p:spPr>
          <a:xfrm>
            <a:off x="27432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Plan</a:t>
            </a:r>
            <a:endParaRPr lang="en-US" sz="1700" dirty="0"/>
          </a:p>
        </p:txBody>
      </p:sp>
      <p:sp>
        <p:nvSpPr>
          <p:cNvPr id="13" name="pt:346967fa-0254-4dfd-bd33-f14dd3822af2"/>
          <p:cNvSpPr/>
          <p:nvPr/>
        </p:nvSpPr>
        <p:spPr>
          <a:xfrm>
            <a:off x="27432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Automatic route planning in under a minute, optimised for time, cost, and vehicle capacity</a:t>
            </a:r>
            <a:endParaRPr lang="en-US" sz="1300" dirty="0"/>
          </a:p>
        </p:txBody>
      </p:sp>
      <p:sp>
        <p:nvSpPr>
          <p:cNvPr id="14" name="pt:366bef15-91e8-4965-b1d0-aca86e04ccd2"/>
          <p:cNvSpPr/>
          <p:nvPr/>
        </p:nvSpPr>
        <p:spPr>
          <a:xfrm>
            <a:off x="4737100" y="1663700"/>
            <a:ext cx="1905000" cy="3302000"/>
          </a:xfrm>
          <a:prstGeom prst="roundRect">
            <a:avLst>
              <a:gd name="adj" fmla="val 5333"/>
            </a:avLst>
          </a:prstGeom>
          <a:solidFill>
            <a:srgbClr val="EDEDF8">
              <a:alpha val="12000"/>
            </a:srgbClr>
          </a:solidFill>
          <a:ln/>
        </p:spPr>
      </p:sp>
      <p:sp>
        <p:nvSpPr>
          <p:cNvPr id="15" name="pt:67eb75b9-3c1f-4304-bbd9-4361686b0bb8"/>
          <p:cNvSpPr/>
          <p:nvPr/>
        </p:nvSpPr>
        <p:spPr>
          <a:xfrm>
            <a:off x="4673600" y="1587500"/>
            <a:ext cx="1905000" cy="3302000"/>
          </a:xfrm>
          <a:prstGeom prst="roundRect">
            <a:avLst>
              <a:gd name="adj" fmla="val 5333"/>
            </a:avLst>
          </a:prstGeom>
          <a:solidFill>
            <a:srgbClr val="0B0B1B"/>
          </a:solidFill>
          <a:ln w="12700">
            <a:solidFill>
              <a:srgbClr val="2A2A39"/>
            </a:solidFill>
            <a:prstDash val="solid"/>
          </a:ln>
        </p:spPr>
      </p:sp>
      <p:sp>
        <p:nvSpPr>
          <p:cNvPr id="16" name="pt:2498f8ad-7867-42c2-8c3a-1b18ebdfe650"/>
          <p:cNvSpPr/>
          <p:nvPr/>
        </p:nvSpPr>
        <p:spPr>
          <a:xfrm>
            <a:off x="48514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03</a:t>
            </a:r>
            <a:endParaRPr lang="en-US" sz="2800" dirty="0"/>
          </a:p>
        </p:txBody>
      </p:sp>
      <p:sp>
        <p:nvSpPr>
          <p:cNvPr id="17" name="pt:d8adb058-8d24-4be8-9fc1-464643db386a"/>
          <p:cNvSpPr/>
          <p:nvPr/>
        </p:nvSpPr>
        <p:spPr>
          <a:xfrm>
            <a:off x="48514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Deliver</a:t>
            </a:r>
            <a:endParaRPr lang="en-US" sz="1700" dirty="0"/>
          </a:p>
        </p:txBody>
      </p:sp>
      <p:sp>
        <p:nvSpPr>
          <p:cNvPr id="18" name="pt:b5df33ed-a0e9-44fc-adff-ade85e1ba41a"/>
          <p:cNvSpPr/>
          <p:nvPr/>
        </p:nvSpPr>
        <p:spPr>
          <a:xfrm>
            <a:off x="48514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Drivers execute turn-by-turn routes inside the mobile app using existing phones</a:t>
            </a:r>
            <a:endParaRPr lang="en-US" sz="1300" dirty="0"/>
          </a:p>
        </p:txBody>
      </p:sp>
      <p:sp>
        <p:nvSpPr>
          <p:cNvPr id="19" name="pt:6bcf679c-7ba0-41e4-84b5-56d9fcd44273"/>
          <p:cNvSpPr/>
          <p:nvPr/>
        </p:nvSpPr>
        <p:spPr>
          <a:xfrm>
            <a:off x="6845300" y="1663700"/>
            <a:ext cx="1905000" cy="3302000"/>
          </a:xfrm>
          <a:prstGeom prst="roundRect">
            <a:avLst>
              <a:gd name="adj" fmla="val 5333"/>
            </a:avLst>
          </a:prstGeom>
          <a:solidFill>
            <a:srgbClr val="EDEDF8">
              <a:alpha val="12000"/>
            </a:srgbClr>
          </a:solidFill>
          <a:ln/>
        </p:spPr>
      </p:sp>
      <p:sp>
        <p:nvSpPr>
          <p:cNvPr id="20" name="pt:4c574201-0071-4c2d-acaf-4761a9e9abc4"/>
          <p:cNvSpPr/>
          <p:nvPr/>
        </p:nvSpPr>
        <p:spPr>
          <a:xfrm>
            <a:off x="6781800" y="1587500"/>
            <a:ext cx="1905000" cy="3302000"/>
          </a:xfrm>
          <a:prstGeom prst="roundRect">
            <a:avLst>
              <a:gd name="adj" fmla="val 5333"/>
            </a:avLst>
          </a:prstGeom>
          <a:solidFill>
            <a:srgbClr val="0B0B1B"/>
          </a:solidFill>
          <a:ln w="12700">
            <a:solidFill>
              <a:srgbClr val="2A2A39"/>
            </a:solidFill>
            <a:prstDash val="solid"/>
          </a:ln>
        </p:spPr>
      </p:sp>
      <p:sp>
        <p:nvSpPr>
          <p:cNvPr id="21" name="pt:67d87420-766d-45a8-9bd4-3bc3ea3d082c"/>
          <p:cNvSpPr/>
          <p:nvPr/>
        </p:nvSpPr>
        <p:spPr>
          <a:xfrm>
            <a:off x="69596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04</a:t>
            </a:r>
            <a:endParaRPr lang="en-US" sz="2800" dirty="0"/>
          </a:p>
        </p:txBody>
      </p:sp>
      <p:sp>
        <p:nvSpPr>
          <p:cNvPr id="22" name="pt:17f1b954-cf5d-4b43-b59d-78030570ea1f"/>
          <p:cNvSpPr/>
          <p:nvPr/>
        </p:nvSpPr>
        <p:spPr>
          <a:xfrm>
            <a:off x="69596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Notify</a:t>
            </a:r>
            <a:endParaRPr lang="en-US" sz="1700" dirty="0"/>
          </a:p>
        </p:txBody>
      </p:sp>
      <p:sp>
        <p:nvSpPr>
          <p:cNvPr id="23" name="pt:fd7d3678-b79f-479a-b637-8904c3ad99e7"/>
          <p:cNvSpPr/>
          <p:nvPr/>
        </p:nvSpPr>
        <p:spPr>
          <a:xfrm>
            <a:off x="69596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Customers receive accurate live delivery windows and verified proof of delivery</a:t>
            </a:r>
            <a:endParaRPr lang="en-US" sz="1300" dirty="0"/>
          </a:p>
        </p:txBody>
      </p:sp>
      <p:sp>
        <p:nvSpPr>
          <p:cNvPr id="24" name="pt:1ac2b183-8af8-4d67-813a-b9d3c1648cc2"/>
          <p:cNvSpPr/>
          <p:nvPr/>
        </p:nvSpPr>
        <p:spPr>
          <a:xfrm>
            <a:off x="412750" y="6451600"/>
            <a:ext cx="361950" cy="361950"/>
          </a:xfrm>
          <a:prstGeom prst="roundRect">
            <a:avLst>
              <a:gd name="adj" fmla="val 12281"/>
            </a:avLst>
          </a:prstGeom>
          <a:solidFill>
            <a:srgbClr val="FFFFFF"/>
          </a:solidFill>
          <a:ln/>
        </p:spPr>
      </p:sp>
      <p:pic>
        <p:nvPicPr>
          <p:cNvPr id="25" name="pt:c3512e89-a05f-4397-8fab-170c19f0062d"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2" presetID="53" presetClass="entr" presetSubtype="16" fill="hold" decel="100000" nodeType="withEffect">
                                  <p:stCondLst>
                                    <p:cond delay="8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70000" y="70000"/>
                                      <p:to x="100000" y="100000"/>
                                    </p:animScale>
                                  </p:childTnLst>
                                </p:cTn>
                              </p:par>
                              <p:par>
                                <p:cTn id="16" presetID="42" presetClass="entr" presetSubtype="0" fill="hold" decel="100000" nodeType="withEffect">
                                  <p:stCondLst>
                                    <p:cond delay="175"/>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 calcmode="lin" valueType="num">
                                      <p:cBhvr additive="base">
                                        <p:cTn id="15" dur="450" fill="hold"/>
                                        <p:tgtEl>
                                          <p:spTgt spid="7"/>
                                        </p:tgtEl>
                                        <p:attrNameLst>
                                          <p:attrName>ppt_y</p:attrName>
                                        </p:attrNameLst>
                                      </p:cBhvr>
                                      <p:tavLst>
                                        <p:tav tm="0">
                                          <p:val>
                                            <p:strVal val="#ppt_y+0.04"/>
                                          </p:val>
                                        </p:tav>
                                        <p:tav tm="100000">
                                          <p:val>
                                            <p:strVal val="#ppt_y"/>
                                          </p:val>
                                        </p:tav>
                                      </p:tavLst>
                                    </p:anim>
                                  </p:childTnLst>
                                </p:cTn>
                              </p:par>
                              <p:par>
                                <p:cTn id="20" presetID="53" presetClass="entr" presetSubtype="16" fill="hold" decel="100000" nodeType="withEffect">
                                  <p:stCondLst>
                                    <p:cond delay="263"/>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animScale>
                                      <p:cBhvr>
                                        <p:cTn id="19" dur="450" fill="hold"/>
                                        <p:tgtEl>
                                          <p:spTgt spid="10"/>
                                        </p:tgtEl>
                                      </p:cBhvr>
                                      <p:from x="70000" y="70000"/>
                                      <p:to x="100000" y="100000"/>
                                    </p:animScale>
                                  </p:childTnLst>
                                </p:cTn>
                              </p:par>
                              <p:par>
                                <p:cTn id="24" presetID="42" presetClass="entr" presetSubtype="0" fill="hold" decel="100000" nodeType="withEffect">
                                  <p:stCondLst>
                                    <p:cond delay="3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 calcmode="lin" valueType="num">
                                      <p:cBhvr additive="base">
                                        <p:cTn id="23" dur="450" fill="hold"/>
                                        <p:tgtEl>
                                          <p:spTgt spid="12"/>
                                        </p:tgtEl>
                                        <p:attrNameLst>
                                          <p:attrName>ppt_y</p:attrName>
                                        </p:attrNameLst>
                                      </p:cBhvr>
                                      <p:tavLst>
                                        <p:tav tm="0">
                                          <p:val>
                                            <p:strVal val="#ppt_y+0.04"/>
                                          </p:val>
                                        </p:tav>
                                        <p:tav tm="100000">
                                          <p:val>
                                            <p:strVal val="#ppt_y"/>
                                          </p:val>
                                        </p:tav>
                                      </p:tavLst>
                                    </p:anim>
                                  </p:childTnLst>
                                </p:cTn>
                              </p:par>
                              <p:par>
                                <p:cTn id="28" presetID="53" presetClass="entr" presetSubtype="16" fill="hold" decel="100000" nodeType="withEffect">
                                  <p:stCondLst>
                                    <p:cond delay="438"/>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animScale>
                                      <p:cBhvr>
                                        <p:cTn id="27" dur="450" fill="hold"/>
                                        <p:tgtEl>
                                          <p:spTgt spid="15"/>
                                        </p:tgtEl>
                                      </p:cBhvr>
                                      <p:from x="70000" y="70000"/>
                                      <p:to x="100000" y="100000"/>
                                    </p:animScale>
                                  </p:childTnLst>
                                </p:cTn>
                              </p:par>
                              <p:par>
                                <p:cTn id="32" presetID="42" presetClass="entr" presetSubtype="0" fill="hold" decel="100000" nodeType="withEffect">
                                  <p:stCondLst>
                                    <p:cond delay="525"/>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anim calcmode="lin" valueType="num">
                                      <p:cBhvr additive="base">
                                        <p:cTn id="31" dur="450" fill="hold"/>
                                        <p:tgtEl>
                                          <p:spTgt spid="17"/>
                                        </p:tgtEl>
                                        <p:attrNameLst>
                                          <p:attrName>ppt_y</p:attrName>
                                        </p:attrNameLst>
                                      </p:cBhvr>
                                      <p:tavLst>
                                        <p:tav tm="0">
                                          <p:val>
                                            <p:strVal val="#ppt_y+0.04"/>
                                          </p:val>
                                        </p:tav>
                                        <p:tav tm="100000">
                                          <p:val>
                                            <p:strVal val="#ppt_y"/>
                                          </p:val>
                                        </p:tav>
                                      </p:tavLst>
                                    </p:anim>
                                  </p:childTnLst>
                                </p:cTn>
                              </p:par>
                              <p:par>
                                <p:cTn id="36" presetID="53" presetClass="entr" presetSubtype="16" fill="hold" decel="100000" nodeType="withEffect">
                                  <p:stCondLst>
                                    <p:cond delay="613"/>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animScale>
                                      <p:cBhvr>
                                        <p:cTn id="35" dur="450" fill="hold"/>
                                        <p:tgtEl>
                                          <p:spTgt spid="20"/>
                                        </p:tgtEl>
                                      </p:cBhvr>
                                      <p:from x="70000" y="70000"/>
                                      <p:to x="100000" y="100000"/>
                                    </p:animScale>
                                  </p:childTnLst>
                                </p:cTn>
                              </p:par>
                              <p:par>
                                <p:cTn id="40" presetID="42" presetClass="entr" presetSubtype="0" fill="hold" decel="100000" nodeType="withEffect">
                                  <p:stCondLst>
                                    <p:cond delay="7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anim calcmode="lin" valueType="num">
                                      <p:cBhvr additive="base">
                                        <p:cTn id="39" dur="450" fill="hold"/>
                                        <p:tgtEl>
                                          <p:spTgt spid="22"/>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B"/>
        </a:solidFill>
      </p:bgPr>
    </p:bg>
    <p:spTree>
      <p:nvGrpSpPr>
        <p:cNvPr id="1" name=""/>
        <p:cNvGrpSpPr/>
        <p:nvPr/>
      </p:nvGrpSpPr>
      <p:grpSpPr>
        <a:xfrm>
          <a:off x="0" y="0"/>
          <a:ext cx="0" cy="0"/>
          <a:chOff x="0" y="0"/>
          <a:chExt cx="0" cy="0"/>
        </a:xfrm>
      </p:grpSpPr>
      <p:sp>
        <p:nvSpPr>
          <p:cNvPr id="2" name="pt:2c4b3cf8-8b84-4a62-9f00-e84c3437bfcd"/>
          <p:cNvSpPr/>
          <p:nvPr/>
        </p:nvSpPr>
        <p:spPr>
          <a:xfrm>
            <a:off x="0" y="228600"/>
            <a:ext cx="9144000" cy="12700"/>
          </a:xfrm>
          <a:prstGeom prst="rect">
            <a:avLst/>
          </a:prstGeom>
          <a:solidFill>
            <a:srgbClr val="2A2A39"/>
          </a:solidFill>
          <a:ln/>
        </p:spPr>
      </p:sp>
      <p:sp>
        <p:nvSpPr>
          <p:cNvPr id="3" name="pt:628761b3-fd0d-43a1-b31a-241a24bcf5f0"/>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3000" b="1" dirty="0">
                <a:solidFill>
                  <a:srgbClr val="EDEDF8"/>
                </a:solidFill>
                <a:latin typeface="Space Grotesk" pitchFamily="34" charset="0"/>
                <a:ea typeface="Space Grotesk" pitchFamily="34" charset="-122"/>
                <a:cs typeface="Space Grotesk" pitchFamily="34" charset="-120"/>
              </a:rPr>
              <a:t>Purpose-Built for </a:t>
            </a:r>
            <a:pPr algn="l" indent="0" marL="0">
              <a:lnSpc>
                <a:spcPct val="120000"/>
              </a:lnSpc>
              <a:buNone/>
            </a:pPr>
            <a:r>
              <a:rPr lang="en-US" sz="3000" b="1" dirty="0">
                <a:solidFill>
                  <a:srgbClr val="22D3EE"/>
                </a:solidFill>
                <a:latin typeface="Space Grotesk" pitchFamily="34" charset="0"/>
                <a:ea typeface="Space Grotesk" pitchFamily="34" charset="-122"/>
                <a:cs typeface="Space Grotesk" pitchFamily="34" charset="-120"/>
              </a:rPr>
              <a:t>Mid-Sized Fleets</a:t>
            </a:r>
            <a:endParaRPr lang="en-US" sz="3000" dirty="0"/>
          </a:p>
        </p:txBody>
      </p:sp>
      <p:sp>
        <p:nvSpPr>
          <p:cNvPr id="4" name="pt:9bf45542-4b7b-4455-9dd0-8a22a430248a"/>
          <p:cNvSpPr/>
          <p:nvPr/>
        </p:nvSpPr>
        <p:spPr>
          <a:xfrm>
            <a:off x="520700" y="1663700"/>
            <a:ext cx="3962400" cy="4813300"/>
          </a:xfrm>
          <a:prstGeom prst="roundRect">
            <a:avLst>
              <a:gd name="adj" fmla="val 2564"/>
            </a:avLst>
          </a:prstGeom>
          <a:solidFill>
            <a:srgbClr val="EDEDF8">
              <a:alpha val="12000"/>
            </a:srgbClr>
          </a:solidFill>
          <a:ln/>
        </p:spPr>
      </p:sp>
      <p:sp>
        <p:nvSpPr>
          <p:cNvPr id="5" name="pt:d0924169-b50d-4a9f-8d08-46f1d436cbbd"/>
          <p:cNvSpPr/>
          <p:nvPr/>
        </p:nvSpPr>
        <p:spPr>
          <a:xfrm>
            <a:off x="457200" y="1587500"/>
            <a:ext cx="3962400" cy="4813300"/>
          </a:xfrm>
          <a:prstGeom prst="roundRect">
            <a:avLst>
              <a:gd name="adj" fmla="val 2564"/>
            </a:avLst>
          </a:prstGeom>
          <a:solidFill>
            <a:srgbClr val="0B0B1B"/>
          </a:solidFill>
          <a:ln w="12700">
            <a:solidFill>
              <a:srgbClr val="2A2A39"/>
            </a:solidFill>
            <a:prstDash val="solid"/>
          </a:ln>
        </p:spPr>
      </p:sp>
      <p:sp>
        <p:nvSpPr>
          <p:cNvPr id="6" name="pt:b6ef17b2-f24c-4a38-a755-df36d453a1f0"/>
          <p:cNvSpPr/>
          <p:nvPr/>
        </p:nvSpPr>
        <p:spPr>
          <a:xfrm>
            <a:off x="685800" y="1816100"/>
            <a:ext cx="3505200" cy="508000"/>
          </a:xfrm>
          <a:prstGeom prst="rect">
            <a:avLst/>
          </a:prstGeom>
          <a:noFill/>
          <a:ln/>
        </p:spPr>
        <p:txBody>
          <a:bodyPr wrap="square" lIns="0" tIns="0" rIns="0" bIns="0" rtlCol="0" anchor="t"/>
          <a:lstStyle/>
          <a:p>
            <a:pPr algn="l" indent="0" marL="0">
              <a:lnSpc>
                <a:spcPct val="120000"/>
              </a:lnSpc>
              <a:buNone/>
            </a:pPr>
            <a:r>
              <a:rPr lang="en-US" sz="1500" b="1" dirty="0">
                <a:solidFill>
                  <a:srgbClr val="7474F3"/>
                </a:solidFill>
                <a:latin typeface="Space Grotesk" pitchFamily="34" charset="0"/>
                <a:ea typeface="Space Grotesk" pitchFamily="34" charset="-122"/>
                <a:cs typeface="Space Grotesk" pitchFamily="34" charset="-120"/>
              </a:rPr>
              <a:t>Traditional Enterprise Platforms</a:t>
            </a:r>
            <a:endParaRPr lang="en-US" sz="1500" dirty="0"/>
          </a:p>
        </p:txBody>
      </p:sp>
      <p:sp>
        <p:nvSpPr>
          <p:cNvPr id="7" name="pt:a1725435-fca4-4184-ac3d-5a409b925767"/>
          <p:cNvSpPr/>
          <p:nvPr/>
        </p:nvSpPr>
        <p:spPr>
          <a:xfrm>
            <a:off x="685800" y="2413000"/>
            <a:ext cx="3505200" cy="3797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EDEDF8"/>
                </a:solidFill>
                <a:latin typeface="Inter" pitchFamily="34" charset="0"/>
                <a:ea typeface="Inter" pitchFamily="34" charset="-122"/>
                <a:cs typeface="Inter" pitchFamily="34" charset="-120"/>
              </a:rPr>
              <a:t>Demand months of onboarding before full deployment</a:t>
            </a:r>
            <a:endParaRPr lang="en-US" sz="1500" dirty="0"/>
          </a:p>
          <a:p>
            <a:pPr algn="l" marL="342900" indent="-342900">
              <a:lnSpc>
                <a:spcPct val="120000"/>
              </a:lnSpc>
              <a:spcAft>
                <a:spcPts val="800"/>
              </a:spcAft>
              <a:buSzPct val="100000"/>
              <a:buChar char="•"/>
            </a:pPr>
            <a:r>
              <a:rPr lang="en-US" sz="1500" dirty="0">
                <a:solidFill>
                  <a:srgbClr val="EDEDF8"/>
                </a:solidFill>
                <a:latin typeface="Inter" pitchFamily="34" charset="0"/>
                <a:ea typeface="Inter" pitchFamily="34" charset="-122"/>
                <a:cs typeface="Inter" pitchFamily="34" charset="-120"/>
              </a:rPr>
              <a:t>Penalise fleet growth with higher per-vehicle pricing tiers</a:t>
            </a:r>
            <a:endParaRPr lang="en-US" sz="1500" dirty="0"/>
          </a:p>
          <a:p>
            <a:pPr algn="l" marL="342900" indent="-342900">
              <a:lnSpc>
                <a:spcPct val="120000"/>
              </a:lnSpc>
              <a:buSzPct val="100000"/>
              <a:buChar char="•"/>
            </a:pPr>
            <a:r>
              <a:rPr lang="en-US" sz="1500" dirty="0">
                <a:solidFill>
                  <a:srgbClr val="EDEDF8"/>
                </a:solidFill>
                <a:latin typeface="Inter" pitchFamily="34" charset="0"/>
                <a:ea typeface="Inter" pitchFamily="34" charset="-122"/>
                <a:cs typeface="Inter" pitchFamily="34" charset="-120"/>
              </a:rPr>
              <a:t>Require complex configuration and dedicated IT management</a:t>
            </a:r>
            <a:endParaRPr lang="en-US" sz="1500" dirty="0"/>
          </a:p>
        </p:txBody>
      </p:sp>
      <p:sp>
        <p:nvSpPr>
          <p:cNvPr id="8" name="pt:a397c2ec-1f32-48e1-a41d-99a765c87ed7"/>
          <p:cNvSpPr/>
          <p:nvPr/>
        </p:nvSpPr>
        <p:spPr>
          <a:xfrm>
            <a:off x="4787900" y="1663700"/>
            <a:ext cx="3962400" cy="4813300"/>
          </a:xfrm>
          <a:prstGeom prst="roundRect">
            <a:avLst>
              <a:gd name="adj" fmla="val 2564"/>
            </a:avLst>
          </a:prstGeom>
          <a:solidFill>
            <a:srgbClr val="EDEDF8">
              <a:alpha val="12000"/>
            </a:srgbClr>
          </a:solidFill>
          <a:ln/>
        </p:spPr>
      </p:sp>
      <p:sp>
        <p:nvSpPr>
          <p:cNvPr id="9" name="pt:00ef771f-edf5-478e-8032-d0f433084347"/>
          <p:cNvSpPr/>
          <p:nvPr/>
        </p:nvSpPr>
        <p:spPr>
          <a:xfrm>
            <a:off x="4724400" y="1587500"/>
            <a:ext cx="3962400" cy="4813300"/>
          </a:xfrm>
          <a:prstGeom prst="roundRect">
            <a:avLst>
              <a:gd name="adj" fmla="val 2564"/>
            </a:avLst>
          </a:prstGeom>
          <a:solidFill>
            <a:srgbClr val="0B0B1B"/>
          </a:solidFill>
          <a:ln w="12700">
            <a:solidFill>
              <a:srgbClr val="2A2A39"/>
            </a:solidFill>
            <a:prstDash val="solid"/>
          </a:ln>
        </p:spPr>
      </p:sp>
      <p:sp>
        <p:nvSpPr>
          <p:cNvPr id="10" name="pt:7a029b42-d382-4ae2-9508-51b00d637ca9"/>
          <p:cNvSpPr/>
          <p:nvPr/>
        </p:nvSpPr>
        <p:spPr>
          <a:xfrm>
            <a:off x="4953000" y="1816100"/>
            <a:ext cx="3505200" cy="508000"/>
          </a:xfrm>
          <a:prstGeom prst="rect">
            <a:avLst/>
          </a:prstGeom>
          <a:noFill/>
          <a:ln/>
        </p:spPr>
        <p:txBody>
          <a:bodyPr wrap="square" lIns="0" tIns="0" rIns="0" bIns="0" rtlCol="0" anchor="t"/>
          <a:lstStyle/>
          <a:p>
            <a:pPr algn="l" indent="0" marL="0">
              <a:lnSpc>
                <a:spcPct val="120000"/>
              </a:lnSpc>
              <a:buNone/>
            </a:pPr>
            <a:r>
              <a:rPr lang="en-US" sz="1800" b="1" dirty="0">
                <a:solidFill>
                  <a:srgbClr val="7474F3"/>
                </a:solidFill>
                <a:latin typeface="Space Grotesk" pitchFamily="34" charset="0"/>
                <a:ea typeface="Space Grotesk" pitchFamily="34" charset="-122"/>
                <a:cs typeface="Space Grotesk" pitchFamily="34" charset="-120"/>
              </a:rPr>
              <a:t>ZETA-77 hand editNorthwind</a:t>
            </a:r>
            <a:endParaRPr lang="en-US" sz="1800" dirty="0"/>
          </a:p>
        </p:txBody>
      </p:sp>
      <p:sp>
        <p:nvSpPr>
          <p:cNvPr id="11" name="pt:ec17dadf-4d74-4d3d-b12b-88faf896c7fe"/>
          <p:cNvSpPr/>
          <p:nvPr/>
        </p:nvSpPr>
        <p:spPr>
          <a:xfrm>
            <a:off x="4953000" y="2413000"/>
            <a:ext cx="3505200" cy="3797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EDEDF8"/>
                </a:solidFill>
                <a:latin typeface="Inter" pitchFamily="34" charset="0"/>
                <a:ea typeface="Inter" pitchFamily="34" charset="-122"/>
                <a:cs typeface="Inter" pitchFamily="34" charset="-120"/>
              </a:rPr>
              <a:t>Tailored for mid-sized fleets of 5 to 200 vehicles</a:t>
            </a:r>
            <a:endParaRPr lang="en-US" sz="1500" dirty="0"/>
          </a:p>
          <a:p>
            <a:pPr algn="l" marL="342900" indent="-342900">
              <a:lnSpc>
                <a:spcPct val="120000"/>
              </a:lnSpc>
              <a:spcAft>
                <a:spcPts val="800"/>
              </a:spcAft>
              <a:buSzPct val="100000"/>
              <a:buChar char="•"/>
            </a:pPr>
            <a:r>
              <a:rPr lang="en-US" sz="1500" dirty="0">
                <a:solidFill>
                  <a:srgbClr val="EDEDF8"/>
                </a:solidFill>
                <a:latin typeface="Inter" pitchFamily="34" charset="0"/>
                <a:ea typeface="Inter" pitchFamily="34" charset="-122"/>
                <a:cs typeface="Inter" pitchFamily="34" charset="-120"/>
              </a:rPr>
              <a:t>Go-live setup completed in a single afternoon</a:t>
            </a:r>
            <a:endParaRPr lang="en-US" sz="1500" dirty="0"/>
          </a:p>
          <a:p>
            <a:pPr algn="l" marL="342900" indent="-342900">
              <a:lnSpc>
                <a:spcPct val="120000"/>
              </a:lnSpc>
              <a:spcAft>
                <a:spcPts val="800"/>
              </a:spcAft>
              <a:buSzPct val="100000"/>
              <a:buChar char="•"/>
            </a:pPr>
            <a:r>
              <a:rPr lang="en-US" sz="1500" dirty="0">
                <a:solidFill>
                  <a:srgbClr val="EDEDF8"/>
                </a:solidFill>
                <a:latin typeface="Inter" pitchFamily="34" charset="0"/>
                <a:ea typeface="Inter" pitchFamily="34" charset="-122"/>
                <a:cs typeface="Inter" pitchFamily="34" charset="-120"/>
              </a:rPr>
              <a:t>Simple flat pricing replaces punitive per-vehicle tiers</a:t>
            </a:r>
            <a:endParaRPr lang="en-US" sz="1500" dirty="0"/>
          </a:p>
          <a:p>
            <a:pPr algn="l" marL="342900" indent="-342900">
              <a:lnSpc>
                <a:spcPct val="120000"/>
              </a:lnSpc>
              <a:buSzPct val="100000"/>
              <a:buChar char="•"/>
            </a:pPr>
            <a:r>
              <a:rPr lang="en-US" sz="1500" dirty="0">
                <a:solidFill>
                  <a:srgbClr val="EDEDF8"/>
                </a:solidFill>
                <a:latin typeface="Inter" pitchFamily="34" charset="0"/>
                <a:ea typeface="Inter" pitchFamily="34" charset="-122"/>
                <a:cs typeface="Inter" pitchFamily="34" charset="-120"/>
              </a:rPr>
              <a:t>Works out of the box with existing hardware and phones</a:t>
            </a:r>
            <a:endParaRPr lang="en-US" sz="1500" dirty="0"/>
          </a:p>
        </p:txBody>
      </p:sp>
      <p:sp>
        <p:nvSpPr>
          <p:cNvPr id="12" name="pt:130d2c69-f68c-4831-861f-96e3475eeff3"/>
          <p:cNvSpPr/>
          <p:nvPr/>
        </p:nvSpPr>
        <p:spPr>
          <a:xfrm>
            <a:off x="412750" y="6451600"/>
            <a:ext cx="361950" cy="361950"/>
          </a:xfrm>
          <a:prstGeom prst="roundRect">
            <a:avLst>
              <a:gd name="adj" fmla="val 12281"/>
            </a:avLst>
          </a:prstGeom>
          <a:solidFill>
            <a:srgbClr val="FFFFFF"/>
          </a:solidFill>
          <a:ln/>
        </p:spPr>
      </p:sp>
      <p:pic>
        <p:nvPicPr>
          <p:cNvPr id="13" name="pt:ac237a58-541a-40a2-8c97-05eef92f17c0"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2" presetID="53" presetClass="entr" presetSubtype="16" fill="hold" decel="100000" nodeType="withEffect">
                                  <p:stCondLst>
                                    <p:cond delay="109"/>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70000" y="70000"/>
                                      <p:to x="100000" y="100000"/>
                                    </p:animScale>
                                  </p:childTnLst>
                                </p:cTn>
                              </p:par>
                              <p:par>
                                <p:cTn id="16" presetID="42" presetClass="entr" presetSubtype="0" fill="hold" decel="100000" grpId="0" nodeType="withEffect">
                                  <p:stCondLst>
                                    <p:cond delay="219"/>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450"/>
                                        <p:tgtEl>
                                          <p:spTgt spid="7">
                                            <p:txEl>
                                              <p:pRg st="0" end="0"/>
                                            </p:txEl>
                                          </p:spTgt>
                                        </p:tgtEl>
                                      </p:cBhvr>
                                    </p:animEffect>
                                    <p:anim calcmode="lin" valueType="num">
                                      <p:cBhvr additive="base">
                                        <p:cTn id="15" dur="450" fill="hold"/>
                                        <p:tgtEl>
                                          <p:spTgt spid="7">
                                            <p:txEl>
                                              <p:pRg st="0" end="0"/>
                                            </p:txEl>
                                          </p:spTgt>
                                        </p:tgtEl>
                                        <p:attrNameLst>
                                          <p:attrName>ppt_y</p:attrName>
                                        </p:attrNameLst>
                                      </p:cBhvr>
                                      <p:tavLst>
                                        <p:tav tm="0">
                                          <p:val>
                                            <p:strVal val="#ppt_y+0.04"/>
                                          </p:val>
                                        </p:tav>
                                        <p:tav tm="100000">
                                          <p:val>
                                            <p:strVal val="#ppt_y"/>
                                          </p:val>
                                        </p:tav>
                                      </p:tavLst>
                                    </p:anim>
                                  </p:childTnLst>
                                </p:cTn>
                              </p:par>
                              <p:par>
                                <p:cTn id="20" presetID="42" presetClass="entr" presetSubtype="0" fill="hold" decel="100000" grpId="0" nodeType="withEffect">
                                  <p:stCondLst>
                                    <p:cond delay="306"/>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450"/>
                                        <p:tgtEl>
                                          <p:spTgt spid="7">
                                            <p:txEl>
                                              <p:pRg st="1" end="1"/>
                                            </p:txEl>
                                          </p:spTgt>
                                        </p:tgtEl>
                                      </p:cBhvr>
                                    </p:animEffect>
                                    <p:anim calcmode="lin" valueType="num">
                                      <p:cBhvr additive="base">
                                        <p:cTn id="19" dur="450" fill="hold"/>
                                        <p:tgtEl>
                                          <p:spTgt spid="7">
                                            <p:txEl>
                                              <p:pRg st="1" end="1"/>
                                            </p:txEl>
                                          </p:spTgt>
                                        </p:tgtEl>
                                        <p:attrNameLst>
                                          <p:attrName>ppt_y</p:attrName>
                                        </p:attrNameLst>
                                      </p:cBhvr>
                                      <p:tavLst>
                                        <p:tav tm="0">
                                          <p:val>
                                            <p:strVal val="#ppt_y+0.04"/>
                                          </p:val>
                                        </p:tav>
                                        <p:tav tm="100000">
                                          <p:val>
                                            <p:strVal val="#ppt_y"/>
                                          </p:val>
                                        </p:tav>
                                      </p:tavLst>
                                    </p:anim>
                                  </p:childTnLst>
                                </p:cTn>
                              </p:par>
                              <p:par>
                                <p:cTn id="24" presetID="42" presetClass="entr" presetSubtype="0" fill="hold" decel="100000" grpId="0" nodeType="withEffect">
                                  <p:stCondLst>
                                    <p:cond delay="394"/>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450"/>
                                        <p:tgtEl>
                                          <p:spTgt spid="7">
                                            <p:txEl>
                                              <p:pRg st="2" end="2"/>
                                            </p:txEl>
                                          </p:spTgt>
                                        </p:tgtEl>
                                      </p:cBhvr>
                                    </p:animEffect>
                                    <p:anim calcmode="lin" valueType="num">
                                      <p:cBhvr additive="base">
                                        <p:cTn id="23" dur="450" fill="hold"/>
                                        <p:tgtEl>
                                          <p:spTgt spid="7">
                                            <p:txEl>
                                              <p:pRg st="2" end="2"/>
                                            </p:txEl>
                                          </p:spTgt>
                                        </p:tgtEl>
                                        <p:attrNameLst>
                                          <p:attrName>ppt_y</p:attrName>
                                        </p:attrNameLst>
                                      </p:cBhvr>
                                      <p:tavLst>
                                        <p:tav tm="0">
                                          <p:val>
                                            <p:strVal val="#ppt_y+0.04"/>
                                          </p:val>
                                        </p:tav>
                                        <p:tav tm="100000">
                                          <p:val>
                                            <p:strVal val="#ppt_y"/>
                                          </p:val>
                                        </p:tav>
                                      </p:tavLst>
                                    </p:anim>
                                  </p:childTnLst>
                                </p:cTn>
                              </p:par>
                              <p:par>
                                <p:cTn id="28" presetID="53" presetClass="entr" presetSubtype="16" fill="hold" decel="100000" nodeType="withEffect">
                                  <p:stCondLst>
                                    <p:cond delay="328"/>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Scale>
                                      <p:cBhvr>
                                        <p:cTn id="27" dur="450" fill="hold"/>
                                        <p:tgtEl>
                                          <p:spTgt spid="9"/>
                                        </p:tgtEl>
                                      </p:cBhvr>
                                      <p:from x="70000" y="70000"/>
                                      <p:to x="100000" y="100000"/>
                                    </p:animScale>
                                  </p:childTnLst>
                                </p:cTn>
                              </p:par>
                              <p:par>
                                <p:cTn id="32" presetID="42" presetClass="entr" presetSubtype="0" fill="hold" decel="100000" grpId="0" nodeType="withEffect">
                                  <p:stCondLst>
                                    <p:cond delay="438"/>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fade">
                                      <p:cBhvr>
                                        <p:cTn id="30" dur="450"/>
                                        <p:tgtEl>
                                          <p:spTgt spid="11">
                                            <p:txEl>
                                              <p:pRg st="0" end="0"/>
                                            </p:txEl>
                                          </p:spTgt>
                                        </p:tgtEl>
                                      </p:cBhvr>
                                    </p:animEffect>
                                    <p:anim calcmode="lin" valueType="num">
                                      <p:cBhvr additive="base">
                                        <p:cTn id="31" dur="450" fill="hold"/>
                                        <p:tgtEl>
                                          <p:spTgt spid="11">
                                            <p:txEl>
                                              <p:pRg st="0" end="0"/>
                                            </p:txEl>
                                          </p:spTgt>
                                        </p:tgtEl>
                                        <p:attrNameLst>
                                          <p:attrName>ppt_y</p:attrName>
                                        </p:attrNameLst>
                                      </p:cBhvr>
                                      <p:tavLst>
                                        <p:tav tm="0">
                                          <p:val>
                                            <p:strVal val="#ppt_y+0.04"/>
                                          </p:val>
                                        </p:tav>
                                        <p:tav tm="100000">
                                          <p:val>
                                            <p:strVal val="#ppt_y"/>
                                          </p:val>
                                        </p:tav>
                                      </p:tavLst>
                                    </p:anim>
                                  </p:childTnLst>
                                </p:cTn>
                              </p:par>
                              <p:par>
                                <p:cTn id="36" presetID="42" presetClass="entr" presetSubtype="0" fill="hold" decel="100000" grpId="0" nodeType="withEffect">
                                  <p:stCondLst>
                                    <p:cond delay="525"/>
                                  </p:stCondLst>
                                  <p:childTnLst>
                                    <p:set>
                                      <p:cBhvr>
                                        <p:cTn id="33" dur="1" fill="hold">
                                          <p:stCondLst>
                                            <p:cond delay="0"/>
                                          </p:stCondLst>
                                        </p:cTn>
                                        <p:tgtEl>
                                          <p:spTgt spid="11">
                                            <p:txEl>
                                              <p:pRg st="1" end="1"/>
                                            </p:txEl>
                                          </p:spTgt>
                                        </p:tgtEl>
                                        <p:attrNameLst>
                                          <p:attrName>style.visibility</p:attrName>
                                        </p:attrNameLst>
                                      </p:cBhvr>
                                      <p:to>
                                        <p:strVal val="visible"/>
                                      </p:to>
                                    </p:set>
                                    <p:animEffect transition="in" filter="fade">
                                      <p:cBhvr>
                                        <p:cTn id="34" dur="450"/>
                                        <p:tgtEl>
                                          <p:spTgt spid="11">
                                            <p:txEl>
                                              <p:pRg st="1" end="1"/>
                                            </p:txEl>
                                          </p:spTgt>
                                        </p:tgtEl>
                                      </p:cBhvr>
                                    </p:animEffect>
                                    <p:anim calcmode="lin" valueType="num">
                                      <p:cBhvr additive="base">
                                        <p:cTn id="35" dur="450" fill="hold"/>
                                        <p:tgtEl>
                                          <p:spTgt spid="11">
                                            <p:txEl>
                                              <p:pRg st="1" end="1"/>
                                            </p:txEl>
                                          </p:spTgt>
                                        </p:tgtEl>
                                        <p:attrNameLst>
                                          <p:attrName>ppt_y</p:attrName>
                                        </p:attrNameLst>
                                      </p:cBhvr>
                                      <p:tavLst>
                                        <p:tav tm="0">
                                          <p:val>
                                            <p:strVal val="#ppt_y+0.04"/>
                                          </p:val>
                                        </p:tav>
                                        <p:tav tm="100000">
                                          <p:val>
                                            <p:strVal val="#ppt_y"/>
                                          </p:val>
                                        </p:tav>
                                      </p:tavLst>
                                    </p:anim>
                                  </p:childTnLst>
                                </p:cTn>
                              </p:par>
                              <p:par>
                                <p:cTn id="40" presetID="42" presetClass="entr" presetSubtype="0" fill="hold" decel="100000" grpId="0" nodeType="withEffect">
                                  <p:stCondLst>
                                    <p:cond delay="613"/>
                                  </p:stCondLst>
                                  <p:childTnLst>
                                    <p:set>
                                      <p:cBhvr>
                                        <p:cTn id="37" dur="1" fill="hold">
                                          <p:stCondLst>
                                            <p:cond delay="0"/>
                                          </p:stCondLst>
                                        </p:cTn>
                                        <p:tgtEl>
                                          <p:spTgt spid="11">
                                            <p:txEl>
                                              <p:pRg st="2" end="2"/>
                                            </p:txEl>
                                          </p:spTgt>
                                        </p:tgtEl>
                                        <p:attrNameLst>
                                          <p:attrName>style.visibility</p:attrName>
                                        </p:attrNameLst>
                                      </p:cBhvr>
                                      <p:to>
                                        <p:strVal val="visible"/>
                                      </p:to>
                                    </p:set>
                                    <p:animEffect transition="in" filter="fade">
                                      <p:cBhvr>
                                        <p:cTn id="38" dur="450"/>
                                        <p:tgtEl>
                                          <p:spTgt spid="11">
                                            <p:txEl>
                                              <p:pRg st="2" end="2"/>
                                            </p:txEl>
                                          </p:spTgt>
                                        </p:tgtEl>
                                      </p:cBhvr>
                                    </p:animEffect>
                                    <p:anim calcmode="lin" valueType="num">
                                      <p:cBhvr additive="base">
                                        <p:cTn id="39" dur="450" fill="hold"/>
                                        <p:tgtEl>
                                          <p:spTgt spid="11">
                                            <p:txEl>
                                              <p:pRg st="2" end="2"/>
                                            </p:txEl>
                                          </p:spTgt>
                                        </p:tgtEl>
                                        <p:attrNameLst>
                                          <p:attrName>ppt_y</p:attrName>
                                        </p:attrNameLst>
                                      </p:cBhvr>
                                      <p:tavLst>
                                        <p:tav tm="0">
                                          <p:val>
                                            <p:strVal val="#ppt_y+0.04"/>
                                          </p:val>
                                        </p:tav>
                                        <p:tav tm="100000">
                                          <p:val>
                                            <p:strVal val="#ppt_y"/>
                                          </p:val>
                                        </p:tav>
                                      </p:tavLst>
                                    </p:anim>
                                  </p:childTnLst>
                                </p:cTn>
                              </p:par>
                              <p:par>
                                <p:cTn id="44" presetID="42" presetClass="entr" presetSubtype="0" fill="hold" decel="100000" grpId="0" nodeType="withEffect">
                                  <p:stCondLst>
                                    <p:cond delay="700"/>
                                  </p:stCondLst>
                                  <p:childTnLst>
                                    <p:set>
                                      <p:cBhvr>
                                        <p:cTn id="41" dur="1" fill="hold">
                                          <p:stCondLst>
                                            <p:cond delay="0"/>
                                          </p:stCondLst>
                                        </p:cTn>
                                        <p:tgtEl>
                                          <p:spTgt spid="11">
                                            <p:txEl>
                                              <p:pRg st="3" end="3"/>
                                            </p:txEl>
                                          </p:spTgt>
                                        </p:tgtEl>
                                        <p:attrNameLst>
                                          <p:attrName>style.visibility</p:attrName>
                                        </p:attrNameLst>
                                      </p:cBhvr>
                                      <p:to>
                                        <p:strVal val="visible"/>
                                      </p:to>
                                    </p:set>
                                    <p:animEffect transition="in" filter="fade">
                                      <p:cBhvr>
                                        <p:cTn id="42" dur="450"/>
                                        <p:tgtEl>
                                          <p:spTgt spid="11">
                                            <p:txEl>
                                              <p:pRg st="3" end="3"/>
                                            </p:txEl>
                                          </p:spTgt>
                                        </p:tgtEl>
                                      </p:cBhvr>
                                    </p:animEffect>
                                    <p:anim calcmode="lin" valueType="num">
                                      <p:cBhvr additive="base">
                                        <p:cTn id="43" dur="450" fill="hold"/>
                                        <p:tgtEl>
                                          <p:spTgt spid="11">
                                            <p:txEl>
                                              <p:pRg st="3" end="3"/>
                                            </p:txEl>
                                          </p:spTgt>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16"/>
        </a:solidFill>
      </p:bgPr>
    </p:bg>
    <p:spTree>
      <p:nvGrpSpPr>
        <p:cNvPr id="1" name=""/>
        <p:cNvGrpSpPr/>
        <p:nvPr/>
      </p:nvGrpSpPr>
      <p:grpSpPr>
        <a:xfrm>
          <a:off x="0" y="0"/>
          <a:ext cx="0" cy="0"/>
          <a:chOff x="0" y="0"/>
          <a:chExt cx="0" cy="0"/>
        </a:xfrm>
      </p:grpSpPr>
      <p:pic>
        <p:nvPicPr>
          <p:cNvPr id="2" name="pt:e285a81f-393c-4090-8403-5c145821ea02" descr="Two business professionals shaking hands across a modern conference table">    </p:cNvPr>
          <p:cNvPicPr>
            <a:picLocks noChangeAspect="1"/>
          </p:cNvPicPr>
          <p:nvPr/>
        </p:nvPicPr>
        <p:blipFill>
          <a:blip r:embed="rId1"/>
          <a:srcRect l="0" r="0" t="0" b="0"/>
          <a:stretch/>
        </p:blipFill>
        <p:spPr>
          <a:xfrm>
            <a:off x="0" y="0"/>
            <a:ext cx="9144000" cy="6858000"/>
          </a:xfrm>
          <a:prstGeom prst="rect">
            <a:avLst/>
          </a:prstGeom>
        </p:spPr>
      </p:pic>
      <p:pic>
        <p:nvPicPr>
          <p:cNvPr id="3" name="pt:e285a81f-393c-4090-8403-5c145821ea02"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80d4681d-ac52-48e3-8651-6ee943d9fddd"/>
          <p:cNvSpPr/>
          <p:nvPr/>
        </p:nvSpPr>
        <p:spPr>
          <a:xfrm>
            <a:off x="457200" y="2880360"/>
            <a:ext cx="698500" cy="50800"/>
          </a:xfrm>
          <a:prstGeom prst="roundRect">
            <a:avLst>
              <a:gd name="adj" fmla="val 50000"/>
            </a:avLst>
          </a:prstGeom>
          <a:solidFill>
            <a:srgbClr val="22D3EE"/>
          </a:solidFill>
          <a:ln/>
        </p:spPr>
      </p:sp>
      <p:sp>
        <p:nvSpPr>
          <p:cNvPr id="5" name="pt:5e69f98c-ec15-4ee4-ad3f-6b4d1e5eed98"/>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Partner with ZETA-77 hand editNorthwind</a:t>
            </a:r>
            <a:endParaRPr lang="en-US" sz="3600" dirty="0"/>
          </a:p>
        </p:txBody>
      </p:sp>
      <p:sp>
        <p:nvSpPr>
          <p:cNvPr id="6" name="pt:cfe65e79-b4ef-42e4-932b-2d9635099813"/>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Get started in a single afternoon: priya@northwind.example · northwind.example</a:t>
            </a:r>
            <a:endParaRPr lang="en-US" sz="1600" dirty="0"/>
          </a:p>
        </p:txBody>
      </p:sp>
      <p:sp>
        <p:nvSpPr>
          <p:cNvPr id="7" name="pt:bb2db748-eb8d-4cf6-9a27-7f52e7d5add4"/>
          <p:cNvSpPr/>
          <p:nvPr/>
        </p:nvSpPr>
        <p:spPr>
          <a:xfrm>
            <a:off x="412750" y="6451600"/>
            <a:ext cx="361950" cy="361950"/>
          </a:xfrm>
          <a:prstGeom prst="roundRect">
            <a:avLst>
              <a:gd name="adj" fmla="val 12281"/>
            </a:avLst>
          </a:prstGeom>
          <a:solidFill>
            <a:srgbClr val="FFFFFF"/>
          </a:solidFill>
          <a:ln/>
        </p:spPr>
      </p:sp>
      <p:pic>
        <p:nvPicPr>
          <p:cNvPr id="8" name="pt:59b224e2-87d4-4204-9813-35e703d6271e"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only 30336</dc:title>
  <dc:subject>PptxGenJS Presentation</dc:subject>
  <dc:creator>PptxGenJS</dc:creator>
  <cp:lastModifiedBy>PptxGenJS</cp:lastModifiedBy>
  <cp:revision>1</cp:revision>
  <dcterms:created xsi:type="dcterms:W3CDTF">2026-10-10T05:35:34Z</dcterms:created>
  <dcterms:modified xsi:type="dcterms:W3CDTF">2026-10-10T05:35:34Z</dcterms:modified>
</cp:coreProperties>
</file>