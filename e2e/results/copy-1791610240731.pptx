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Journey provides modern route planning and logistics software designed specifically to cut delivery costs and solve complex operational fleet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Journey targets the major pain points in last-mile logistics, where inefficient routing hurts profitability and customer satisfaction. Our software automates route planning rapidly and provides reliable live tracking. We specifically serve fleets from 5 to 200 vehicles with fast onboarding and clear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operational metrics show strong momentum across fleet adoption and revenue growth. We have expanded to 84 paying fleets while maintaining exceptional customer retention rates. This growth reflects the ongoing value Journey delivers to our fleet partners daily.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Connect with our team today to learn how Journey can optimize your delivery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16"/>
        </a:solidFill>
      </p:bgPr>
    </p:bg>
    <p:spTree>
      <p:nvGrpSpPr>
        <p:cNvPr id="1" name=""/>
        <p:cNvGrpSpPr/>
        <p:nvPr/>
      </p:nvGrpSpPr>
      <p:grpSpPr>
        <a:xfrm>
          <a:off x="0" y="0"/>
          <a:ext cx="0" cy="0"/>
          <a:chOff x="0" y="0"/>
          <a:chExt cx="0" cy="0"/>
        </a:xfrm>
      </p:grpSpPr>
      <p:pic>
        <p:nvPicPr>
          <p:cNvPr id="2" name="pt:56aa0245-d6fc-4c15-b29d-c8965cd450ee" descr="a white van parked on the side of the road">    </p:cNvPr>
          <p:cNvPicPr>
            <a:picLocks noChangeAspect="1"/>
          </p:cNvPicPr>
          <p:nvPr/>
        </p:nvPicPr>
        <p:blipFill>
          <a:blip r:embed="rId1"/>
          <a:srcRect l="0" r="0" t="0" b="0"/>
          <a:stretch/>
        </p:blipFill>
        <p:spPr>
          <a:xfrm>
            <a:off x="0" y="0"/>
            <a:ext cx="9144000" cy="6858000"/>
          </a:xfrm>
          <a:prstGeom prst="rect">
            <a:avLst/>
          </a:prstGeom>
        </p:spPr>
      </p:pic>
      <p:pic>
        <p:nvPicPr>
          <p:cNvPr id="3" name="pt:56aa0245-d6fc-4c15-b29d-c8965cd450ee"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eab7df58-5576-4597-bebf-4b1fa2d81456"/>
          <p:cNvSpPr/>
          <p:nvPr/>
        </p:nvSpPr>
        <p:spPr>
          <a:xfrm>
            <a:off x="457200" y="2880360"/>
            <a:ext cx="698500" cy="50800"/>
          </a:xfrm>
          <a:prstGeom prst="roundRect">
            <a:avLst>
              <a:gd name="adj" fmla="val 50000"/>
            </a:avLst>
          </a:prstGeom>
          <a:solidFill>
            <a:srgbClr val="22D3EE"/>
          </a:solidFill>
          <a:ln/>
        </p:spPr>
      </p:sp>
      <p:sp>
        <p:nvSpPr>
          <p:cNvPr id="5" name="pt:d892985f-8937-4aee-bb85-0e72a42a086b"/>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200" b="1" dirty="0">
                <a:solidFill>
                  <a:srgbClr val="FFFFFF"/>
                </a:solidFill>
                <a:latin typeface="Space Grotesk" pitchFamily="34" charset="0"/>
                <a:ea typeface="Space Grotesk" pitchFamily="34" charset="-122"/>
                <a:cs typeface="Space Grotesk" pitchFamily="34" charset="-120"/>
              </a:rPr>
              <a:t>Journey: Logistics Software That Cuts Delivery Cost</a:t>
            </a:r>
            <a:endParaRPr lang="en-US" sz="4200" dirty="0"/>
          </a:p>
        </p:txBody>
      </p:sp>
      <p:sp>
        <p:nvSpPr>
          <p:cNvPr id="6" name="pt:0b638fe5-cc1d-4441-90d1-3247d71976ce"/>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Route planning and logistics software designed to reduce fleet operational costs</a:t>
            </a:r>
            <a:endParaRPr lang="en-US" sz="1600" dirty="0"/>
          </a:p>
        </p:txBody>
      </p:sp>
      <p:sp>
        <p:nvSpPr>
          <p:cNvPr id="7" name="pt:e8c3de03-dd5a-4fab-965a-cd2f4a737077"/>
          <p:cNvSpPr/>
          <p:nvPr/>
        </p:nvSpPr>
        <p:spPr>
          <a:xfrm>
            <a:off x="412750" y="6451600"/>
            <a:ext cx="361950" cy="361950"/>
          </a:xfrm>
          <a:prstGeom prst="roundRect">
            <a:avLst>
              <a:gd name="adj" fmla="val 12281"/>
            </a:avLst>
          </a:prstGeom>
          <a:solidFill>
            <a:srgbClr val="FFFFFF"/>
          </a:solidFill>
          <a:ln/>
        </p:spPr>
      </p:sp>
      <p:pic>
        <p:nvPicPr>
          <p:cNvPr id="8" name="pt:8f8908c4-f9bb-4f27-bfc9-f80692a490e5"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2" presetClass="entr" presetSubtype="8" fill="hold" decel="100000" nodeType="withEffect">
                                  <p:stCondLst>
                                    <p:cond delay="11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ppt_x</p:attrName>
                                        </p:attrNameLst>
                                      </p:cBhvr>
                                      <p:tavLst>
                                        <p:tav tm="0">
                                          <p:val>
                                            <p:strVal val="#ppt_x-0.04"/>
                                          </p:val>
                                        </p:tav>
                                        <p:tav tm="100000">
                                          <p:val>
                                            <p:strVal val="#ppt_x"/>
                                          </p:val>
                                        </p:tav>
                                      </p:tavLst>
                                    </p:anim>
                                  </p:childTnLst>
                                </p:cTn>
                              </p:par>
                              <p:par>
                                <p:cTn id="15" presetID="2" presetClass="entr" presetSubtype="8" fill="hold" decel="100000" nodeType="withEffect">
                                  <p:stCondLst>
                                    <p:cond delay="2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ppt_x</p:attrName>
                                        </p:attrNameLst>
                                      </p:cBhvr>
                                      <p:tavLst>
                                        <p:tav tm="0">
                                          <p:val>
                                            <p:strVal val="#ppt_x-0.04"/>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1B"/>
        </a:solidFill>
      </p:bgPr>
    </p:bg>
    <p:spTree>
      <p:nvGrpSpPr>
        <p:cNvPr id="1" name=""/>
        <p:cNvGrpSpPr/>
        <p:nvPr/>
      </p:nvGrpSpPr>
      <p:grpSpPr>
        <a:xfrm>
          <a:off x="0" y="0"/>
          <a:ext cx="0" cy="0"/>
          <a:chOff x="0" y="0"/>
          <a:chExt cx="0" cy="0"/>
        </a:xfrm>
      </p:grpSpPr>
      <p:sp>
        <p:nvSpPr>
          <p:cNvPr id="2" name="pt:115573f4-af86-4758-b90f-0ab34131fe10"/>
          <p:cNvSpPr/>
          <p:nvPr/>
        </p:nvSpPr>
        <p:spPr>
          <a:xfrm>
            <a:off x="0" y="228600"/>
            <a:ext cx="9144000" cy="12700"/>
          </a:xfrm>
          <a:prstGeom prst="rect">
            <a:avLst/>
          </a:prstGeom>
          <a:solidFill>
            <a:srgbClr val="2A2A39"/>
          </a:solidFill>
          <a:ln/>
        </p:spPr>
      </p:sp>
      <p:sp>
        <p:nvSpPr>
          <p:cNvPr id="3" name="pt:fedb9371-0370-4baa-9f81-39fced2bd10b"/>
          <p:cNvSpPr/>
          <p:nvPr/>
        </p:nvSpPr>
        <p:spPr>
          <a:xfrm>
            <a:off x="457200" y="508000"/>
            <a:ext cx="3911600" cy="952500"/>
          </a:xfrm>
          <a:prstGeom prst="rect">
            <a:avLst/>
          </a:prstGeom>
          <a:noFill/>
          <a:ln/>
        </p:spPr>
        <p:txBody>
          <a:bodyPr wrap="square" lIns="0" tIns="0" rIns="0" bIns="0" rtlCol="0" anchor="ctr"/>
          <a:lstStyle/>
          <a:p>
            <a:pPr algn="l" indent="0" marL="0">
              <a:lnSpc>
                <a:spcPct val="120000"/>
              </a:lnSpc>
              <a:buNone/>
            </a:pPr>
            <a:r>
              <a:rPr lang="en-US" sz="2300" b="1" dirty="0">
                <a:solidFill>
                  <a:srgbClr val="EDEDF8"/>
                </a:solidFill>
                <a:latin typeface="Space Grotesk" pitchFamily="34" charset="0"/>
                <a:ea typeface="Space Grotesk" pitchFamily="34" charset="-122"/>
                <a:cs typeface="Space Grotesk" pitchFamily="34" charset="-120"/>
              </a:rPr>
              <a:t>Solving core delivery challenges </a:t>
            </a:r>
            <a:pPr algn="l" indent="0" marL="0">
              <a:lnSpc>
                <a:spcPct val="120000"/>
              </a:lnSpc>
              <a:buNone/>
            </a:pPr>
            <a:r>
              <a:rPr lang="en-US" sz="2300" b="1" dirty="0">
                <a:solidFill>
                  <a:srgbClr val="22D3EE"/>
                </a:solidFill>
                <a:latin typeface="Space Grotesk" pitchFamily="34" charset="0"/>
                <a:ea typeface="Space Grotesk" pitchFamily="34" charset="-122"/>
                <a:cs typeface="Space Grotesk" pitchFamily="34" charset="-120"/>
              </a:rPr>
              <a:t>with Journey</a:t>
            </a:r>
            <a:endParaRPr lang="en-US" sz="2300" dirty="0"/>
          </a:p>
        </p:txBody>
      </p:sp>
      <p:sp>
        <p:nvSpPr>
          <p:cNvPr id="4" name="pt:2fde81a2-b8b7-4e01-9082-e89089ba7560"/>
          <p:cNvSpPr/>
          <p:nvPr/>
        </p:nvSpPr>
        <p:spPr>
          <a:xfrm>
            <a:off x="457200" y="1587500"/>
            <a:ext cx="3911600" cy="4813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Eliminates wasted spend caused by empty miles and failed first attempts</a:t>
            </a:r>
            <a:endParaRPr lang="en-US" sz="1600" dirty="0"/>
          </a:p>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Generates automatic route planning in under a minute</a:t>
            </a:r>
            <a:endParaRPr lang="en-US" sz="1600" dirty="0"/>
          </a:p>
          <a:p>
            <a:pPr algn="l" marL="342900" indent="-342900">
              <a:lnSpc>
                <a:spcPct val="120000"/>
              </a:lnSpc>
              <a:spcAft>
                <a:spcPts val="800"/>
              </a:spcAft>
              <a:buSzPct val="100000"/>
              <a:buChar char="•"/>
            </a:pPr>
            <a:r>
              <a:rPr lang="en-US" sz="1600" dirty="0">
                <a:solidFill>
                  <a:srgbClr val="EDEDF8"/>
                </a:solidFill>
                <a:latin typeface="Inter" pitchFamily="34" charset="0"/>
                <a:ea typeface="Inter" pitchFamily="34" charset="-122"/>
                <a:cs typeface="Inter" pitchFamily="34" charset="-120"/>
              </a:rPr>
              <a:t>Provides live delivery windows that customers can trust</a:t>
            </a:r>
            <a:endParaRPr lang="en-US" sz="1600" dirty="0"/>
          </a:p>
          <a:p>
            <a:pPr algn="l" marL="342900" indent="-342900">
              <a:lnSpc>
                <a:spcPct val="120000"/>
              </a:lnSpc>
              <a:buSzPct val="100000"/>
              <a:buChar char="•"/>
            </a:pPr>
            <a:r>
              <a:rPr lang="en-US" sz="1600" dirty="0">
                <a:solidFill>
                  <a:srgbClr val="EDEDF8"/>
                </a:solidFill>
                <a:latin typeface="Inter" pitchFamily="34" charset="0"/>
                <a:ea typeface="Inter" pitchFamily="34" charset="-122"/>
                <a:cs typeface="Inter" pitchFamily="34" charset="-120"/>
              </a:rPr>
              <a:t>Built for fleets of 5 to 200, going live in an afternoon with simple flat pricing</a:t>
            </a:r>
            <a:endParaRPr lang="en-US" sz="1600" dirty="0"/>
          </a:p>
        </p:txBody>
      </p:sp>
      <p:pic>
        <p:nvPicPr>
          <p:cNvPr id="5" name="pt:2cf02c3d-3781-477a-968a-dce75fb72f98" descr="Delivery driver checking a route planning app on a smartphone next to a vehicle">    </p:cNvPr>
          <p:cNvPicPr>
            <a:picLocks noChangeAspect="1"/>
          </p:cNvPicPr>
          <p:nvPr/>
        </p:nvPicPr>
        <p:blipFill>
          <a:blip r:embed="rId1"/>
          <a:srcRect l="0" r="0" t="0" b="0"/>
          <a:stretch/>
        </p:blipFill>
        <p:spPr>
          <a:xfrm>
            <a:off x="4775200" y="457200"/>
            <a:ext cx="3911600" cy="5943600"/>
          </a:xfrm>
          <a:prstGeom prst="rect">
            <a:avLst/>
          </a:prstGeom>
        </p:spPr>
      </p:pic>
      <p:sp>
        <p:nvSpPr>
          <p:cNvPr id="6" name="pt:1d7877fd-1278-41a1-a7e2-1f1d057367ee"/>
          <p:cNvSpPr/>
          <p:nvPr/>
        </p:nvSpPr>
        <p:spPr>
          <a:xfrm>
            <a:off x="412750" y="6451600"/>
            <a:ext cx="361950" cy="361950"/>
          </a:xfrm>
          <a:prstGeom prst="roundRect">
            <a:avLst>
              <a:gd name="adj" fmla="val 12281"/>
            </a:avLst>
          </a:prstGeom>
          <a:solidFill>
            <a:srgbClr val="FFFFFF"/>
          </a:solidFill>
          <a:ln/>
        </p:spPr>
      </p:sp>
      <p:pic>
        <p:nvPicPr>
          <p:cNvPr id="7" name="pt:e00be124-dc97-4dea-851f-25d459e3ee6f"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2" presetClass="entr" presetSubtype="8"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ppt_x</p:attrName>
                                        </p:attrNameLst>
                                      </p:cBhvr>
                                      <p:tavLst>
                                        <p:tav tm="0">
                                          <p:val>
                                            <p:strVal val="#ppt_x-0.04"/>
                                          </p:val>
                                        </p:tav>
                                        <p:tav tm="100000">
                                          <p:val>
                                            <p:strVal val="#ppt_x"/>
                                          </p:val>
                                        </p:tav>
                                      </p:tavLst>
                                    </p:anim>
                                  </p:childTnLst>
                                </p:cTn>
                              </p:par>
                              <p:par>
                                <p:cTn id="12" presetID="2" presetClass="entr" presetSubtype="8" fill="hold" decel="100000" grpId="0" nodeType="withEffect">
                                  <p:stCondLst>
                                    <p:cond delay="11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 calcmode="lin" valueType="num">
                                      <p:cBhvr additive="base">
                                        <p:cTn id="11" dur="450" fill="hold"/>
                                        <p:tgtEl>
                                          <p:spTgt spid="4">
                                            <p:txEl>
                                              <p:pRg st="0" end="0"/>
                                            </p:txEl>
                                          </p:spTgt>
                                        </p:tgtEl>
                                        <p:attrNameLst>
                                          <p:attrName>ppt_x</p:attrName>
                                        </p:attrNameLst>
                                      </p:cBhvr>
                                      <p:tavLst>
                                        <p:tav tm="0">
                                          <p:val>
                                            <p:strVal val="#ppt_x-0.04"/>
                                          </p:val>
                                        </p:tav>
                                        <p:tav tm="100000">
                                          <p:val>
                                            <p:strVal val="#ppt_x"/>
                                          </p:val>
                                        </p:tav>
                                      </p:tavLst>
                                    </p:anim>
                                  </p:childTnLst>
                                </p:cTn>
                              </p:par>
                              <p:par>
                                <p:cTn id="16" presetID="2" presetClass="entr" presetSubtype="8" fill="hold" decel="100000" grpId="0" nodeType="withEffect">
                                  <p:stCondLst>
                                    <p:cond delay="198"/>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 calcmode="lin" valueType="num">
                                      <p:cBhvr additive="base">
                                        <p:cTn id="15" dur="450" fill="hold"/>
                                        <p:tgtEl>
                                          <p:spTgt spid="4">
                                            <p:txEl>
                                              <p:pRg st="1" end="1"/>
                                            </p:txEl>
                                          </p:spTgt>
                                        </p:tgtEl>
                                        <p:attrNameLst>
                                          <p:attrName>ppt_x</p:attrName>
                                        </p:attrNameLst>
                                      </p:cBhvr>
                                      <p:tavLst>
                                        <p:tav tm="0">
                                          <p:val>
                                            <p:strVal val="#ppt_x-0.04"/>
                                          </p:val>
                                        </p:tav>
                                        <p:tav tm="100000">
                                          <p:val>
                                            <p:strVal val="#ppt_x"/>
                                          </p:val>
                                        </p:tav>
                                      </p:tavLst>
                                    </p:anim>
                                  </p:childTnLst>
                                </p:cTn>
                              </p:par>
                              <p:par>
                                <p:cTn id="20" presetID="2" presetClass="entr" presetSubtype="8" fill="hold" decel="100000" grpId="0" nodeType="withEffect">
                                  <p:stCondLst>
                                    <p:cond delay="286"/>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 calcmode="lin" valueType="num">
                                      <p:cBhvr additive="base">
                                        <p:cTn id="19" dur="450" fill="hold"/>
                                        <p:tgtEl>
                                          <p:spTgt spid="4">
                                            <p:txEl>
                                              <p:pRg st="2" end="2"/>
                                            </p:txEl>
                                          </p:spTgt>
                                        </p:tgtEl>
                                        <p:attrNameLst>
                                          <p:attrName>ppt_x</p:attrName>
                                        </p:attrNameLst>
                                      </p:cBhvr>
                                      <p:tavLst>
                                        <p:tav tm="0">
                                          <p:val>
                                            <p:strVal val="#ppt_x-0.04"/>
                                          </p:val>
                                        </p:tav>
                                        <p:tav tm="100000">
                                          <p:val>
                                            <p:strVal val="#ppt_x"/>
                                          </p:val>
                                        </p:tav>
                                      </p:tavLst>
                                    </p:anim>
                                  </p:childTnLst>
                                </p:cTn>
                              </p:par>
                              <p:par>
                                <p:cTn id="24" presetID="2" presetClass="entr" presetSubtype="8" fill="hold" decel="100000" grpId="0" nodeType="withEffect">
                                  <p:stCondLst>
                                    <p:cond delay="374"/>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50"/>
                                        <p:tgtEl>
                                          <p:spTgt spid="4">
                                            <p:txEl>
                                              <p:pRg st="3" end="3"/>
                                            </p:txEl>
                                          </p:spTgt>
                                        </p:tgtEl>
                                      </p:cBhvr>
                                    </p:animEffect>
                                    <p:anim calcmode="lin" valueType="num">
                                      <p:cBhvr additive="base">
                                        <p:cTn id="23" dur="450" fill="hold"/>
                                        <p:tgtEl>
                                          <p:spTgt spid="4">
                                            <p:txEl>
                                              <p:pRg st="3" end="3"/>
                                            </p:txEl>
                                          </p:spTgt>
                                        </p:tgtEl>
                                        <p:attrNameLst>
                                          <p:attrName>ppt_x</p:attrName>
                                        </p:attrNameLst>
                                      </p:cBhvr>
                                      <p:tavLst>
                                        <p:tav tm="0">
                                          <p:val>
                                            <p:strVal val="#ppt_x-0.04"/>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1B"/>
        </a:solidFill>
      </p:bgPr>
    </p:bg>
    <p:spTree>
      <p:nvGrpSpPr>
        <p:cNvPr id="1" name=""/>
        <p:cNvGrpSpPr/>
        <p:nvPr/>
      </p:nvGrpSpPr>
      <p:grpSpPr>
        <a:xfrm>
          <a:off x="0" y="0"/>
          <a:ext cx="0" cy="0"/>
          <a:chOff x="0" y="0"/>
          <a:chExt cx="0" cy="0"/>
        </a:xfrm>
      </p:grpSpPr>
      <p:sp>
        <p:nvSpPr>
          <p:cNvPr id="2" name="pt:7d078127-032f-495d-9f00-4828fb6e2f22"/>
          <p:cNvSpPr/>
          <p:nvPr/>
        </p:nvSpPr>
        <p:spPr>
          <a:xfrm>
            <a:off x="0" y="228600"/>
            <a:ext cx="9144000" cy="12700"/>
          </a:xfrm>
          <a:prstGeom prst="rect">
            <a:avLst/>
          </a:prstGeom>
          <a:solidFill>
            <a:srgbClr val="2A2A39"/>
          </a:solidFill>
          <a:ln/>
        </p:spPr>
      </p:sp>
      <p:sp>
        <p:nvSpPr>
          <p:cNvPr id="3" name="pt:15a67697-a184-42df-97f7-66488f083637"/>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EDEDF8"/>
                </a:solidFill>
                <a:latin typeface="Space Grotesk" pitchFamily="34" charset="0"/>
                <a:ea typeface="Space Grotesk" pitchFamily="34" charset="-122"/>
                <a:cs typeface="Space Grotesk" pitchFamily="34" charset="-120"/>
              </a:rPr>
              <a:t>Demonstrating steady growth and </a:t>
            </a:r>
            <a:pPr algn="l" indent="0" marL="0">
              <a:lnSpc>
                <a:spcPct val="120000"/>
              </a:lnSpc>
              <a:buNone/>
            </a:pPr>
            <a:r>
              <a:rPr lang="en-US" sz="2800" b="1" dirty="0">
                <a:solidFill>
                  <a:srgbClr val="22D3EE"/>
                </a:solidFill>
                <a:latin typeface="Space Grotesk" pitchFamily="34" charset="0"/>
                <a:ea typeface="Space Grotesk" pitchFamily="34" charset="-122"/>
                <a:cs typeface="Space Grotesk" pitchFamily="34" charset="-120"/>
              </a:rPr>
              <a:t>strong client retention</a:t>
            </a:r>
            <a:endParaRPr lang="en-US" sz="2800" dirty="0"/>
          </a:p>
        </p:txBody>
      </p:sp>
      <p:sp>
        <p:nvSpPr>
          <p:cNvPr id="4" name="pt:27c100a3-acf5-4068-9d18-68fa60d2187a"/>
          <p:cNvSpPr/>
          <p:nvPr/>
        </p:nvSpPr>
        <p:spPr>
          <a:xfrm>
            <a:off x="520700" y="1663700"/>
            <a:ext cx="2573867" cy="2279650"/>
          </a:xfrm>
          <a:prstGeom prst="roundRect">
            <a:avLst>
              <a:gd name="adj" fmla="val 4457"/>
            </a:avLst>
          </a:prstGeom>
          <a:solidFill>
            <a:srgbClr val="EDEDF8">
              <a:alpha val="12000"/>
            </a:srgbClr>
          </a:solidFill>
          <a:ln/>
        </p:spPr>
      </p:sp>
      <p:sp>
        <p:nvSpPr>
          <p:cNvPr id="5" name="pt:6bc7f0f8-b79a-4941-a922-500ad36ad0ec"/>
          <p:cNvSpPr/>
          <p:nvPr/>
        </p:nvSpPr>
        <p:spPr>
          <a:xfrm>
            <a:off x="457200" y="1587500"/>
            <a:ext cx="2573867" cy="2279650"/>
          </a:xfrm>
          <a:prstGeom prst="roundRect">
            <a:avLst>
              <a:gd name="adj" fmla="val 4457"/>
            </a:avLst>
          </a:prstGeom>
          <a:solidFill>
            <a:srgbClr val="0B0B1B"/>
          </a:solidFill>
          <a:ln w="12700">
            <a:solidFill>
              <a:srgbClr val="2A2A39"/>
            </a:solidFill>
            <a:prstDash val="solid"/>
          </a:ln>
        </p:spPr>
      </p:sp>
      <p:sp>
        <p:nvSpPr>
          <p:cNvPr id="6" name="pt:e02c46fc-2a62-456f-b7b9-ad6e455eed7c"/>
          <p:cNvSpPr/>
          <p:nvPr/>
        </p:nvSpPr>
        <p:spPr>
          <a:xfrm>
            <a:off x="660400" y="171450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7474F3"/>
                </a:solidFill>
                <a:latin typeface="Space Grotesk" pitchFamily="34" charset="0"/>
                <a:ea typeface="Space Grotesk" pitchFamily="34" charset="-122"/>
                <a:cs typeface="Space Grotesk" pitchFamily="34" charset="-120"/>
              </a:rPr>
              <a:t>84</a:t>
            </a:r>
            <a:endParaRPr lang="en-US" sz="3000" dirty="0"/>
          </a:p>
        </p:txBody>
      </p:sp>
      <p:sp>
        <p:nvSpPr>
          <p:cNvPr id="7" name="pt:82bc5e69-0996-46ae-a708-08c7ac122eb4"/>
          <p:cNvSpPr/>
          <p:nvPr/>
        </p:nvSpPr>
        <p:spPr>
          <a:xfrm>
            <a:off x="660400" y="222250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EDEDF8"/>
                </a:solidFill>
                <a:latin typeface="Space Grotesk" pitchFamily="34" charset="0"/>
                <a:ea typeface="Space Grotesk" pitchFamily="34" charset="-122"/>
                <a:cs typeface="Space Grotesk" pitchFamily="34" charset="-120"/>
              </a:rPr>
              <a:t>Paying fleets</a:t>
            </a:r>
            <a:endParaRPr lang="en-US" sz="1400" dirty="0"/>
          </a:p>
        </p:txBody>
      </p:sp>
      <p:sp>
        <p:nvSpPr>
          <p:cNvPr id="8" name="pt:cc81d7cc-1f6a-4c1e-9f7b-2da020c62f3b"/>
          <p:cNvSpPr/>
          <p:nvPr/>
        </p:nvSpPr>
        <p:spPr>
          <a:xfrm>
            <a:off x="3348567" y="1663700"/>
            <a:ext cx="2573867" cy="2279650"/>
          </a:xfrm>
          <a:prstGeom prst="roundRect">
            <a:avLst>
              <a:gd name="adj" fmla="val 4457"/>
            </a:avLst>
          </a:prstGeom>
          <a:solidFill>
            <a:srgbClr val="EDEDF8">
              <a:alpha val="12000"/>
            </a:srgbClr>
          </a:solidFill>
          <a:ln/>
        </p:spPr>
      </p:sp>
      <p:sp>
        <p:nvSpPr>
          <p:cNvPr id="9" name="pt:1d5dff45-15e7-4634-b286-696d98bf4014"/>
          <p:cNvSpPr/>
          <p:nvPr/>
        </p:nvSpPr>
        <p:spPr>
          <a:xfrm>
            <a:off x="3285067" y="1587500"/>
            <a:ext cx="2573867" cy="2279650"/>
          </a:xfrm>
          <a:prstGeom prst="roundRect">
            <a:avLst>
              <a:gd name="adj" fmla="val 4457"/>
            </a:avLst>
          </a:prstGeom>
          <a:solidFill>
            <a:srgbClr val="0B0B1B"/>
          </a:solidFill>
          <a:ln w="12700">
            <a:solidFill>
              <a:srgbClr val="2A2A39"/>
            </a:solidFill>
            <a:prstDash val="solid"/>
          </a:ln>
        </p:spPr>
      </p:sp>
      <p:sp>
        <p:nvSpPr>
          <p:cNvPr id="10" name="pt:cd8a05ab-afdb-4691-8ae5-1279c84127e5"/>
          <p:cNvSpPr/>
          <p:nvPr/>
        </p:nvSpPr>
        <p:spPr>
          <a:xfrm>
            <a:off x="3488267" y="171450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7474F3"/>
                </a:solidFill>
                <a:latin typeface="Space Grotesk" pitchFamily="34" charset="0"/>
                <a:ea typeface="Space Grotesk" pitchFamily="34" charset="-122"/>
                <a:cs typeface="Space Grotesk" pitchFamily="34" charset="-120"/>
              </a:rPr>
              <a:t>$610K</a:t>
            </a:r>
            <a:endParaRPr lang="en-US" sz="3000" dirty="0"/>
          </a:p>
        </p:txBody>
      </p:sp>
      <p:sp>
        <p:nvSpPr>
          <p:cNvPr id="11" name="pt:f370d4eb-43d0-4c38-960d-576b02ed4c18"/>
          <p:cNvSpPr/>
          <p:nvPr/>
        </p:nvSpPr>
        <p:spPr>
          <a:xfrm>
            <a:off x="3488267" y="222250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EDEDF8"/>
                </a:solidFill>
                <a:latin typeface="Space Grotesk" pitchFamily="34" charset="0"/>
                <a:ea typeface="Space Grotesk" pitchFamily="34" charset="-122"/>
                <a:cs typeface="Space Grotesk" pitchFamily="34" charset="-120"/>
              </a:rPr>
              <a:t>Annual recurring revenue</a:t>
            </a:r>
            <a:endParaRPr lang="en-US" sz="1400" dirty="0"/>
          </a:p>
        </p:txBody>
      </p:sp>
      <p:sp>
        <p:nvSpPr>
          <p:cNvPr id="12" name="pt:f2e516eb-6af2-4cd5-8bed-951b80643da3"/>
          <p:cNvSpPr/>
          <p:nvPr/>
        </p:nvSpPr>
        <p:spPr>
          <a:xfrm>
            <a:off x="6176433" y="1663700"/>
            <a:ext cx="2573867" cy="2279650"/>
          </a:xfrm>
          <a:prstGeom prst="roundRect">
            <a:avLst>
              <a:gd name="adj" fmla="val 4457"/>
            </a:avLst>
          </a:prstGeom>
          <a:solidFill>
            <a:srgbClr val="EDEDF8">
              <a:alpha val="12000"/>
            </a:srgbClr>
          </a:solidFill>
          <a:ln/>
        </p:spPr>
      </p:sp>
      <p:sp>
        <p:nvSpPr>
          <p:cNvPr id="13" name="pt:d42d8ce7-1863-41d5-8092-fc0882754c3b"/>
          <p:cNvSpPr/>
          <p:nvPr/>
        </p:nvSpPr>
        <p:spPr>
          <a:xfrm>
            <a:off x="6112933" y="1587500"/>
            <a:ext cx="2573867" cy="2279650"/>
          </a:xfrm>
          <a:prstGeom prst="roundRect">
            <a:avLst>
              <a:gd name="adj" fmla="val 4457"/>
            </a:avLst>
          </a:prstGeom>
          <a:solidFill>
            <a:srgbClr val="0B0B1B"/>
          </a:solidFill>
          <a:ln w="12700">
            <a:solidFill>
              <a:srgbClr val="2A2A39"/>
            </a:solidFill>
            <a:prstDash val="solid"/>
          </a:ln>
        </p:spPr>
      </p:sp>
      <p:sp>
        <p:nvSpPr>
          <p:cNvPr id="14" name="pt:fc91c4c9-b2e2-4d65-a0cd-eafdf0cd9926"/>
          <p:cNvSpPr/>
          <p:nvPr/>
        </p:nvSpPr>
        <p:spPr>
          <a:xfrm>
            <a:off x="6316133" y="171450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7474F3"/>
                </a:solidFill>
                <a:latin typeface="Space Grotesk" pitchFamily="34" charset="0"/>
                <a:ea typeface="Space Grotesk" pitchFamily="34" charset="-122"/>
                <a:cs typeface="Space Grotesk" pitchFamily="34" charset="-120"/>
              </a:rPr>
              <a:t>17%</a:t>
            </a:r>
            <a:endParaRPr lang="en-US" sz="3000" dirty="0"/>
          </a:p>
        </p:txBody>
      </p:sp>
      <p:sp>
        <p:nvSpPr>
          <p:cNvPr id="15" name="pt:79754feb-b2db-4758-a3be-df3c4d5ff9d7"/>
          <p:cNvSpPr/>
          <p:nvPr/>
        </p:nvSpPr>
        <p:spPr>
          <a:xfrm>
            <a:off x="6316133" y="222250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EDEDF8"/>
                </a:solidFill>
                <a:latin typeface="Space Grotesk" pitchFamily="34" charset="0"/>
                <a:ea typeface="Space Grotesk" pitchFamily="34" charset="-122"/>
                <a:cs typeface="Space Grotesk" pitchFamily="34" charset="-120"/>
              </a:rPr>
              <a:t>Month-on-month growth</a:t>
            </a:r>
            <a:endParaRPr lang="en-US" sz="1400" dirty="0"/>
          </a:p>
        </p:txBody>
      </p:sp>
      <p:sp>
        <p:nvSpPr>
          <p:cNvPr id="16" name="pt:3504e588-fe07-4c81-9e04-41d916016302"/>
          <p:cNvSpPr/>
          <p:nvPr/>
        </p:nvSpPr>
        <p:spPr>
          <a:xfrm>
            <a:off x="520700" y="4197350"/>
            <a:ext cx="2573867" cy="2279650"/>
          </a:xfrm>
          <a:prstGeom prst="roundRect">
            <a:avLst>
              <a:gd name="adj" fmla="val 4457"/>
            </a:avLst>
          </a:prstGeom>
          <a:solidFill>
            <a:srgbClr val="EDEDF8">
              <a:alpha val="12000"/>
            </a:srgbClr>
          </a:solidFill>
          <a:ln/>
        </p:spPr>
      </p:sp>
      <p:sp>
        <p:nvSpPr>
          <p:cNvPr id="17" name="pt:9ab4cd05-2002-4981-acc3-0a65804c50ac"/>
          <p:cNvSpPr/>
          <p:nvPr/>
        </p:nvSpPr>
        <p:spPr>
          <a:xfrm>
            <a:off x="457200" y="4121150"/>
            <a:ext cx="2573867" cy="2279650"/>
          </a:xfrm>
          <a:prstGeom prst="roundRect">
            <a:avLst>
              <a:gd name="adj" fmla="val 4457"/>
            </a:avLst>
          </a:prstGeom>
          <a:solidFill>
            <a:srgbClr val="0B0B1B"/>
          </a:solidFill>
          <a:ln w="12700">
            <a:solidFill>
              <a:srgbClr val="2A2A39"/>
            </a:solidFill>
            <a:prstDash val="solid"/>
          </a:ln>
        </p:spPr>
      </p:sp>
      <p:sp>
        <p:nvSpPr>
          <p:cNvPr id="18" name="pt:c51f59fc-ad1b-4731-9f2c-50fdd5b70452"/>
          <p:cNvSpPr/>
          <p:nvPr/>
        </p:nvSpPr>
        <p:spPr>
          <a:xfrm>
            <a:off x="660400" y="4248150"/>
            <a:ext cx="2167467" cy="508000"/>
          </a:xfrm>
          <a:prstGeom prst="rect">
            <a:avLst/>
          </a:prstGeom>
          <a:noFill/>
          <a:ln/>
        </p:spPr>
        <p:txBody>
          <a:bodyPr wrap="square" lIns="0" tIns="0" rIns="0" bIns="0" rtlCol="0" anchor="ctr"/>
          <a:lstStyle/>
          <a:p>
            <a:pPr algn="l" indent="0" marL="0">
              <a:lnSpc>
                <a:spcPct val="120000"/>
              </a:lnSpc>
              <a:buNone/>
            </a:pPr>
            <a:r>
              <a:rPr lang="en-US" sz="3000" b="1" dirty="0">
                <a:solidFill>
                  <a:srgbClr val="7474F3"/>
                </a:solidFill>
                <a:latin typeface="Space Grotesk" pitchFamily="34" charset="0"/>
                <a:ea typeface="Space Grotesk" pitchFamily="34" charset="-122"/>
                <a:cs typeface="Space Grotesk" pitchFamily="34" charset="-120"/>
              </a:rPr>
              <a:t>98%</a:t>
            </a:r>
            <a:endParaRPr lang="en-US" sz="3000" dirty="0"/>
          </a:p>
        </p:txBody>
      </p:sp>
      <p:sp>
        <p:nvSpPr>
          <p:cNvPr id="19" name="pt:3b37d94f-4144-464b-a12e-41c94a8a6ce0"/>
          <p:cNvSpPr/>
          <p:nvPr/>
        </p:nvSpPr>
        <p:spPr>
          <a:xfrm>
            <a:off x="660400" y="4756150"/>
            <a:ext cx="2167467" cy="1568450"/>
          </a:xfrm>
          <a:prstGeom prst="rect">
            <a:avLst/>
          </a:prstGeom>
          <a:noFill/>
          <a:ln/>
        </p:spPr>
        <p:txBody>
          <a:bodyPr wrap="square" lIns="0" tIns="0" rIns="0" bIns="0" rtlCol="0" anchor="t"/>
          <a:lstStyle/>
          <a:p>
            <a:pPr algn="l" indent="0" marL="0">
              <a:lnSpc>
                <a:spcPct val="120000"/>
              </a:lnSpc>
              <a:buNone/>
            </a:pPr>
            <a:r>
              <a:rPr lang="en-US" sz="1400" b="1" dirty="0">
                <a:solidFill>
                  <a:srgbClr val="EDEDF8"/>
                </a:solidFill>
                <a:latin typeface="Space Grotesk" pitchFamily="34" charset="0"/>
                <a:ea typeface="Space Grotesk" pitchFamily="34" charset="-122"/>
                <a:cs typeface="Space Grotesk" pitchFamily="34" charset="-120"/>
              </a:rPr>
              <a:t>Customer retention</a:t>
            </a:r>
            <a:endParaRPr lang="en-US" sz="1400" dirty="0"/>
          </a:p>
        </p:txBody>
      </p:sp>
      <p:sp>
        <p:nvSpPr>
          <p:cNvPr id="20" name="pt:07eb4ce0-f29b-43d2-8da6-7b3f297406f3"/>
          <p:cNvSpPr/>
          <p:nvPr/>
        </p:nvSpPr>
        <p:spPr>
          <a:xfrm>
            <a:off x="412750" y="6451600"/>
            <a:ext cx="361950" cy="361950"/>
          </a:xfrm>
          <a:prstGeom prst="roundRect">
            <a:avLst>
              <a:gd name="adj" fmla="val 12281"/>
            </a:avLst>
          </a:prstGeom>
          <a:solidFill>
            <a:srgbClr val="FFFFFF"/>
          </a:solidFill>
          <a:ln/>
        </p:spPr>
      </p:sp>
      <p:pic>
        <p:nvPicPr>
          <p:cNvPr id="21" name="pt:70fd9a88-77f6-47cf-99fc-2fc9364305c1"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2" presetClass="entr" presetSubtype="8"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 calcmode="lin" valueType="num">
                                      <p:cBhvr additive="base">
                                        <p:cTn id="7" dur="450" fill="hold"/>
                                        <p:tgtEl>
                                          <p:spTgt spid="3"/>
                                        </p:tgtEl>
                                        <p:attrNameLst>
                                          <p:attrName>ppt_x</p:attrName>
                                        </p:attrNameLst>
                                      </p:cBhvr>
                                      <p:tavLst>
                                        <p:tav tm="0">
                                          <p:val>
                                            <p:strVal val="#ppt_x-0.04"/>
                                          </p:val>
                                        </p:tav>
                                        <p:tav tm="100000">
                                          <p:val>
                                            <p:strVal val="#ppt_x"/>
                                          </p:val>
                                        </p:tav>
                                      </p:tavLst>
                                    </p:anim>
                                  </p:childTnLst>
                                </p:cTn>
                              </p:par>
                              <p:par>
                                <p:cTn id="12" presetID="2" presetClass="entr" presetSubtype="8" fill="hold" decel="100000" nodeType="withEffect">
                                  <p:stCondLst>
                                    <p:cond delay="5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 calcmode="lin" valueType="num">
                                      <p:cBhvr additive="base">
                                        <p:cTn id="11" dur="450" fill="hold"/>
                                        <p:tgtEl>
                                          <p:spTgt spid="5"/>
                                        </p:tgtEl>
                                        <p:attrNameLst>
                                          <p:attrName>ppt_x</p:attrName>
                                        </p:attrNameLst>
                                      </p:cBhvr>
                                      <p:tavLst>
                                        <p:tav tm="0">
                                          <p:val>
                                            <p:strVal val="#ppt_x-0.04"/>
                                          </p:val>
                                        </p:tav>
                                        <p:tav tm="100000">
                                          <p:val>
                                            <p:strVal val="#ppt_x"/>
                                          </p:val>
                                        </p:tav>
                                      </p:tavLst>
                                    </p:anim>
                                  </p:childTnLst>
                                </p:cTn>
                              </p:par>
                              <p:par>
                                <p:cTn id="15" presetID="10" presetClass="entr" presetSubtype="0" fill="hold" decel="100000" nodeType="withEffect">
                                  <p:stCondLst>
                                    <p:cond delay="117"/>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par>
                                <p:cTn id="19" presetID="2" presetClass="entr" presetSubtype="8" fill="hold" decel="100000" nodeType="withEffect">
                                  <p:stCondLst>
                                    <p:cond delay="175"/>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additive="base">
                                        <p:cTn id="18" dur="450" fill="hold"/>
                                        <p:tgtEl>
                                          <p:spTgt spid="7"/>
                                        </p:tgtEl>
                                        <p:attrNameLst>
                                          <p:attrName>ppt_x</p:attrName>
                                        </p:attrNameLst>
                                      </p:cBhvr>
                                      <p:tavLst>
                                        <p:tav tm="0">
                                          <p:val>
                                            <p:strVal val="#ppt_x-0.04"/>
                                          </p:val>
                                        </p:tav>
                                        <p:tav tm="100000">
                                          <p:val>
                                            <p:strVal val="#ppt_x"/>
                                          </p:val>
                                        </p:tav>
                                      </p:tavLst>
                                    </p:anim>
                                  </p:childTnLst>
                                </p:cTn>
                              </p:par>
                              <p:par>
                                <p:cTn id="23" presetID="2" presetClass="entr" presetSubtype="8" fill="hold" decel="100000" nodeType="withEffect">
                                  <p:stCondLst>
                                    <p:cond delay="233"/>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50"/>
                                        <p:tgtEl>
                                          <p:spTgt spid="9"/>
                                        </p:tgtEl>
                                      </p:cBhvr>
                                    </p:animEffect>
                                    <p:anim calcmode="lin" valueType="num">
                                      <p:cBhvr additive="base">
                                        <p:cTn id="22" dur="450" fill="hold"/>
                                        <p:tgtEl>
                                          <p:spTgt spid="9"/>
                                        </p:tgtEl>
                                        <p:attrNameLst>
                                          <p:attrName>ppt_x</p:attrName>
                                        </p:attrNameLst>
                                      </p:cBhvr>
                                      <p:tavLst>
                                        <p:tav tm="0">
                                          <p:val>
                                            <p:strVal val="#ppt_x-0.04"/>
                                          </p:val>
                                        </p:tav>
                                        <p:tav tm="100000">
                                          <p:val>
                                            <p:strVal val="#ppt_x"/>
                                          </p:val>
                                        </p:tav>
                                      </p:tavLst>
                                    </p:anim>
                                  </p:childTnLst>
                                </p:cTn>
                              </p:par>
                              <p:par>
                                <p:cTn id="26" presetID="10" presetClass="entr" presetSubtype="0" fill="hold" decel="100000" nodeType="withEffect">
                                  <p:stCondLst>
                                    <p:cond delay="292"/>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30" presetID="2" presetClass="entr" presetSubtype="8" fill="hold" decel="100000" nodeType="withEffect">
                                  <p:stCondLst>
                                    <p:cond delay="3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anim calcmode="lin" valueType="num">
                                      <p:cBhvr additive="base">
                                        <p:cTn id="29" dur="450" fill="hold"/>
                                        <p:tgtEl>
                                          <p:spTgt spid="11"/>
                                        </p:tgtEl>
                                        <p:attrNameLst>
                                          <p:attrName>ppt_x</p:attrName>
                                        </p:attrNameLst>
                                      </p:cBhvr>
                                      <p:tavLst>
                                        <p:tav tm="0">
                                          <p:val>
                                            <p:strVal val="#ppt_x-0.04"/>
                                          </p:val>
                                        </p:tav>
                                        <p:tav tm="100000">
                                          <p:val>
                                            <p:strVal val="#ppt_x"/>
                                          </p:val>
                                        </p:tav>
                                      </p:tavLst>
                                    </p:anim>
                                  </p:childTnLst>
                                </p:cTn>
                              </p:par>
                              <p:par>
                                <p:cTn id="34" presetID="2" presetClass="entr" presetSubtype="8" fill="hold" decel="100000" nodeType="withEffect">
                                  <p:stCondLst>
                                    <p:cond delay="408"/>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50"/>
                                        <p:tgtEl>
                                          <p:spTgt spid="13"/>
                                        </p:tgtEl>
                                      </p:cBhvr>
                                    </p:animEffect>
                                    <p:anim calcmode="lin" valueType="num">
                                      <p:cBhvr additive="base">
                                        <p:cTn id="33" dur="450" fill="hold"/>
                                        <p:tgtEl>
                                          <p:spTgt spid="13"/>
                                        </p:tgtEl>
                                        <p:attrNameLst>
                                          <p:attrName>ppt_x</p:attrName>
                                        </p:attrNameLst>
                                      </p:cBhvr>
                                      <p:tavLst>
                                        <p:tav tm="0">
                                          <p:val>
                                            <p:strVal val="#ppt_x-0.04"/>
                                          </p:val>
                                        </p:tav>
                                        <p:tav tm="100000">
                                          <p:val>
                                            <p:strVal val="#ppt_x"/>
                                          </p:val>
                                        </p:tav>
                                      </p:tavLst>
                                    </p:anim>
                                  </p:childTnLst>
                                </p:cTn>
                              </p:par>
                              <p:par>
                                <p:cTn id="37" presetID="10" presetClass="entr" presetSubtype="0" fill="hold" decel="100000" nodeType="withEffect">
                                  <p:stCondLst>
                                    <p:cond delay="467"/>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41" presetID="2" presetClass="entr" presetSubtype="8" fill="hold" decel="100000" nodeType="withEffect">
                                  <p:stCondLst>
                                    <p:cond delay="525"/>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50"/>
                                        <p:tgtEl>
                                          <p:spTgt spid="15"/>
                                        </p:tgtEl>
                                      </p:cBhvr>
                                    </p:animEffect>
                                    <p:anim calcmode="lin" valueType="num">
                                      <p:cBhvr additive="base">
                                        <p:cTn id="40" dur="450" fill="hold"/>
                                        <p:tgtEl>
                                          <p:spTgt spid="15"/>
                                        </p:tgtEl>
                                        <p:attrNameLst>
                                          <p:attrName>ppt_x</p:attrName>
                                        </p:attrNameLst>
                                      </p:cBhvr>
                                      <p:tavLst>
                                        <p:tav tm="0">
                                          <p:val>
                                            <p:strVal val="#ppt_x-0.04"/>
                                          </p:val>
                                        </p:tav>
                                        <p:tav tm="100000">
                                          <p:val>
                                            <p:strVal val="#ppt_x"/>
                                          </p:val>
                                        </p:tav>
                                      </p:tavLst>
                                    </p:anim>
                                  </p:childTnLst>
                                </p:cTn>
                              </p:par>
                              <p:par>
                                <p:cTn id="45" presetID="2" presetClass="entr" presetSubtype="8" fill="hold" decel="100000" nodeType="withEffect">
                                  <p:stCondLst>
                                    <p:cond delay="583"/>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50"/>
                                        <p:tgtEl>
                                          <p:spTgt spid="17"/>
                                        </p:tgtEl>
                                      </p:cBhvr>
                                    </p:animEffect>
                                    <p:anim calcmode="lin" valueType="num">
                                      <p:cBhvr additive="base">
                                        <p:cTn id="44" dur="450" fill="hold"/>
                                        <p:tgtEl>
                                          <p:spTgt spid="17"/>
                                        </p:tgtEl>
                                        <p:attrNameLst>
                                          <p:attrName>ppt_x</p:attrName>
                                        </p:attrNameLst>
                                      </p:cBhvr>
                                      <p:tavLst>
                                        <p:tav tm="0">
                                          <p:val>
                                            <p:strVal val="#ppt_x-0.04"/>
                                          </p:val>
                                        </p:tav>
                                        <p:tav tm="100000">
                                          <p:val>
                                            <p:strVal val="#ppt_x"/>
                                          </p:val>
                                        </p:tav>
                                      </p:tavLst>
                                    </p:anim>
                                  </p:childTnLst>
                                </p:cTn>
                              </p:par>
                              <p:par>
                                <p:cTn id="48" presetID="10" presetClass="entr" presetSubtype="0" fill="hold" decel="100000" nodeType="withEffect">
                                  <p:stCondLst>
                                    <p:cond delay="642"/>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50"/>
                                        <p:tgtEl>
                                          <p:spTgt spid="18"/>
                                        </p:tgtEl>
                                      </p:cBhvr>
                                    </p:animEffect>
                                  </p:childTnLst>
                                </p:cTn>
                              </p:par>
                              <p:par>
                                <p:cTn id="52" presetID="2" presetClass="entr" presetSubtype="8" fill="hold" decel="100000" nodeType="withEffect">
                                  <p:stCondLst>
                                    <p:cond delay="70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50"/>
                                        <p:tgtEl>
                                          <p:spTgt spid="19"/>
                                        </p:tgtEl>
                                      </p:cBhvr>
                                    </p:animEffect>
                                    <p:anim calcmode="lin" valueType="num">
                                      <p:cBhvr additive="base">
                                        <p:cTn id="51" dur="450" fill="hold"/>
                                        <p:tgtEl>
                                          <p:spTgt spid="19"/>
                                        </p:tgtEl>
                                        <p:attrNameLst>
                                          <p:attrName>ppt_x</p:attrName>
                                        </p:attrNameLst>
                                      </p:cBhvr>
                                      <p:tavLst>
                                        <p:tav tm="0">
                                          <p:val>
                                            <p:strVal val="#ppt_x-0.04"/>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16"/>
        </a:solidFill>
      </p:bgPr>
    </p:bg>
    <p:spTree>
      <p:nvGrpSpPr>
        <p:cNvPr id="1" name=""/>
        <p:cNvGrpSpPr/>
        <p:nvPr/>
      </p:nvGrpSpPr>
      <p:grpSpPr>
        <a:xfrm>
          <a:off x="0" y="0"/>
          <a:ext cx="0" cy="0"/>
          <a:chOff x="0" y="0"/>
          <a:chExt cx="0" cy="0"/>
        </a:xfrm>
      </p:grpSpPr>
      <p:pic>
        <p:nvPicPr>
          <p:cNvPr id="2" name="pt:edef0385-7ddc-40f6-8c64-9e6a975eb9cb" descr="Busy modern warehouse with workers and organised shelves">    </p:cNvPr>
          <p:cNvPicPr>
            <a:picLocks noChangeAspect="1"/>
          </p:cNvPicPr>
          <p:nvPr/>
        </p:nvPicPr>
        <p:blipFill>
          <a:blip r:embed="rId1"/>
          <a:srcRect l="0" r="0" t="0" b="0"/>
          <a:stretch/>
        </p:blipFill>
        <p:spPr>
          <a:xfrm>
            <a:off x="0" y="0"/>
            <a:ext cx="9144000" cy="6858000"/>
          </a:xfrm>
          <a:prstGeom prst="rect">
            <a:avLst/>
          </a:prstGeom>
        </p:spPr>
      </p:pic>
      <p:pic>
        <p:nvPicPr>
          <p:cNvPr id="3" name="pt:edef0385-7ddc-40f6-8c64-9e6a975eb9cb"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1b7e4423-7902-4188-a94d-94856e8ea835"/>
          <p:cNvSpPr/>
          <p:nvPr/>
        </p:nvSpPr>
        <p:spPr>
          <a:xfrm>
            <a:off x="457200" y="2880360"/>
            <a:ext cx="698500" cy="50800"/>
          </a:xfrm>
          <a:prstGeom prst="roundRect">
            <a:avLst>
              <a:gd name="adj" fmla="val 50000"/>
            </a:avLst>
          </a:prstGeom>
          <a:solidFill>
            <a:srgbClr val="22D3EE"/>
          </a:solidFill>
          <a:ln/>
        </p:spPr>
      </p:sp>
      <p:sp>
        <p:nvSpPr>
          <p:cNvPr id="5" name="pt:f92fc46e-744e-47b9-99f3-325f8475014c"/>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Get Started with Journey</a:t>
            </a:r>
            <a:endParaRPr lang="en-US" sz="3600" dirty="0"/>
          </a:p>
        </p:txBody>
      </p:sp>
      <p:sp>
        <p:nvSpPr>
          <p:cNvPr id="6" name="pt:5cd44287-8c2e-4e2b-b3f7-b7481832f4b0"/>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CECED0"/>
                </a:solidFill>
                <a:latin typeface="Space Grotesk" pitchFamily="34" charset="0"/>
                <a:ea typeface="Space Grotesk" pitchFamily="34" charset="-122"/>
                <a:cs typeface="Space Grotesk" pitchFamily="34" charset="-120"/>
              </a:rPr>
              <a:t>Transform your fleet operations today · Contact: priya@northwind.example · northwind.example</a:t>
            </a:r>
            <a:endParaRPr lang="en-US" sz="1600" dirty="0"/>
          </a:p>
        </p:txBody>
      </p:sp>
      <p:sp>
        <p:nvSpPr>
          <p:cNvPr id="7" name="pt:4480de55-f46f-47a4-bca1-5e9a5600bccc"/>
          <p:cNvSpPr/>
          <p:nvPr/>
        </p:nvSpPr>
        <p:spPr>
          <a:xfrm>
            <a:off x="412750" y="6451600"/>
            <a:ext cx="361950" cy="361950"/>
          </a:xfrm>
          <a:prstGeom prst="roundRect">
            <a:avLst>
              <a:gd name="adj" fmla="val 12281"/>
            </a:avLst>
          </a:prstGeom>
          <a:solidFill>
            <a:srgbClr val="FFFFFF"/>
          </a:solidFill>
          <a:ln/>
        </p:spPr>
      </p:sp>
      <p:pic>
        <p:nvPicPr>
          <p:cNvPr id="8" name="pt:e1415fbf-8214-47ac-9811-e1d1539b9267"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cover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2" presetClass="entr" presetSubtype="8" fill="hold" decel="100000" nodeType="withEffect">
                                  <p:stCondLst>
                                    <p:cond delay="11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 calcmode="lin" valueType="num">
                                      <p:cBhvr additive="base">
                                        <p:cTn id="10" dur="450" fill="hold"/>
                                        <p:tgtEl>
                                          <p:spTgt spid="5"/>
                                        </p:tgtEl>
                                        <p:attrNameLst>
                                          <p:attrName>ppt_x</p:attrName>
                                        </p:attrNameLst>
                                      </p:cBhvr>
                                      <p:tavLst>
                                        <p:tav tm="0">
                                          <p:val>
                                            <p:strVal val="#ppt_x-0.04"/>
                                          </p:val>
                                        </p:tav>
                                        <p:tav tm="100000">
                                          <p:val>
                                            <p:strVal val="#ppt_x"/>
                                          </p:val>
                                        </p:tav>
                                      </p:tavLst>
                                    </p:anim>
                                  </p:childTnLst>
                                </p:cTn>
                              </p:par>
                              <p:par>
                                <p:cTn id="15" presetID="2" presetClass="entr" presetSubtype="8" fill="hold" decel="100000" nodeType="withEffect">
                                  <p:stCondLst>
                                    <p:cond delay="22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 calcmode="lin" valueType="num">
                                      <p:cBhvr additive="base">
                                        <p:cTn id="14" dur="450" fill="hold"/>
                                        <p:tgtEl>
                                          <p:spTgt spid="6"/>
                                        </p:tgtEl>
                                        <p:attrNameLst>
                                          <p:attrName>ppt_x</p:attrName>
                                        </p:attrNameLst>
                                      </p:cBhvr>
                                      <p:tavLst>
                                        <p:tav tm="0">
                                          <p:val>
                                            <p:strVal val="#ppt_x-0.04"/>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only 35600</dc:title>
  <dc:subject>PptxGenJS Presentation</dc:subject>
  <dc:creator>PptxGenJS</dc:creator>
  <cp:lastModifiedBy>PptxGenJS</cp:lastModifiedBy>
  <cp:revision>1</cp:revision>
  <dcterms:created xsi:type="dcterms:W3CDTF">2026-10-10T05:30:40Z</dcterms:created>
  <dcterms:modified xsi:type="dcterms:W3CDTF">2026-10-10T05:30:40Z</dcterms:modified>
</cp:coreProperties>
</file>