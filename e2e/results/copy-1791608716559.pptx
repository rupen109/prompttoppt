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introducing Northwind and showing how our logistics software helps fleet operators eliminate route inefficiencies and significantly reduce delivery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significant portion of delivery spend is currently lost to inefficiencies like empty miles and missed first deliveries. Northwind addresses this gap by creating optimised routes in under a minute and providing reliable delivery windows for customers. Best of all, it deploys instantly on your existing drivers' phones without requiring hardware upgrades.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simple it is to run your daily fleet operations with Northwind. You start by importing orders, and the platform automatically calculates optimal routes. Drivers receive turn-by-turn guidance, while your customers stay informed with accurate live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taking the time to learn how Northwind transforms fleet operations. With rapid onboarding, transparent flat pricing, and proven customer retention, we are ready to help your fleet operate efficiently. We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16"/>
        </a:solidFill>
      </p:bgPr>
    </p:bg>
    <p:spTree>
      <p:nvGrpSpPr>
        <p:cNvPr id="1" name=""/>
        <p:cNvGrpSpPr/>
        <p:nvPr/>
      </p:nvGrpSpPr>
      <p:grpSpPr>
        <a:xfrm>
          <a:off x="0" y="0"/>
          <a:ext cx="0" cy="0"/>
          <a:chOff x="0" y="0"/>
          <a:chExt cx="0" cy="0"/>
        </a:xfrm>
      </p:grpSpPr>
      <p:pic>
        <p:nvPicPr>
          <p:cNvPr id="2" name="pt:f1040c6e-29b4-479f-a733-76800fba40ae" descr="a white van driving down a street next to tall buildings">    </p:cNvPr>
          <p:cNvPicPr>
            <a:picLocks noChangeAspect="1"/>
          </p:cNvPicPr>
          <p:nvPr/>
        </p:nvPicPr>
        <p:blipFill>
          <a:blip r:embed="rId1"/>
          <a:srcRect l="0" r="0" t="0" b="0"/>
          <a:stretch/>
        </p:blipFill>
        <p:spPr>
          <a:xfrm>
            <a:off x="0" y="0"/>
            <a:ext cx="9144000" cy="6858000"/>
          </a:xfrm>
          <a:prstGeom prst="rect">
            <a:avLst/>
          </a:prstGeom>
        </p:spPr>
      </p:pic>
      <p:pic>
        <p:nvPicPr>
          <p:cNvPr id="3" name="pt:f1040c6e-29b4-479f-a733-76800fba40ae"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a5a9fcba-c2e1-44b1-a45c-8b538c59bbd2"/>
          <p:cNvSpPr/>
          <p:nvPr/>
        </p:nvSpPr>
        <p:spPr>
          <a:xfrm>
            <a:off x="457200" y="2880360"/>
            <a:ext cx="698500" cy="50800"/>
          </a:xfrm>
          <a:prstGeom prst="roundRect">
            <a:avLst>
              <a:gd name="adj" fmla="val 50000"/>
            </a:avLst>
          </a:prstGeom>
          <a:solidFill>
            <a:srgbClr val="22D3EE"/>
          </a:solidFill>
          <a:ln/>
        </p:spPr>
      </p:sp>
      <p:sp>
        <p:nvSpPr>
          <p:cNvPr id="5" name="pt:42036851-c9b6-4376-8e4f-88e42878a0d8"/>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4100" b="1" dirty="0">
                <a:solidFill>
                  <a:srgbClr val="FFFFFF"/>
                </a:solidFill>
                <a:latin typeface="Space Grotesk" pitchFamily="34" charset="0"/>
                <a:ea typeface="Space Grotesk" pitchFamily="34" charset="-122"/>
                <a:cs typeface="Space Grotesk" pitchFamily="34" charset="-120"/>
              </a:rPr>
              <a:t>Northwind: Logistics Software That Cuts Delivery Cost</a:t>
            </a:r>
            <a:endParaRPr lang="en-US" sz="4100" dirty="0"/>
          </a:p>
        </p:txBody>
      </p:sp>
      <p:sp>
        <p:nvSpPr>
          <p:cNvPr id="6" name="pt:92e3b849-2148-497c-84f4-092280e48d86"/>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CECED0"/>
                </a:solidFill>
                <a:latin typeface="Space Grotesk" pitchFamily="34" charset="0"/>
                <a:ea typeface="Space Grotesk" pitchFamily="34" charset="-122"/>
                <a:cs typeface="Space Grotesk" pitchFamily="34" charset="-120"/>
              </a:rPr>
              <a:t>Eliminating delivery inefficiencies with smart route planning for modern fleets</a:t>
            </a:r>
            <a:endParaRPr lang="en-US" sz="1600" dirty="0"/>
          </a:p>
        </p:txBody>
      </p:sp>
      <p:sp>
        <p:nvSpPr>
          <p:cNvPr id="7" name="pt:3e3a5a6f-bdd9-4ea8-86b2-a967edbe3aa4"/>
          <p:cNvSpPr/>
          <p:nvPr/>
        </p:nvSpPr>
        <p:spPr>
          <a:xfrm>
            <a:off x="412750" y="6451600"/>
            <a:ext cx="361950" cy="361950"/>
          </a:xfrm>
          <a:prstGeom prst="roundRect">
            <a:avLst>
              <a:gd name="adj" fmla="val 12281"/>
            </a:avLst>
          </a:prstGeom>
          <a:solidFill>
            <a:srgbClr val="FFFFFF"/>
          </a:solidFill>
          <a:ln/>
        </p:spPr>
      </p:sp>
      <p:pic>
        <p:nvPicPr>
          <p:cNvPr id="8" name="pt:eed9a7b3-49d1-4ef6-becf-c6f95fb62129"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42" presetClass="entr" presetSubtype="0" fill="hold" decel="100000"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 calcmode="lin" valueType="num">
                                      <p:cBhvr additive="base">
                                        <p:cTn id="10" dur="450" fill="hold"/>
                                        <p:tgtEl>
                                          <p:spTgt spid="5"/>
                                        </p:tgtEl>
                                        <p:attrNameLst>
                                          <p:attrName>ppt_y</p:attrName>
                                        </p:attrNameLst>
                                      </p:cBhvr>
                                      <p:tavLst>
                                        <p:tav tm="0">
                                          <p:val>
                                            <p:strVal val="#ppt_y+0.04"/>
                                          </p:val>
                                        </p:tav>
                                        <p:tav tm="100000">
                                          <p:val>
                                            <p:strVal val="#ppt_y"/>
                                          </p:val>
                                        </p:tav>
                                      </p:tavLst>
                                    </p:anim>
                                  </p:childTnLst>
                                </p:cTn>
                              </p:par>
                              <p:par>
                                <p:cTn id="15" presetID="42" presetClass="entr" presetSubtype="0" fill="hold" decel="100000" nodeType="withEffect">
                                  <p:stCondLst>
                                    <p:cond delay="2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 calcmode="lin" valueType="num">
                                      <p:cBhvr additive="base">
                                        <p:cTn id="14" dur="450" fill="hold"/>
                                        <p:tgtEl>
                                          <p:spTgt spid="6"/>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1B"/>
        </a:solidFill>
      </p:bgPr>
    </p:bg>
    <p:spTree>
      <p:nvGrpSpPr>
        <p:cNvPr id="1" name=""/>
        <p:cNvGrpSpPr/>
        <p:nvPr/>
      </p:nvGrpSpPr>
      <p:grpSpPr>
        <a:xfrm>
          <a:off x="0" y="0"/>
          <a:ext cx="0" cy="0"/>
          <a:chOff x="0" y="0"/>
          <a:chExt cx="0" cy="0"/>
        </a:xfrm>
      </p:grpSpPr>
      <p:sp>
        <p:nvSpPr>
          <p:cNvPr id="2" name="pt:f7e53608-8507-44db-a51c-4dedbd6f7df4"/>
          <p:cNvSpPr/>
          <p:nvPr/>
        </p:nvSpPr>
        <p:spPr>
          <a:xfrm>
            <a:off x="0" y="228600"/>
            <a:ext cx="9144000" cy="12700"/>
          </a:xfrm>
          <a:prstGeom prst="rect">
            <a:avLst/>
          </a:prstGeom>
          <a:solidFill>
            <a:srgbClr val="2A2A39"/>
          </a:solidFill>
          <a:ln/>
        </p:spPr>
      </p:sp>
      <p:sp>
        <p:nvSpPr>
          <p:cNvPr id="3" name="pt:730d52c0-96ea-400e-96d7-5565606a2560"/>
          <p:cNvSpPr/>
          <p:nvPr/>
        </p:nvSpPr>
        <p:spPr>
          <a:xfrm>
            <a:off x="457200" y="508000"/>
            <a:ext cx="3911600" cy="952500"/>
          </a:xfrm>
          <a:prstGeom prst="rect">
            <a:avLst/>
          </a:prstGeom>
          <a:noFill/>
          <a:ln/>
        </p:spPr>
        <p:txBody>
          <a:bodyPr wrap="square" lIns="0" tIns="0" rIns="0" bIns="0" rtlCol="0" anchor="ctr"/>
          <a:lstStyle/>
          <a:p>
            <a:pPr algn="l" indent="0" marL="0">
              <a:lnSpc>
                <a:spcPct val="120000"/>
              </a:lnSpc>
              <a:buNone/>
            </a:pPr>
            <a:r>
              <a:rPr lang="en-US" sz="2700" b="1" dirty="0">
                <a:solidFill>
                  <a:srgbClr val="EDEDF8"/>
                </a:solidFill>
                <a:latin typeface="Space Grotesk" pitchFamily="34" charset="0"/>
                <a:ea typeface="Space Grotesk" pitchFamily="34" charset="-122"/>
                <a:cs typeface="Space Grotesk" pitchFamily="34" charset="-120"/>
              </a:rPr>
              <a:t>Solving the Delivery </a:t>
            </a:r>
            <a:pPr algn="l" indent="0" marL="0">
              <a:lnSpc>
                <a:spcPct val="120000"/>
              </a:lnSpc>
              <a:buNone/>
            </a:pPr>
            <a:r>
              <a:rPr lang="en-US" sz="2700" b="1" dirty="0">
                <a:solidFill>
                  <a:srgbClr val="22D3EE"/>
                </a:solidFill>
                <a:latin typeface="Space Grotesk" pitchFamily="34" charset="0"/>
                <a:ea typeface="Space Grotesk" pitchFamily="34" charset="-122"/>
                <a:cs typeface="Space Grotesk" pitchFamily="34" charset="-120"/>
              </a:rPr>
              <a:t>Efficiency Gap</a:t>
            </a:r>
            <a:endParaRPr lang="en-US" sz="2700" dirty="0"/>
          </a:p>
        </p:txBody>
      </p:sp>
      <p:sp>
        <p:nvSpPr>
          <p:cNvPr id="4" name="pt:c881194f-7f33-4388-b790-33770b6a1285"/>
          <p:cNvSpPr/>
          <p:nvPr/>
        </p:nvSpPr>
        <p:spPr>
          <a:xfrm>
            <a:off x="457200" y="1587500"/>
            <a:ext cx="3911600" cy="48133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600" dirty="0">
                <a:solidFill>
                  <a:srgbClr val="EDEDF8"/>
                </a:solidFill>
                <a:latin typeface="Inter" pitchFamily="34" charset="0"/>
                <a:ea typeface="Inter" pitchFamily="34" charset="-122"/>
                <a:cs typeface="Inter" pitchFamily="34" charset="-120"/>
              </a:rPr>
              <a:t>23% of delivery spend is wasted on empty miles and failed first attempts</a:t>
            </a:r>
            <a:endParaRPr lang="en-US" sz="1600" dirty="0"/>
          </a:p>
          <a:p>
            <a:pPr algn="l" marL="342900" indent="-342900">
              <a:lnSpc>
                <a:spcPct val="120000"/>
              </a:lnSpc>
              <a:spcAft>
                <a:spcPts val="800"/>
              </a:spcAft>
              <a:buSzPct val="100000"/>
              <a:buChar char="•"/>
            </a:pPr>
            <a:r>
              <a:rPr lang="en-US" sz="1600" dirty="0">
                <a:solidFill>
                  <a:srgbClr val="EDEDF8"/>
                </a:solidFill>
                <a:latin typeface="Inter" pitchFamily="34" charset="0"/>
                <a:ea typeface="Inter" pitchFamily="34" charset="-122"/>
                <a:cs typeface="Inter" pitchFamily="34" charset="-120"/>
              </a:rPr>
              <a:t>Automatic route planning generates optimised paths in under a minute</a:t>
            </a:r>
            <a:endParaRPr lang="en-US" sz="1600" dirty="0"/>
          </a:p>
          <a:p>
            <a:pPr algn="l" marL="342900" indent="-342900">
              <a:lnSpc>
                <a:spcPct val="120000"/>
              </a:lnSpc>
              <a:spcAft>
                <a:spcPts val="800"/>
              </a:spcAft>
              <a:buSzPct val="100000"/>
              <a:buChar char="•"/>
            </a:pPr>
            <a:r>
              <a:rPr lang="en-US" sz="1600" dirty="0">
                <a:solidFill>
                  <a:srgbClr val="EDEDF8"/>
                </a:solidFill>
                <a:latin typeface="Inter" pitchFamily="34" charset="0"/>
                <a:ea typeface="Inter" pitchFamily="34" charset="-122"/>
                <a:cs typeface="Inter" pitchFamily="34" charset="-120"/>
              </a:rPr>
              <a:t>Live delivery windows provide accurate arrival estimates customers can trust</a:t>
            </a:r>
            <a:endParaRPr lang="en-US" sz="1600" dirty="0"/>
          </a:p>
          <a:p>
            <a:pPr algn="l" marL="342900" indent="-342900">
              <a:lnSpc>
                <a:spcPct val="120000"/>
              </a:lnSpc>
              <a:buSzPct val="100000"/>
              <a:buChar char="•"/>
            </a:pPr>
            <a:r>
              <a:rPr lang="en-US" sz="1600" dirty="0">
                <a:solidFill>
                  <a:srgbClr val="EDEDF8"/>
                </a:solidFill>
                <a:latin typeface="Inter" pitchFamily="34" charset="0"/>
                <a:ea typeface="Inter" pitchFamily="34" charset="-122"/>
                <a:cs typeface="Inter" pitchFamily="34" charset="-120"/>
              </a:rPr>
              <a:t>Seamless integration works directly with fleets' existing vans and mobile phones</a:t>
            </a:r>
            <a:endParaRPr lang="en-US" sz="1600" dirty="0"/>
          </a:p>
        </p:txBody>
      </p:sp>
      <p:pic>
        <p:nvPicPr>
          <p:cNvPr id="5" name="pt:9dd1a7f3-b87e-428d-afe6-1140408a3c46" descr="Delivery driver reviewing route plan on a smartphone mounted inside a van">    </p:cNvPr>
          <p:cNvPicPr>
            <a:picLocks noChangeAspect="1"/>
          </p:cNvPicPr>
          <p:nvPr/>
        </p:nvPicPr>
        <p:blipFill>
          <a:blip r:embed="rId1"/>
          <a:srcRect l="0" r="0" t="0" b="0"/>
          <a:stretch/>
        </p:blipFill>
        <p:spPr>
          <a:xfrm>
            <a:off x="4775200" y="457200"/>
            <a:ext cx="3911600" cy="5943600"/>
          </a:xfrm>
          <a:prstGeom prst="rect">
            <a:avLst/>
          </a:prstGeom>
        </p:spPr>
      </p:pic>
      <p:sp>
        <p:nvSpPr>
          <p:cNvPr id="6" name="pt:8af253b3-2c6e-4d21-98fd-793500e7d4d1"/>
          <p:cNvSpPr/>
          <p:nvPr/>
        </p:nvSpPr>
        <p:spPr>
          <a:xfrm>
            <a:off x="412750" y="6451600"/>
            <a:ext cx="361950" cy="361950"/>
          </a:xfrm>
          <a:prstGeom prst="roundRect">
            <a:avLst>
              <a:gd name="adj" fmla="val 12281"/>
            </a:avLst>
          </a:prstGeom>
          <a:solidFill>
            <a:srgbClr val="FFFFFF"/>
          </a:solidFill>
          <a:ln/>
        </p:spPr>
      </p:sp>
      <p:pic>
        <p:nvPicPr>
          <p:cNvPr id="7" name="pt:d6d50e3b-4d66-494d-8cb6-526b18bd6165" descr="Journey Brand logo">    </p:cNvPr>
          <p:cNvPicPr>
            <a:picLocks noChangeAspect="1"/>
          </p:cNvPicPr>
          <p:nvPr/>
        </p:nvPicPr>
        <p:blipFill>
          <a:blip r:embed="rId2"/>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42" presetClass="entr" presetSubtype="0"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 calcmode="lin" valueType="num">
                                      <p:cBhvr additive="base">
                                        <p:cTn id="7" dur="450" fill="hold"/>
                                        <p:tgtEl>
                                          <p:spTgt spid="3"/>
                                        </p:tgtEl>
                                        <p:attrNameLst>
                                          <p:attrName>ppt_y</p:attrName>
                                        </p:attrNameLst>
                                      </p:cBhvr>
                                      <p:tavLst>
                                        <p:tav tm="0">
                                          <p:val>
                                            <p:strVal val="#ppt_y+0.04"/>
                                          </p:val>
                                        </p:tav>
                                        <p:tav tm="100000">
                                          <p:val>
                                            <p:strVal val="#ppt_y"/>
                                          </p:val>
                                        </p:tav>
                                      </p:tavLst>
                                    </p:anim>
                                  </p:childTnLst>
                                </p:cTn>
                              </p:par>
                              <p:par>
                                <p:cTn id="12" presetID="42" presetClass="entr" presetSubtype="0" fill="hold" decel="100000" grpId="0" nodeType="withEffect">
                                  <p:stCondLst>
                                    <p:cond delay="12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50"/>
                                        <p:tgtEl>
                                          <p:spTgt spid="4">
                                            <p:txEl>
                                              <p:pRg st="0" end="0"/>
                                            </p:txEl>
                                          </p:spTgt>
                                        </p:tgtEl>
                                      </p:cBhvr>
                                    </p:animEffect>
                                    <p:anim calcmode="lin" valueType="num">
                                      <p:cBhvr additive="base">
                                        <p:cTn id="11" dur="450" fill="hold"/>
                                        <p:tgtEl>
                                          <p:spTgt spid="4">
                                            <p:txEl>
                                              <p:pRg st="0" end="0"/>
                                            </p:txEl>
                                          </p:spTgt>
                                        </p:tgtEl>
                                        <p:attrNameLst>
                                          <p:attrName>ppt_y</p:attrName>
                                        </p:attrNameLst>
                                      </p:cBhvr>
                                      <p:tavLst>
                                        <p:tav tm="0">
                                          <p:val>
                                            <p:strVal val="#ppt_y+0.04"/>
                                          </p:val>
                                        </p:tav>
                                        <p:tav tm="100000">
                                          <p:val>
                                            <p:strVal val="#ppt_y"/>
                                          </p:val>
                                        </p:tav>
                                      </p:tavLst>
                                    </p:anim>
                                  </p:childTnLst>
                                </p:cTn>
                              </p:par>
                              <p:par>
                                <p:cTn id="16" presetID="42" presetClass="entr" presetSubtype="0" fill="hold" decel="100000" grpId="0" nodeType="withEffect">
                                  <p:stCondLst>
                                    <p:cond delay="216"/>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450"/>
                                        <p:tgtEl>
                                          <p:spTgt spid="4">
                                            <p:txEl>
                                              <p:pRg st="1" end="1"/>
                                            </p:txEl>
                                          </p:spTgt>
                                        </p:tgtEl>
                                      </p:cBhvr>
                                    </p:animEffect>
                                    <p:anim calcmode="lin" valueType="num">
                                      <p:cBhvr additive="base">
                                        <p:cTn id="15" dur="450" fill="hold"/>
                                        <p:tgtEl>
                                          <p:spTgt spid="4">
                                            <p:txEl>
                                              <p:pRg st="1" end="1"/>
                                            </p:txEl>
                                          </p:spTgt>
                                        </p:tgtEl>
                                        <p:attrNameLst>
                                          <p:attrName>ppt_y</p:attrName>
                                        </p:attrNameLst>
                                      </p:cBhvr>
                                      <p:tavLst>
                                        <p:tav tm="0">
                                          <p:val>
                                            <p:strVal val="#ppt_y+0.04"/>
                                          </p:val>
                                        </p:tav>
                                        <p:tav tm="100000">
                                          <p:val>
                                            <p:strVal val="#ppt_y"/>
                                          </p:val>
                                        </p:tav>
                                      </p:tavLst>
                                    </p:anim>
                                  </p:childTnLst>
                                </p:cTn>
                              </p:par>
                              <p:par>
                                <p:cTn id="20" presetID="42" presetClass="entr" presetSubtype="0" fill="hold" decel="100000" grpId="0" nodeType="withEffect">
                                  <p:stCondLst>
                                    <p:cond delay="312"/>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450"/>
                                        <p:tgtEl>
                                          <p:spTgt spid="4">
                                            <p:txEl>
                                              <p:pRg st="2" end="2"/>
                                            </p:txEl>
                                          </p:spTgt>
                                        </p:tgtEl>
                                      </p:cBhvr>
                                    </p:animEffect>
                                    <p:anim calcmode="lin" valueType="num">
                                      <p:cBhvr additive="base">
                                        <p:cTn id="19" dur="450" fill="hold"/>
                                        <p:tgtEl>
                                          <p:spTgt spid="4">
                                            <p:txEl>
                                              <p:pRg st="2" end="2"/>
                                            </p:txEl>
                                          </p:spTgt>
                                        </p:tgtEl>
                                        <p:attrNameLst>
                                          <p:attrName>ppt_y</p:attrName>
                                        </p:attrNameLst>
                                      </p:cBhvr>
                                      <p:tavLst>
                                        <p:tav tm="0">
                                          <p:val>
                                            <p:strVal val="#ppt_y+0.04"/>
                                          </p:val>
                                        </p:tav>
                                        <p:tav tm="100000">
                                          <p:val>
                                            <p:strVal val="#ppt_y"/>
                                          </p:val>
                                        </p:tav>
                                      </p:tavLst>
                                    </p:anim>
                                  </p:childTnLst>
                                </p:cTn>
                              </p:par>
                              <p:par>
                                <p:cTn id="24" presetID="42" presetClass="entr" presetSubtype="0" fill="hold" decel="100000" grpId="0" nodeType="withEffect">
                                  <p:stCondLst>
                                    <p:cond delay="408"/>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450"/>
                                        <p:tgtEl>
                                          <p:spTgt spid="4">
                                            <p:txEl>
                                              <p:pRg st="3" end="3"/>
                                            </p:txEl>
                                          </p:spTgt>
                                        </p:tgtEl>
                                      </p:cBhvr>
                                    </p:animEffect>
                                    <p:anim calcmode="lin" valueType="num">
                                      <p:cBhvr additive="base">
                                        <p:cTn id="23" dur="450" fill="hold"/>
                                        <p:tgtEl>
                                          <p:spTgt spid="4">
                                            <p:txEl>
                                              <p:pRg st="3" end="3"/>
                                            </p:txEl>
                                          </p:spTgt>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1B"/>
        </a:solidFill>
      </p:bgPr>
    </p:bg>
    <p:spTree>
      <p:nvGrpSpPr>
        <p:cNvPr id="1" name=""/>
        <p:cNvGrpSpPr/>
        <p:nvPr/>
      </p:nvGrpSpPr>
      <p:grpSpPr>
        <a:xfrm>
          <a:off x="0" y="0"/>
          <a:ext cx="0" cy="0"/>
          <a:chOff x="0" y="0"/>
          <a:chExt cx="0" cy="0"/>
        </a:xfrm>
      </p:grpSpPr>
      <p:sp>
        <p:nvSpPr>
          <p:cNvPr id="2" name="pt:cbb08cf4-1e14-4385-b0ce-509e4046e985"/>
          <p:cNvSpPr/>
          <p:nvPr/>
        </p:nvSpPr>
        <p:spPr>
          <a:xfrm>
            <a:off x="0" y="228600"/>
            <a:ext cx="9144000" cy="12700"/>
          </a:xfrm>
          <a:prstGeom prst="rect">
            <a:avLst/>
          </a:prstGeom>
          <a:solidFill>
            <a:srgbClr val="2A2A39"/>
          </a:solidFill>
          <a:ln/>
        </p:spPr>
      </p:sp>
      <p:sp>
        <p:nvSpPr>
          <p:cNvPr id="3" name="pt:116b0954-7583-4027-880c-73f0a2f7f816"/>
          <p:cNvSpPr/>
          <p:nvPr/>
        </p:nvSpPr>
        <p:spPr>
          <a:xfrm>
            <a:off x="457200" y="508000"/>
            <a:ext cx="8229600" cy="952500"/>
          </a:xfrm>
          <a:prstGeom prst="rect">
            <a:avLst/>
          </a:prstGeom>
          <a:noFill/>
          <a:ln/>
        </p:spPr>
        <p:txBody>
          <a:bodyPr wrap="square" lIns="0" tIns="0" rIns="0" bIns="0" rtlCol="0" anchor="ctr"/>
          <a:lstStyle/>
          <a:p>
            <a:pPr algn="l" indent="0" marL="0">
              <a:lnSpc>
                <a:spcPct val="120000"/>
              </a:lnSpc>
              <a:buNone/>
            </a:pPr>
            <a:r>
              <a:rPr lang="en-US" sz="3000" b="1" dirty="0">
                <a:solidFill>
                  <a:srgbClr val="EDEDF8"/>
                </a:solidFill>
                <a:latin typeface="Space Grotesk" pitchFamily="34" charset="0"/>
                <a:ea typeface="Space Grotesk" pitchFamily="34" charset="-122"/>
                <a:cs typeface="Space Grotesk" pitchFamily="34" charset="-120"/>
              </a:rPr>
              <a:t>How Northwind Works for </a:t>
            </a:r>
            <a:pPr algn="l" indent="0" marL="0">
              <a:lnSpc>
                <a:spcPct val="120000"/>
              </a:lnSpc>
              <a:buNone/>
            </a:pPr>
            <a:r>
              <a:rPr lang="en-US" sz="3000" b="1" dirty="0">
                <a:solidFill>
                  <a:srgbClr val="22D3EE"/>
                </a:solidFill>
                <a:latin typeface="Space Grotesk" pitchFamily="34" charset="0"/>
                <a:ea typeface="Space Grotesk" pitchFamily="34" charset="-122"/>
                <a:cs typeface="Space Grotesk" pitchFamily="34" charset="-120"/>
              </a:rPr>
              <a:t>Your Fleet</a:t>
            </a:r>
            <a:endParaRPr lang="en-US" sz="3000" dirty="0"/>
          </a:p>
        </p:txBody>
      </p:sp>
      <p:sp>
        <p:nvSpPr>
          <p:cNvPr id="4" name="pt:dbf6b86c-293e-47cb-aaf4-d1374271c49a"/>
          <p:cNvSpPr/>
          <p:nvPr/>
        </p:nvSpPr>
        <p:spPr>
          <a:xfrm>
            <a:off x="520700" y="1663700"/>
            <a:ext cx="1905000" cy="3302000"/>
          </a:xfrm>
          <a:prstGeom prst="roundRect">
            <a:avLst>
              <a:gd name="adj" fmla="val 5333"/>
            </a:avLst>
          </a:prstGeom>
          <a:solidFill>
            <a:srgbClr val="EDEDF8">
              <a:alpha val="12000"/>
            </a:srgbClr>
          </a:solidFill>
          <a:ln/>
        </p:spPr>
      </p:sp>
      <p:sp>
        <p:nvSpPr>
          <p:cNvPr id="5" name="pt:1ba1388e-8331-4132-8188-b770ec0aa09f"/>
          <p:cNvSpPr/>
          <p:nvPr/>
        </p:nvSpPr>
        <p:spPr>
          <a:xfrm>
            <a:off x="457200" y="1587500"/>
            <a:ext cx="1905000" cy="3302000"/>
          </a:xfrm>
          <a:prstGeom prst="roundRect">
            <a:avLst>
              <a:gd name="adj" fmla="val 5333"/>
            </a:avLst>
          </a:prstGeom>
          <a:solidFill>
            <a:srgbClr val="0B0B1B"/>
          </a:solidFill>
          <a:ln w="12700">
            <a:solidFill>
              <a:srgbClr val="2A2A39"/>
            </a:solidFill>
            <a:prstDash val="solid"/>
          </a:ln>
        </p:spPr>
      </p:sp>
      <p:sp>
        <p:nvSpPr>
          <p:cNvPr id="6" name="pt:cab64874-aab2-4a9a-858c-ac9501bf3bcf"/>
          <p:cNvSpPr/>
          <p:nvPr/>
        </p:nvSpPr>
        <p:spPr>
          <a:xfrm>
            <a:off x="6350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7474F3"/>
                </a:solidFill>
                <a:latin typeface="Space Grotesk" pitchFamily="34" charset="0"/>
                <a:ea typeface="Space Grotesk" pitchFamily="34" charset="-122"/>
                <a:cs typeface="Space Grotesk" pitchFamily="34" charset="-120"/>
              </a:rPr>
              <a:t>01</a:t>
            </a:r>
            <a:endParaRPr lang="en-US" sz="2800" dirty="0"/>
          </a:p>
        </p:txBody>
      </p:sp>
      <p:sp>
        <p:nvSpPr>
          <p:cNvPr id="7" name="pt:8bae8347-0f5a-4907-aa4b-8c8358ebc991"/>
          <p:cNvSpPr/>
          <p:nvPr/>
        </p:nvSpPr>
        <p:spPr>
          <a:xfrm>
            <a:off x="6350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EDEDF8"/>
                </a:solidFill>
                <a:latin typeface="Space Grotesk" pitchFamily="34" charset="0"/>
                <a:ea typeface="Space Grotesk" pitchFamily="34" charset="-122"/>
                <a:cs typeface="Space Grotesk" pitchFamily="34" charset="-120"/>
              </a:rPr>
              <a:t>Import</a:t>
            </a:r>
            <a:endParaRPr lang="en-US" sz="1700" dirty="0"/>
          </a:p>
        </p:txBody>
      </p:sp>
      <p:sp>
        <p:nvSpPr>
          <p:cNvPr id="8" name="pt:a647e2ed-b3f5-4c0a-afaa-b5a27c139db0"/>
          <p:cNvSpPr/>
          <p:nvPr/>
        </p:nvSpPr>
        <p:spPr>
          <a:xfrm>
            <a:off x="6350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A5A5B1"/>
                </a:solidFill>
                <a:latin typeface="Inter" pitchFamily="34" charset="0"/>
                <a:ea typeface="Inter" pitchFamily="34" charset="-122"/>
                <a:cs typeface="Inter" pitchFamily="34" charset="-120"/>
              </a:rPr>
              <a:t>Upload the day's orders or sync your system</a:t>
            </a:r>
            <a:endParaRPr lang="en-US" sz="1300" dirty="0"/>
          </a:p>
        </p:txBody>
      </p:sp>
      <p:sp>
        <p:nvSpPr>
          <p:cNvPr id="9" name="pt:34c78c4f-1ad0-450e-a3cc-b2149b575849"/>
          <p:cNvSpPr/>
          <p:nvPr/>
        </p:nvSpPr>
        <p:spPr>
          <a:xfrm>
            <a:off x="2628900" y="1663700"/>
            <a:ext cx="1905000" cy="3302000"/>
          </a:xfrm>
          <a:prstGeom prst="roundRect">
            <a:avLst>
              <a:gd name="adj" fmla="val 5333"/>
            </a:avLst>
          </a:prstGeom>
          <a:solidFill>
            <a:srgbClr val="EDEDF8">
              <a:alpha val="12000"/>
            </a:srgbClr>
          </a:solidFill>
          <a:ln/>
        </p:spPr>
      </p:sp>
      <p:sp>
        <p:nvSpPr>
          <p:cNvPr id="10" name="pt:155d3ebc-c9a7-44ef-b40c-88fdadbefa26"/>
          <p:cNvSpPr/>
          <p:nvPr/>
        </p:nvSpPr>
        <p:spPr>
          <a:xfrm>
            <a:off x="2565400" y="1587500"/>
            <a:ext cx="1905000" cy="3302000"/>
          </a:xfrm>
          <a:prstGeom prst="roundRect">
            <a:avLst>
              <a:gd name="adj" fmla="val 5333"/>
            </a:avLst>
          </a:prstGeom>
          <a:solidFill>
            <a:srgbClr val="0B0B1B"/>
          </a:solidFill>
          <a:ln w="12700">
            <a:solidFill>
              <a:srgbClr val="2A2A39"/>
            </a:solidFill>
            <a:prstDash val="solid"/>
          </a:ln>
        </p:spPr>
      </p:sp>
      <p:sp>
        <p:nvSpPr>
          <p:cNvPr id="11" name="pt:7fe88227-590b-4189-b95b-0dab3f8e4e83"/>
          <p:cNvSpPr/>
          <p:nvPr/>
        </p:nvSpPr>
        <p:spPr>
          <a:xfrm>
            <a:off x="27432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7474F3"/>
                </a:solidFill>
                <a:latin typeface="Space Grotesk" pitchFamily="34" charset="0"/>
                <a:ea typeface="Space Grotesk" pitchFamily="34" charset="-122"/>
                <a:cs typeface="Space Grotesk" pitchFamily="34" charset="-120"/>
              </a:rPr>
              <a:t>02</a:t>
            </a:r>
            <a:endParaRPr lang="en-US" sz="2800" dirty="0"/>
          </a:p>
        </p:txBody>
      </p:sp>
      <p:sp>
        <p:nvSpPr>
          <p:cNvPr id="12" name="pt:43e42730-5562-47f5-84d7-f8eaafea1c97"/>
          <p:cNvSpPr/>
          <p:nvPr/>
        </p:nvSpPr>
        <p:spPr>
          <a:xfrm>
            <a:off x="27432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EDEDF8"/>
                </a:solidFill>
                <a:latin typeface="Space Grotesk" pitchFamily="34" charset="0"/>
                <a:ea typeface="Space Grotesk" pitchFamily="34" charset="-122"/>
                <a:cs typeface="Space Grotesk" pitchFamily="34" charset="-120"/>
              </a:rPr>
              <a:t>Plan</a:t>
            </a:r>
            <a:endParaRPr lang="en-US" sz="1700" dirty="0"/>
          </a:p>
        </p:txBody>
      </p:sp>
      <p:sp>
        <p:nvSpPr>
          <p:cNvPr id="13" name="pt:dbd293ad-d2dd-40d8-957b-9a7b21f98fd0"/>
          <p:cNvSpPr/>
          <p:nvPr/>
        </p:nvSpPr>
        <p:spPr>
          <a:xfrm>
            <a:off x="27432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A5A5B1"/>
                </a:solidFill>
                <a:latin typeface="Inter" pitchFamily="34" charset="0"/>
                <a:ea typeface="Inter" pitchFamily="34" charset="-122"/>
                <a:cs typeface="Inter" pitchFamily="34" charset="-120"/>
              </a:rPr>
              <a:t>Routes are optimised for time, cost and capacity</a:t>
            </a:r>
            <a:endParaRPr lang="en-US" sz="1300" dirty="0"/>
          </a:p>
        </p:txBody>
      </p:sp>
      <p:sp>
        <p:nvSpPr>
          <p:cNvPr id="14" name="pt:394ae54f-0392-4624-89f2-164122965bcc"/>
          <p:cNvSpPr/>
          <p:nvPr/>
        </p:nvSpPr>
        <p:spPr>
          <a:xfrm>
            <a:off x="4737100" y="1663700"/>
            <a:ext cx="1905000" cy="3302000"/>
          </a:xfrm>
          <a:prstGeom prst="roundRect">
            <a:avLst>
              <a:gd name="adj" fmla="val 5333"/>
            </a:avLst>
          </a:prstGeom>
          <a:solidFill>
            <a:srgbClr val="EDEDF8">
              <a:alpha val="12000"/>
            </a:srgbClr>
          </a:solidFill>
          <a:ln/>
        </p:spPr>
      </p:sp>
      <p:sp>
        <p:nvSpPr>
          <p:cNvPr id="15" name="pt:ef17a876-4842-4e4b-a61d-09ac609b2881"/>
          <p:cNvSpPr/>
          <p:nvPr/>
        </p:nvSpPr>
        <p:spPr>
          <a:xfrm>
            <a:off x="4673600" y="1587500"/>
            <a:ext cx="1905000" cy="3302000"/>
          </a:xfrm>
          <a:prstGeom prst="roundRect">
            <a:avLst>
              <a:gd name="adj" fmla="val 5333"/>
            </a:avLst>
          </a:prstGeom>
          <a:solidFill>
            <a:srgbClr val="0B0B1B"/>
          </a:solidFill>
          <a:ln w="12700">
            <a:solidFill>
              <a:srgbClr val="2A2A39"/>
            </a:solidFill>
            <a:prstDash val="solid"/>
          </a:ln>
        </p:spPr>
      </p:sp>
      <p:sp>
        <p:nvSpPr>
          <p:cNvPr id="16" name="pt:18548f86-477d-41f9-80fc-581c45ee792f"/>
          <p:cNvSpPr/>
          <p:nvPr/>
        </p:nvSpPr>
        <p:spPr>
          <a:xfrm>
            <a:off x="48514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7474F3"/>
                </a:solidFill>
                <a:latin typeface="Space Grotesk" pitchFamily="34" charset="0"/>
                <a:ea typeface="Space Grotesk" pitchFamily="34" charset="-122"/>
                <a:cs typeface="Space Grotesk" pitchFamily="34" charset="-120"/>
              </a:rPr>
              <a:t>03</a:t>
            </a:r>
            <a:endParaRPr lang="en-US" sz="2800" dirty="0"/>
          </a:p>
        </p:txBody>
      </p:sp>
      <p:sp>
        <p:nvSpPr>
          <p:cNvPr id="17" name="pt:e6053f6d-24ef-41b6-af61-e5e3b2198632"/>
          <p:cNvSpPr/>
          <p:nvPr/>
        </p:nvSpPr>
        <p:spPr>
          <a:xfrm>
            <a:off x="48514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EDEDF8"/>
                </a:solidFill>
                <a:latin typeface="Space Grotesk" pitchFamily="34" charset="0"/>
                <a:ea typeface="Space Grotesk" pitchFamily="34" charset="-122"/>
                <a:cs typeface="Space Grotesk" pitchFamily="34" charset="-120"/>
              </a:rPr>
              <a:t>Deliver</a:t>
            </a:r>
            <a:endParaRPr lang="en-US" sz="1700" dirty="0"/>
          </a:p>
        </p:txBody>
      </p:sp>
      <p:sp>
        <p:nvSpPr>
          <p:cNvPr id="18" name="pt:f3283f2e-d510-4806-aae5-40bba6b4f272"/>
          <p:cNvSpPr/>
          <p:nvPr/>
        </p:nvSpPr>
        <p:spPr>
          <a:xfrm>
            <a:off x="48514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A5A5B1"/>
                </a:solidFill>
                <a:latin typeface="Inter" pitchFamily="34" charset="0"/>
                <a:ea typeface="Inter" pitchFamily="34" charset="-122"/>
                <a:cs typeface="Inter" pitchFamily="34" charset="-120"/>
              </a:rPr>
              <a:t>Drivers follow turn-by-turn routes in the app</a:t>
            </a:r>
            <a:endParaRPr lang="en-US" sz="1300" dirty="0"/>
          </a:p>
        </p:txBody>
      </p:sp>
      <p:sp>
        <p:nvSpPr>
          <p:cNvPr id="19" name="pt:6f3d40db-92db-4611-a8cf-dad7fec3dbc2"/>
          <p:cNvSpPr/>
          <p:nvPr/>
        </p:nvSpPr>
        <p:spPr>
          <a:xfrm>
            <a:off x="6845300" y="1663700"/>
            <a:ext cx="1905000" cy="3302000"/>
          </a:xfrm>
          <a:prstGeom prst="roundRect">
            <a:avLst>
              <a:gd name="adj" fmla="val 5333"/>
            </a:avLst>
          </a:prstGeom>
          <a:solidFill>
            <a:srgbClr val="EDEDF8">
              <a:alpha val="12000"/>
            </a:srgbClr>
          </a:solidFill>
          <a:ln/>
        </p:spPr>
      </p:sp>
      <p:sp>
        <p:nvSpPr>
          <p:cNvPr id="20" name="pt:3210db48-4ca0-4f20-a66e-28810fdeca97"/>
          <p:cNvSpPr/>
          <p:nvPr/>
        </p:nvSpPr>
        <p:spPr>
          <a:xfrm>
            <a:off x="6781800" y="1587500"/>
            <a:ext cx="1905000" cy="3302000"/>
          </a:xfrm>
          <a:prstGeom prst="roundRect">
            <a:avLst>
              <a:gd name="adj" fmla="val 5333"/>
            </a:avLst>
          </a:prstGeom>
          <a:solidFill>
            <a:srgbClr val="0B0B1B"/>
          </a:solidFill>
          <a:ln w="12700">
            <a:solidFill>
              <a:srgbClr val="2A2A39"/>
            </a:solidFill>
            <a:prstDash val="solid"/>
          </a:ln>
        </p:spPr>
      </p:sp>
      <p:sp>
        <p:nvSpPr>
          <p:cNvPr id="21" name="pt:d483a31a-6be2-4823-8bab-2701777ae9b1"/>
          <p:cNvSpPr/>
          <p:nvPr/>
        </p:nvSpPr>
        <p:spPr>
          <a:xfrm>
            <a:off x="69596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7474F3"/>
                </a:solidFill>
                <a:latin typeface="Space Grotesk" pitchFamily="34" charset="0"/>
                <a:ea typeface="Space Grotesk" pitchFamily="34" charset="-122"/>
                <a:cs typeface="Space Grotesk" pitchFamily="34" charset="-120"/>
              </a:rPr>
              <a:t>04</a:t>
            </a:r>
            <a:endParaRPr lang="en-US" sz="2800" dirty="0"/>
          </a:p>
        </p:txBody>
      </p:sp>
      <p:sp>
        <p:nvSpPr>
          <p:cNvPr id="22" name="pt:c44d9d0a-6583-4d68-a729-a1671469ae50"/>
          <p:cNvSpPr/>
          <p:nvPr/>
        </p:nvSpPr>
        <p:spPr>
          <a:xfrm>
            <a:off x="69596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EDEDF8"/>
                </a:solidFill>
                <a:latin typeface="Space Grotesk" pitchFamily="34" charset="0"/>
                <a:ea typeface="Space Grotesk" pitchFamily="34" charset="-122"/>
                <a:cs typeface="Space Grotesk" pitchFamily="34" charset="-120"/>
              </a:rPr>
              <a:t>Notify</a:t>
            </a:r>
            <a:endParaRPr lang="en-US" sz="1700" dirty="0"/>
          </a:p>
        </p:txBody>
      </p:sp>
      <p:sp>
        <p:nvSpPr>
          <p:cNvPr id="23" name="pt:2961654d-f762-42db-a6c7-9e4769a83797"/>
          <p:cNvSpPr/>
          <p:nvPr/>
        </p:nvSpPr>
        <p:spPr>
          <a:xfrm>
            <a:off x="69596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A5A5B1"/>
                </a:solidFill>
                <a:latin typeface="Inter" pitchFamily="34" charset="0"/>
                <a:ea typeface="Inter" pitchFamily="34" charset="-122"/>
                <a:cs typeface="Inter" pitchFamily="34" charset="-120"/>
              </a:rPr>
              <a:t>Customers get live windows and proof of delivery</a:t>
            </a:r>
            <a:endParaRPr lang="en-US" sz="1300" dirty="0"/>
          </a:p>
        </p:txBody>
      </p:sp>
      <p:sp>
        <p:nvSpPr>
          <p:cNvPr id="24" name="pt:eb9d83a8-fb8c-47f2-a921-56b3fb3d33c1"/>
          <p:cNvSpPr/>
          <p:nvPr/>
        </p:nvSpPr>
        <p:spPr>
          <a:xfrm>
            <a:off x="412750" y="6451600"/>
            <a:ext cx="361950" cy="361950"/>
          </a:xfrm>
          <a:prstGeom prst="roundRect">
            <a:avLst>
              <a:gd name="adj" fmla="val 12281"/>
            </a:avLst>
          </a:prstGeom>
          <a:solidFill>
            <a:srgbClr val="FFFFFF"/>
          </a:solidFill>
          <a:ln/>
        </p:spPr>
      </p:sp>
      <p:pic>
        <p:nvPicPr>
          <p:cNvPr id="25" name="pt:a05b376e-b548-45e8-a478-657aa1666656" descr="Journey Brand logo">    </p:cNvPr>
          <p:cNvPicPr>
            <a:picLocks noChangeAspect="1"/>
          </p:cNvPicPr>
          <p:nvPr/>
        </p:nvPicPr>
        <p:blipFill>
          <a:blip r:embed="rId1"/>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42" presetClass="entr" presetSubtype="0"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 calcmode="lin" valueType="num">
                                      <p:cBhvr additive="base">
                                        <p:cTn id="7" dur="450" fill="hold"/>
                                        <p:tgtEl>
                                          <p:spTgt spid="3"/>
                                        </p:tgtEl>
                                        <p:attrNameLst>
                                          <p:attrName>ppt_y</p:attrName>
                                        </p:attrNameLst>
                                      </p:cBhvr>
                                      <p:tavLst>
                                        <p:tav tm="0">
                                          <p:val>
                                            <p:strVal val="#ppt_y+0.04"/>
                                          </p:val>
                                        </p:tav>
                                        <p:tav tm="100000">
                                          <p:val>
                                            <p:strVal val="#ppt_y"/>
                                          </p:val>
                                        </p:tav>
                                      </p:tavLst>
                                    </p:anim>
                                  </p:childTnLst>
                                </p:cTn>
                              </p:par>
                              <p:par>
                                <p:cTn id="12" presetID="53" presetClass="entr" presetSubtype="16" fill="hold" decel="100000" nodeType="withEffect">
                                  <p:stCondLst>
                                    <p:cond delay="88"/>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animScale>
                                      <p:cBhvr>
                                        <p:cTn id="11" dur="450" fill="hold"/>
                                        <p:tgtEl>
                                          <p:spTgt spid="5"/>
                                        </p:tgtEl>
                                      </p:cBhvr>
                                      <p:from x="70000" y="70000"/>
                                      <p:to x="100000" y="100000"/>
                                    </p:animScale>
                                  </p:childTnLst>
                                </p:cTn>
                              </p:par>
                              <p:par>
                                <p:cTn id="16" presetID="42" presetClass="entr" presetSubtype="0" fill="hold" decel="100000" nodeType="withEffect">
                                  <p:stCondLst>
                                    <p:cond delay="175"/>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anim calcmode="lin" valueType="num">
                                      <p:cBhvr additive="base">
                                        <p:cTn id="15" dur="450" fill="hold"/>
                                        <p:tgtEl>
                                          <p:spTgt spid="7"/>
                                        </p:tgtEl>
                                        <p:attrNameLst>
                                          <p:attrName>ppt_y</p:attrName>
                                        </p:attrNameLst>
                                      </p:cBhvr>
                                      <p:tavLst>
                                        <p:tav tm="0">
                                          <p:val>
                                            <p:strVal val="#ppt_y+0.04"/>
                                          </p:val>
                                        </p:tav>
                                        <p:tav tm="100000">
                                          <p:val>
                                            <p:strVal val="#ppt_y"/>
                                          </p:val>
                                        </p:tav>
                                      </p:tavLst>
                                    </p:anim>
                                  </p:childTnLst>
                                </p:cTn>
                              </p:par>
                              <p:par>
                                <p:cTn id="20" presetID="53" presetClass="entr" presetSubtype="16" fill="hold" decel="100000" nodeType="withEffect">
                                  <p:stCondLst>
                                    <p:cond delay="263"/>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50"/>
                                        <p:tgtEl>
                                          <p:spTgt spid="10"/>
                                        </p:tgtEl>
                                      </p:cBhvr>
                                    </p:animEffect>
                                    <p:animScale>
                                      <p:cBhvr>
                                        <p:cTn id="19" dur="450" fill="hold"/>
                                        <p:tgtEl>
                                          <p:spTgt spid="10"/>
                                        </p:tgtEl>
                                      </p:cBhvr>
                                      <p:from x="70000" y="70000"/>
                                      <p:to x="100000" y="100000"/>
                                    </p:animScale>
                                  </p:childTnLst>
                                </p:cTn>
                              </p:par>
                              <p:par>
                                <p:cTn id="24" presetID="42" presetClass="entr" presetSubtype="0" fill="hold" decel="100000" nodeType="withEffect">
                                  <p:stCondLst>
                                    <p:cond delay="35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50"/>
                                        <p:tgtEl>
                                          <p:spTgt spid="12"/>
                                        </p:tgtEl>
                                      </p:cBhvr>
                                    </p:animEffect>
                                    <p:anim calcmode="lin" valueType="num">
                                      <p:cBhvr additive="base">
                                        <p:cTn id="23" dur="450" fill="hold"/>
                                        <p:tgtEl>
                                          <p:spTgt spid="12"/>
                                        </p:tgtEl>
                                        <p:attrNameLst>
                                          <p:attrName>ppt_y</p:attrName>
                                        </p:attrNameLst>
                                      </p:cBhvr>
                                      <p:tavLst>
                                        <p:tav tm="0">
                                          <p:val>
                                            <p:strVal val="#ppt_y+0.04"/>
                                          </p:val>
                                        </p:tav>
                                        <p:tav tm="100000">
                                          <p:val>
                                            <p:strVal val="#ppt_y"/>
                                          </p:val>
                                        </p:tav>
                                      </p:tavLst>
                                    </p:anim>
                                  </p:childTnLst>
                                </p:cTn>
                              </p:par>
                              <p:par>
                                <p:cTn id="28" presetID="53" presetClass="entr" presetSubtype="16" fill="hold" decel="100000" nodeType="withEffect">
                                  <p:stCondLst>
                                    <p:cond delay="438"/>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animScale>
                                      <p:cBhvr>
                                        <p:cTn id="27" dur="450" fill="hold"/>
                                        <p:tgtEl>
                                          <p:spTgt spid="15"/>
                                        </p:tgtEl>
                                      </p:cBhvr>
                                      <p:from x="70000" y="70000"/>
                                      <p:to x="100000" y="100000"/>
                                    </p:animScale>
                                  </p:childTnLst>
                                </p:cTn>
                              </p:par>
                              <p:par>
                                <p:cTn id="32" presetID="42" presetClass="entr" presetSubtype="0" fill="hold" decel="100000" nodeType="withEffect">
                                  <p:stCondLst>
                                    <p:cond delay="525"/>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50"/>
                                        <p:tgtEl>
                                          <p:spTgt spid="17"/>
                                        </p:tgtEl>
                                      </p:cBhvr>
                                    </p:animEffect>
                                    <p:anim calcmode="lin" valueType="num">
                                      <p:cBhvr additive="base">
                                        <p:cTn id="31" dur="450" fill="hold"/>
                                        <p:tgtEl>
                                          <p:spTgt spid="17"/>
                                        </p:tgtEl>
                                        <p:attrNameLst>
                                          <p:attrName>ppt_y</p:attrName>
                                        </p:attrNameLst>
                                      </p:cBhvr>
                                      <p:tavLst>
                                        <p:tav tm="0">
                                          <p:val>
                                            <p:strVal val="#ppt_y+0.04"/>
                                          </p:val>
                                        </p:tav>
                                        <p:tav tm="100000">
                                          <p:val>
                                            <p:strVal val="#ppt_y"/>
                                          </p:val>
                                        </p:tav>
                                      </p:tavLst>
                                    </p:anim>
                                  </p:childTnLst>
                                </p:cTn>
                              </p:par>
                              <p:par>
                                <p:cTn id="36" presetID="53" presetClass="entr" presetSubtype="16" fill="hold" decel="100000" nodeType="withEffect">
                                  <p:stCondLst>
                                    <p:cond delay="613"/>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animScale>
                                      <p:cBhvr>
                                        <p:cTn id="35" dur="450" fill="hold"/>
                                        <p:tgtEl>
                                          <p:spTgt spid="20"/>
                                        </p:tgtEl>
                                      </p:cBhvr>
                                      <p:from x="70000" y="70000"/>
                                      <p:to x="100000" y="100000"/>
                                    </p:animScale>
                                  </p:childTnLst>
                                </p:cTn>
                              </p:par>
                              <p:par>
                                <p:cTn id="40" presetID="42" presetClass="entr" presetSubtype="0" fill="hold" decel="100000" nodeType="withEffect">
                                  <p:stCondLst>
                                    <p:cond delay="70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anim calcmode="lin" valueType="num">
                                      <p:cBhvr additive="base">
                                        <p:cTn id="39" dur="450" fill="hold"/>
                                        <p:tgtEl>
                                          <p:spTgt spid="22"/>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16"/>
        </a:solidFill>
      </p:bgPr>
    </p:bg>
    <p:spTree>
      <p:nvGrpSpPr>
        <p:cNvPr id="1" name=""/>
        <p:cNvGrpSpPr/>
        <p:nvPr/>
      </p:nvGrpSpPr>
      <p:grpSpPr>
        <a:xfrm>
          <a:off x="0" y="0"/>
          <a:ext cx="0" cy="0"/>
          <a:chOff x="0" y="0"/>
          <a:chExt cx="0" cy="0"/>
        </a:xfrm>
      </p:grpSpPr>
      <p:pic>
        <p:nvPicPr>
          <p:cNvPr id="2" name="pt:9a6a50a6-0252-4dd7-9159-52f1ad530edf" descr="Teacher helping a student with a tablet in a bright classroom">    </p:cNvPr>
          <p:cNvPicPr>
            <a:picLocks noChangeAspect="1"/>
          </p:cNvPicPr>
          <p:nvPr/>
        </p:nvPicPr>
        <p:blipFill>
          <a:blip r:embed="rId1"/>
          <a:srcRect l="0" r="0" t="0" b="0"/>
          <a:stretch/>
        </p:blipFill>
        <p:spPr>
          <a:xfrm>
            <a:off x="0" y="0"/>
            <a:ext cx="9144000" cy="6858000"/>
          </a:xfrm>
          <a:prstGeom prst="rect">
            <a:avLst/>
          </a:prstGeom>
        </p:spPr>
      </p:pic>
      <p:pic>
        <p:nvPicPr>
          <p:cNvPr id="3" name="pt:9a6a50a6-0252-4dd7-9159-52f1ad530edf"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2fd1b10b-ab48-4408-a4f9-db1b90fd2266"/>
          <p:cNvSpPr/>
          <p:nvPr/>
        </p:nvSpPr>
        <p:spPr>
          <a:xfrm>
            <a:off x="457200" y="2880360"/>
            <a:ext cx="698500" cy="50800"/>
          </a:xfrm>
          <a:prstGeom prst="roundRect">
            <a:avLst>
              <a:gd name="adj" fmla="val 50000"/>
            </a:avLst>
          </a:prstGeom>
          <a:solidFill>
            <a:srgbClr val="22D3EE"/>
          </a:solidFill>
          <a:ln/>
        </p:spPr>
      </p:sp>
      <p:sp>
        <p:nvSpPr>
          <p:cNvPr id="5" name="pt:c74a3b69-59d8-4a1c-8ec4-62b3ed5774e6"/>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3600" b="1" dirty="0">
                <a:solidFill>
                  <a:srgbClr val="FFFFFF"/>
                </a:solidFill>
                <a:latin typeface="Space Grotesk" pitchFamily="34" charset="0"/>
                <a:ea typeface="Space Grotesk" pitchFamily="34" charset="-122"/>
                <a:cs typeface="Space Grotesk" pitchFamily="34" charset="-120"/>
              </a:rPr>
              <a:t>Why Fleets Choose Northwind</a:t>
            </a:r>
            <a:endParaRPr lang="en-US" sz="3600" dirty="0"/>
          </a:p>
        </p:txBody>
      </p:sp>
      <p:sp>
        <p:nvSpPr>
          <p:cNvPr id="6" name="pt:33d004ae-43f2-41cb-8412-3f2f184ea2f6"/>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CECED0"/>
                </a:solidFill>
                <a:latin typeface="Space Grotesk" pitchFamily="34" charset="0"/>
                <a:ea typeface="Space Grotesk" pitchFamily="34" charset="-122"/>
                <a:cs typeface="Space Grotesk" pitchFamily="34" charset="-120"/>
              </a:rPr>
              <a:t>Built for fleets of 5 to 200 · Live in an afternoon · 98% customer retention</a:t>
            </a:r>
            <a:endParaRPr lang="en-US" sz="1600" dirty="0"/>
          </a:p>
        </p:txBody>
      </p:sp>
      <p:sp>
        <p:nvSpPr>
          <p:cNvPr id="7" name="pt:5239ec58-d927-478b-9b2f-19a6fb2b1799"/>
          <p:cNvSpPr/>
          <p:nvPr/>
        </p:nvSpPr>
        <p:spPr>
          <a:xfrm>
            <a:off x="412750" y="6451600"/>
            <a:ext cx="361950" cy="361950"/>
          </a:xfrm>
          <a:prstGeom prst="roundRect">
            <a:avLst>
              <a:gd name="adj" fmla="val 12281"/>
            </a:avLst>
          </a:prstGeom>
          <a:solidFill>
            <a:srgbClr val="FFFFFF"/>
          </a:solidFill>
          <a:ln/>
        </p:spPr>
      </p:sp>
      <p:pic>
        <p:nvPicPr>
          <p:cNvPr id="8" name="pt:a2dc48e5-5491-4488-b42f-89908a1109e1"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42" presetClass="entr" presetSubtype="0" fill="hold" decel="100000"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 calcmode="lin" valueType="num">
                                      <p:cBhvr additive="base">
                                        <p:cTn id="10" dur="450" fill="hold"/>
                                        <p:tgtEl>
                                          <p:spTgt spid="5"/>
                                        </p:tgtEl>
                                        <p:attrNameLst>
                                          <p:attrName>ppt_y</p:attrName>
                                        </p:attrNameLst>
                                      </p:cBhvr>
                                      <p:tavLst>
                                        <p:tav tm="0">
                                          <p:val>
                                            <p:strVal val="#ppt_y+0.04"/>
                                          </p:val>
                                        </p:tav>
                                        <p:tav tm="100000">
                                          <p:val>
                                            <p:strVal val="#ppt_y"/>
                                          </p:val>
                                        </p:tav>
                                      </p:tavLst>
                                    </p:anim>
                                  </p:childTnLst>
                                </p:cTn>
                              </p:par>
                              <p:par>
                                <p:cTn id="15" presetID="42" presetClass="entr" presetSubtype="0" fill="hold" decel="100000" nodeType="withEffect">
                                  <p:stCondLst>
                                    <p:cond delay="2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 calcmode="lin" valueType="num">
                                      <p:cBhvr additive="base">
                                        <p:cTn id="14" dur="450" fill="hold"/>
                                        <p:tgtEl>
                                          <p:spTgt spid="6"/>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promptToPpt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only 11363</dc:title>
  <dc:subject>PptxGenJS Presentation</dc:subject>
  <dc:creator>PptxGenJS</dc:creator>
  <cp:lastModifiedBy>PptxGenJS</cp:lastModifiedBy>
  <cp:revision>1</cp:revision>
  <dcterms:created xsi:type="dcterms:W3CDTF">2026-10-10T05:05:16Z</dcterms:created>
  <dcterms:modified xsi:type="dcterms:W3CDTF">2026-10-10T05:05:16Z</dcterms:modified>
</cp:coreProperties>
</file>