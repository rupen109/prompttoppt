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are introducing Northwind and showing how our logistics software helps fleet operators eliminate route inefficiencies and significantly reduce delivery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significant portion of delivery spend is currently lost to inefficiencies like empty miles and missed first deliveries. Northwind addresses this gap by creating optimised routes in under a minute and providing reliable delivery windows for customers. Best of all, it deploys instantly on your existing drivers' phones without requiring hardware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simple it is to run your daily fleet operations with Northwind. You start by importing orders, and the platform automatically calculates optimal routes. Drivers receive turn-by-turn guidance, while your customers stay informed with accurate live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taking the time to learn how Northwind transforms fleet operations. With rapid onboarding, transparent flat pricing, and proven customer retention, we are ready to help your fleet operate efficiently.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NO-mBh-kCW" descr="a white van driving down a street next to tall buildings">    </p:cNvPr>
          <p:cNvPicPr>
            <a:picLocks noChangeAspect="1"/>
          </p:cNvPicPr>
          <p:nvPr/>
        </p:nvPicPr>
        <p:blipFill>
          <a:blip r:embed="rId1"/>
          <a:srcRect l="0" r="0" t="0" b="0"/>
          <a:stretch/>
        </p:blipFill>
        <p:spPr>
          <a:xfrm>
            <a:off x="0" y="0"/>
            <a:ext cx="9144000" cy="6858000"/>
          </a:xfrm>
          <a:prstGeom prst="rect">
            <a:avLst/>
          </a:prstGeom>
        </p:spPr>
      </p:pic>
      <p:pic>
        <p:nvPicPr>
          <p:cNvPr id="3" name="pt:NO-mBh-kCW"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nnavN5rjKg"/>
          <p:cNvSpPr/>
          <p:nvPr/>
        </p:nvSpPr>
        <p:spPr>
          <a:xfrm>
            <a:off x="457200" y="2880360"/>
            <a:ext cx="698500" cy="50800"/>
          </a:xfrm>
          <a:prstGeom prst="roundRect">
            <a:avLst>
              <a:gd name="adj" fmla="val 50000"/>
            </a:avLst>
          </a:prstGeom>
          <a:solidFill>
            <a:srgbClr val="17BEBB"/>
          </a:solidFill>
          <a:ln/>
        </p:spPr>
      </p:sp>
      <p:sp>
        <p:nvSpPr>
          <p:cNvPr id="5" name="pt:Zwyb__d9gv"/>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Northwind: Logistics Software That Cuts Delivery Cost</a:t>
            </a:r>
            <a:endParaRPr lang="en-US" sz="4100" dirty="0"/>
          </a:p>
        </p:txBody>
      </p:sp>
      <p:sp>
        <p:nvSpPr>
          <p:cNvPr id="6" name="pt:CtF5Embtq-"/>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Eliminating delivery inefficiencies with smart route planning for modern fleets</a:t>
            </a:r>
            <a:endParaRPr lang="en-US" sz="1600" dirty="0"/>
          </a:p>
        </p:txBody>
      </p:sp>
      <p:sp>
        <p:nvSpPr>
          <p:cNvPr id="7" name="pt:N96F6LvSeQ"/>
          <p:cNvSpPr/>
          <p:nvPr/>
        </p:nvSpPr>
        <p:spPr>
          <a:xfrm>
            <a:off x="412750" y="6451600"/>
            <a:ext cx="361950" cy="361950"/>
          </a:xfrm>
          <a:prstGeom prst="roundRect">
            <a:avLst>
              <a:gd name="adj" fmla="val 12281"/>
            </a:avLst>
          </a:prstGeom>
          <a:solidFill>
            <a:srgbClr val="FFFFFF"/>
          </a:solidFill>
          <a:ln/>
        </p:spPr>
      </p:sp>
      <p:pic>
        <p:nvPicPr>
          <p:cNvPr id="8" name="pt:5XjGdsfnZP"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sp>
        <p:nvSpPr>
          <p:cNvPr id="2" name="pt:XUxoWCS5jo"/>
          <p:cNvSpPr/>
          <p:nvPr/>
        </p:nvSpPr>
        <p:spPr>
          <a:xfrm>
            <a:off x="0" y="228600"/>
            <a:ext cx="9144000" cy="12700"/>
          </a:xfrm>
          <a:prstGeom prst="rect">
            <a:avLst/>
          </a:prstGeom>
          <a:solidFill>
            <a:srgbClr val="392E2A"/>
          </a:solidFill>
          <a:ln/>
        </p:spPr>
      </p:sp>
      <p:sp>
        <p:nvSpPr>
          <p:cNvPr id="3" name="pt:FAx1T8oKBm"/>
          <p:cNvSpPr/>
          <p:nvPr/>
        </p:nvSpPr>
        <p:spPr>
          <a:xfrm>
            <a:off x="457200" y="508000"/>
            <a:ext cx="3911600" cy="952500"/>
          </a:xfrm>
          <a:prstGeom prst="rect">
            <a:avLst/>
          </a:prstGeom>
          <a:noFill/>
          <a:ln/>
        </p:spPr>
        <p:txBody>
          <a:bodyPr wrap="square" lIns="0" tIns="0" rIns="0" bIns="0" rtlCol="0" anchor="ctr"/>
          <a:lstStyle/>
          <a:p>
            <a:pPr algn="l" indent="0" marL="0">
              <a:lnSpc>
                <a:spcPct val="120000"/>
              </a:lnSpc>
              <a:buNone/>
            </a:pPr>
            <a:r>
              <a:rPr lang="en-US" sz="2700" b="1" dirty="0">
                <a:solidFill>
                  <a:srgbClr val="F8F0ED"/>
                </a:solidFill>
                <a:latin typeface="Space Grotesk" pitchFamily="34" charset="0"/>
                <a:ea typeface="Space Grotesk" pitchFamily="34" charset="-122"/>
                <a:cs typeface="Space Grotesk" pitchFamily="34" charset="-120"/>
              </a:rPr>
              <a:t>Solving the Delivery </a:t>
            </a:r>
            <a:pPr algn="l" indent="0" marL="0">
              <a:lnSpc>
                <a:spcPct val="120000"/>
              </a:lnSpc>
              <a:buNone/>
            </a:pPr>
            <a:r>
              <a:rPr lang="en-US" sz="2700" b="1" dirty="0">
                <a:solidFill>
                  <a:srgbClr val="17BEBB"/>
                </a:solidFill>
                <a:latin typeface="Space Grotesk" pitchFamily="34" charset="0"/>
                <a:ea typeface="Space Grotesk" pitchFamily="34" charset="-122"/>
                <a:cs typeface="Space Grotesk" pitchFamily="34" charset="-120"/>
              </a:rPr>
              <a:t>Efficiency Gap</a:t>
            </a:r>
            <a:endParaRPr lang="en-US" sz="2700" dirty="0"/>
          </a:p>
        </p:txBody>
      </p:sp>
      <p:sp>
        <p:nvSpPr>
          <p:cNvPr id="4" name="pt:YMwdqBfkB5"/>
          <p:cNvSpPr/>
          <p:nvPr/>
        </p:nvSpPr>
        <p:spPr>
          <a:xfrm>
            <a:off x="457200" y="1587500"/>
            <a:ext cx="3911600" cy="481330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600" dirty="0">
                <a:solidFill>
                  <a:srgbClr val="F8F0ED"/>
                </a:solidFill>
                <a:latin typeface="Inter" pitchFamily="34" charset="0"/>
                <a:ea typeface="Inter" pitchFamily="34" charset="-122"/>
                <a:cs typeface="Inter" pitchFamily="34" charset="-120"/>
              </a:rPr>
              <a:t>23% of delivery spend is wasted on empty miles and failed first attempts</a:t>
            </a:r>
            <a:endParaRPr lang="en-US" sz="1600" dirty="0"/>
          </a:p>
          <a:p>
            <a:pPr algn="l" marL="342900" indent="-342900">
              <a:lnSpc>
                <a:spcPct val="120000"/>
              </a:lnSpc>
              <a:spcAft>
                <a:spcPts val="800"/>
              </a:spcAft>
              <a:buSzPct val="100000"/>
              <a:buChar char="•"/>
            </a:pPr>
            <a:r>
              <a:rPr lang="en-US" sz="1600" dirty="0">
                <a:solidFill>
                  <a:srgbClr val="F8F0ED"/>
                </a:solidFill>
                <a:latin typeface="Inter" pitchFamily="34" charset="0"/>
                <a:ea typeface="Inter" pitchFamily="34" charset="-122"/>
                <a:cs typeface="Inter" pitchFamily="34" charset="-120"/>
              </a:rPr>
              <a:t>Automatic route planning generates optimised paths in under a minute</a:t>
            </a:r>
            <a:endParaRPr lang="en-US" sz="1600" dirty="0"/>
          </a:p>
          <a:p>
            <a:pPr algn="l" marL="342900" indent="-342900">
              <a:lnSpc>
                <a:spcPct val="120000"/>
              </a:lnSpc>
              <a:spcAft>
                <a:spcPts val="800"/>
              </a:spcAft>
              <a:buSzPct val="100000"/>
              <a:buChar char="•"/>
            </a:pPr>
            <a:r>
              <a:rPr lang="en-US" sz="1600" dirty="0">
                <a:solidFill>
                  <a:srgbClr val="F8F0ED"/>
                </a:solidFill>
                <a:latin typeface="Inter" pitchFamily="34" charset="0"/>
                <a:ea typeface="Inter" pitchFamily="34" charset="-122"/>
                <a:cs typeface="Inter" pitchFamily="34" charset="-120"/>
              </a:rPr>
              <a:t>Live delivery windows provide accurate arrival estimates customers can trust</a:t>
            </a:r>
            <a:endParaRPr lang="en-US" sz="1600" dirty="0"/>
          </a:p>
          <a:p>
            <a:pPr algn="l" marL="342900" indent="-342900">
              <a:lnSpc>
                <a:spcPct val="120000"/>
              </a:lnSpc>
              <a:buSzPct val="100000"/>
              <a:buChar char="•"/>
            </a:pPr>
            <a:r>
              <a:rPr lang="en-US" sz="1600" dirty="0">
                <a:solidFill>
                  <a:srgbClr val="F8F0ED"/>
                </a:solidFill>
                <a:latin typeface="Inter" pitchFamily="34" charset="0"/>
                <a:ea typeface="Inter" pitchFamily="34" charset="-122"/>
                <a:cs typeface="Inter" pitchFamily="34" charset="-120"/>
              </a:rPr>
              <a:t>Seamless integration works directly with fleets' existing vans and mobile phones</a:t>
            </a:r>
            <a:endParaRPr lang="en-US" sz="1600" dirty="0"/>
          </a:p>
        </p:txBody>
      </p:sp>
      <p:pic>
        <p:nvPicPr>
          <p:cNvPr id="5" name="pt:tgkoB5g95K" descr="Delivery driver reviewing route plan on a smartphone mounted inside a van">    </p:cNvPr>
          <p:cNvPicPr>
            <a:picLocks noChangeAspect="1"/>
          </p:cNvPicPr>
          <p:nvPr/>
        </p:nvPicPr>
        <p:blipFill>
          <a:blip r:embed="rId1"/>
          <a:srcRect l="0" r="0" t="0" b="0"/>
          <a:stretch/>
        </p:blipFill>
        <p:spPr>
          <a:xfrm>
            <a:off x="4775200" y="457200"/>
            <a:ext cx="3911600" cy="5943600"/>
          </a:xfrm>
          <a:prstGeom prst="rect">
            <a:avLst/>
          </a:prstGeom>
        </p:spPr>
      </p:pic>
      <p:sp>
        <p:nvSpPr>
          <p:cNvPr id="6" name="pt:zZM0QAFpfA"/>
          <p:cNvSpPr/>
          <p:nvPr/>
        </p:nvSpPr>
        <p:spPr>
          <a:xfrm>
            <a:off x="412750" y="6451600"/>
            <a:ext cx="361950" cy="361950"/>
          </a:xfrm>
          <a:prstGeom prst="roundRect">
            <a:avLst>
              <a:gd name="adj" fmla="val 12281"/>
            </a:avLst>
          </a:prstGeom>
          <a:solidFill>
            <a:srgbClr val="FFFFFF"/>
          </a:solidFill>
          <a:ln/>
        </p:spPr>
      </p:sp>
      <p:pic>
        <p:nvPicPr>
          <p:cNvPr id="7" name="pt:HCgpeqv-CI"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grpId="0" nodeType="withEffect">
                                  <p:stCondLst>
                                    <p:cond delay="1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450"/>
                                        <p:tgtEl>
                                          <p:spTgt spid="4">
                                            <p:txEl>
                                              <p:pRg st="0" end="0"/>
                                            </p:txEl>
                                          </p:spTgt>
                                        </p:tgtEl>
                                      </p:cBhvr>
                                    </p:animEffect>
                                    <p:animScale>
                                      <p:cBhvr>
                                        <p:cTn id="11" dur="450" fill="hold"/>
                                        <p:tgtEl>
                                          <p:spTgt spid="4">
                                            <p:txEl>
                                              <p:pRg st="0" end="0"/>
                                            </p:txEl>
                                          </p:spTgt>
                                        </p:tgtEl>
                                      </p:cBhvr>
                                      <p:from x="88000" y="88000"/>
                                      <p:to x="100000" y="100000"/>
                                    </p:animScale>
                                  </p:childTnLst>
                                </p:cTn>
                              </p:par>
                              <p:par>
                                <p:cTn id="16" presetID="53" presetClass="entr" presetSubtype="16" fill="hold" decel="100000" grpId="0" nodeType="withEffect">
                                  <p:stCondLst>
                                    <p:cond delay="18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450"/>
                                        <p:tgtEl>
                                          <p:spTgt spid="4">
                                            <p:txEl>
                                              <p:pRg st="1" end="1"/>
                                            </p:txEl>
                                          </p:spTgt>
                                        </p:tgtEl>
                                      </p:cBhvr>
                                    </p:animEffect>
                                    <p:animScale>
                                      <p:cBhvr>
                                        <p:cTn id="15" dur="450" fill="hold"/>
                                        <p:tgtEl>
                                          <p:spTgt spid="4">
                                            <p:txEl>
                                              <p:pRg st="1" end="1"/>
                                            </p:txEl>
                                          </p:spTgt>
                                        </p:tgtEl>
                                      </p:cBhvr>
                                      <p:from x="88000" y="88000"/>
                                      <p:to x="100000" y="100000"/>
                                    </p:animScale>
                                  </p:childTnLst>
                                </p:cTn>
                              </p:par>
                              <p:par>
                                <p:cTn id="20" presetID="53" presetClass="entr" presetSubtype="16" fill="hold" decel="100000" grpId="0" nodeType="withEffect">
                                  <p:stCondLst>
                                    <p:cond delay="26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450"/>
                                        <p:tgtEl>
                                          <p:spTgt spid="4">
                                            <p:txEl>
                                              <p:pRg st="2" end="2"/>
                                            </p:txEl>
                                          </p:spTgt>
                                        </p:tgtEl>
                                      </p:cBhvr>
                                    </p:animEffect>
                                    <p:animScale>
                                      <p:cBhvr>
                                        <p:cTn id="19" dur="450" fill="hold"/>
                                        <p:tgtEl>
                                          <p:spTgt spid="4">
                                            <p:txEl>
                                              <p:pRg st="2" end="2"/>
                                            </p:txEl>
                                          </p:spTgt>
                                        </p:tgtEl>
                                      </p:cBhvr>
                                      <p:from x="88000" y="88000"/>
                                      <p:to x="100000" y="100000"/>
                                    </p:animScale>
                                  </p:childTnLst>
                                </p:cTn>
                              </p:par>
                              <p:par>
                                <p:cTn id="24" presetID="53" presetClass="entr" presetSubtype="16" fill="hold" decel="100000" grpId="0" nodeType="withEffect">
                                  <p:stCondLst>
                                    <p:cond delay="34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450"/>
                                        <p:tgtEl>
                                          <p:spTgt spid="4">
                                            <p:txEl>
                                              <p:pRg st="3" end="3"/>
                                            </p:txEl>
                                          </p:spTgt>
                                        </p:tgtEl>
                                      </p:cBhvr>
                                    </p:animEffect>
                                    <p:animScale>
                                      <p:cBhvr>
                                        <p:cTn id="23" dur="450" fill="hold"/>
                                        <p:tgtEl>
                                          <p:spTgt spid="4">
                                            <p:txEl>
                                              <p:pRg st="3" end="3"/>
                                            </p:txEl>
                                          </p:spTgt>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DS4p5P52b3"/>
          <p:cNvSpPr/>
          <p:nvPr/>
        </p:nvSpPr>
        <p:spPr>
          <a:xfrm>
            <a:off x="0" y="228600"/>
            <a:ext cx="9144000" cy="12700"/>
          </a:xfrm>
          <a:prstGeom prst="rect">
            <a:avLst/>
          </a:prstGeom>
          <a:solidFill>
            <a:srgbClr val="392E2A"/>
          </a:solidFill>
          <a:ln/>
        </p:spPr>
      </p:sp>
      <p:sp>
        <p:nvSpPr>
          <p:cNvPr id="3" name="pt:mM3Lm1SgN5"/>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3000" b="1" dirty="0">
                <a:solidFill>
                  <a:srgbClr val="F8F0ED"/>
                </a:solidFill>
                <a:latin typeface="Space Grotesk" pitchFamily="34" charset="0"/>
                <a:ea typeface="Space Grotesk" pitchFamily="34" charset="-122"/>
                <a:cs typeface="Space Grotesk" pitchFamily="34" charset="-120"/>
              </a:rPr>
              <a:t>How Northwind Works for </a:t>
            </a:r>
            <a:pPr algn="l" indent="0" marL="0">
              <a:lnSpc>
                <a:spcPct val="120000"/>
              </a:lnSpc>
              <a:buNone/>
            </a:pPr>
            <a:r>
              <a:rPr lang="en-US" sz="3000" b="1" dirty="0">
                <a:solidFill>
                  <a:srgbClr val="17BEBB"/>
                </a:solidFill>
                <a:latin typeface="Space Grotesk" pitchFamily="34" charset="0"/>
                <a:ea typeface="Space Grotesk" pitchFamily="34" charset="-122"/>
                <a:cs typeface="Space Grotesk" pitchFamily="34" charset="-120"/>
              </a:rPr>
              <a:t>Your Fleet</a:t>
            </a:r>
            <a:endParaRPr lang="en-US" sz="3000" dirty="0"/>
          </a:p>
        </p:txBody>
      </p:sp>
      <p:sp>
        <p:nvSpPr>
          <p:cNvPr id="4" name="pt:rpKyjxoCrz"/>
          <p:cNvSpPr/>
          <p:nvPr/>
        </p:nvSpPr>
        <p:spPr>
          <a:xfrm>
            <a:off x="520700" y="1663700"/>
            <a:ext cx="1905000" cy="3302000"/>
          </a:xfrm>
          <a:prstGeom prst="roundRect">
            <a:avLst>
              <a:gd name="adj" fmla="val 5333"/>
            </a:avLst>
          </a:prstGeom>
          <a:solidFill>
            <a:srgbClr val="F8F0ED">
              <a:alpha val="12000"/>
            </a:srgbClr>
          </a:solidFill>
          <a:ln/>
        </p:spPr>
      </p:sp>
      <p:sp>
        <p:nvSpPr>
          <p:cNvPr id="5" name="pt:u1eA6XgJwy"/>
          <p:cNvSpPr/>
          <p:nvPr/>
        </p:nvSpPr>
        <p:spPr>
          <a:xfrm>
            <a:off x="457200" y="1587500"/>
            <a:ext cx="1905000" cy="3302000"/>
          </a:xfrm>
          <a:prstGeom prst="roundRect">
            <a:avLst>
              <a:gd name="adj" fmla="val 5333"/>
            </a:avLst>
          </a:prstGeom>
          <a:solidFill>
            <a:srgbClr val="1B0F0B"/>
          </a:solidFill>
          <a:ln w="12700">
            <a:solidFill>
              <a:srgbClr val="392E2A"/>
            </a:solidFill>
            <a:prstDash val="solid"/>
          </a:ln>
        </p:spPr>
      </p:sp>
      <p:sp>
        <p:nvSpPr>
          <p:cNvPr id="6" name="pt:6OVVODiZ1v"/>
          <p:cNvSpPr/>
          <p:nvPr/>
        </p:nvSpPr>
        <p:spPr>
          <a:xfrm>
            <a:off x="6350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01</a:t>
            </a:r>
            <a:endParaRPr lang="en-US" sz="2800" dirty="0"/>
          </a:p>
        </p:txBody>
      </p:sp>
      <p:sp>
        <p:nvSpPr>
          <p:cNvPr id="7" name="pt:A3z_al9zLJ"/>
          <p:cNvSpPr/>
          <p:nvPr/>
        </p:nvSpPr>
        <p:spPr>
          <a:xfrm>
            <a:off x="6350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Import</a:t>
            </a:r>
            <a:endParaRPr lang="en-US" sz="1700" dirty="0"/>
          </a:p>
        </p:txBody>
      </p:sp>
      <p:sp>
        <p:nvSpPr>
          <p:cNvPr id="8" name="pt:8b4U9Ivj0B"/>
          <p:cNvSpPr/>
          <p:nvPr/>
        </p:nvSpPr>
        <p:spPr>
          <a:xfrm>
            <a:off x="6350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Upload the day's orders or sync your system</a:t>
            </a:r>
            <a:endParaRPr lang="en-US" sz="1300" dirty="0"/>
          </a:p>
        </p:txBody>
      </p:sp>
      <p:sp>
        <p:nvSpPr>
          <p:cNvPr id="9" name="pt:Csr5-IFUDH"/>
          <p:cNvSpPr/>
          <p:nvPr/>
        </p:nvSpPr>
        <p:spPr>
          <a:xfrm>
            <a:off x="2628900" y="1663700"/>
            <a:ext cx="1905000" cy="3302000"/>
          </a:xfrm>
          <a:prstGeom prst="roundRect">
            <a:avLst>
              <a:gd name="adj" fmla="val 5333"/>
            </a:avLst>
          </a:prstGeom>
          <a:solidFill>
            <a:srgbClr val="F8F0ED">
              <a:alpha val="12000"/>
            </a:srgbClr>
          </a:solidFill>
          <a:ln/>
        </p:spPr>
      </p:sp>
      <p:sp>
        <p:nvSpPr>
          <p:cNvPr id="10" name="pt:bMhpxhIcBQ"/>
          <p:cNvSpPr/>
          <p:nvPr/>
        </p:nvSpPr>
        <p:spPr>
          <a:xfrm>
            <a:off x="2565400" y="1587500"/>
            <a:ext cx="1905000" cy="3302000"/>
          </a:xfrm>
          <a:prstGeom prst="roundRect">
            <a:avLst>
              <a:gd name="adj" fmla="val 5333"/>
            </a:avLst>
          </a:prstGeom>
          <a:solidFill>
            <a:srgbClr val="1B0F0B"/>
          </a:solidFill>
          <a:ln w="12700">
            <a:solidFill>
              <a:srgbClr val="392E2A"/>
            </a:solidFill>
            <a:prstDash val="solid"/>
          </a:ln>
        </p:spPr>
      </p:sp>
      <p:sp>
        <p:nvSpPr>
          <p:cNvPr id="11" name="pt:jAoF_P9vN2"/>
          <p:cNvSpPr/>
          <p:nvPr/>
        </p:nvSpPr>
        <p:spPr>
          <a:xfrm>
            <a:off x="27432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02</a:t>
            </a:r>
            <a:endParaRPr lang="en-US" sz="2800" dirty="0"/>
          </a:p>
        </p:txBody>
      </p:sp>
      <p:sp>
        <p:nvSpPr>
          <p:cNvPr id="12" name="pt:5FmRRNxGV0"/>
          <p:cNvSpPr/>
          <p:nvPr/>
        </p:nvSpPr>
        <p:spPr>
          <a:xfrm>
            <a:off x="27432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Plan</a:t>
            </a:r>
            <a:endParaRPr lang="en-US" sz="1700" dirty="0"/>
          </a:p>
        </p:txBody>
      </p:sp>
      <p:sp>
        <p:nvSpPr>
          <p:cNvPr id="13" name="pt:J0Lec6uZxa"/>
          <p:cNvSpPr/>
          <p:nvPr/>
        </p:nvSpPr>
        <p:spPr>
          <a:xfrm>
            <a:off x="27432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Routes are optimised for time, cost and capacity</a:t>
            </a:r>
            <a:endParaRPr lang="en-US" sz="1300" dirty="0"/>
          </a:p>
        </p:txBody>
      </p:sp>
      <p:sp>
        <p:nvSpPr>
          <p:cNvPr id="14" name="pt:3qbxeshB0Z"/>
          <p:cNvSpPr/>
          <p:nvPr/>
        </p:nvSpPr>
        <p:spPr>
          <a:xfrm>
            <a:off x="4737100" y="1663700"/>
            <a:ext cx="1905000" cy="3302000"/>
          </a:xfrm>
          <a:prstGeom prst="roundRect">
            <a:avLst>
              <a:gd name="adj" fmla="val 5333"/>
            </a:avLst>
          </a:prstGeom>
          <a:solidFill>
            <a:srgbClr val="F8F0ED">
              <a:alpha val="12000"/>
            </a:srgbClr>
          </a:solidFill>
          <a:ln/>
        </p:spPr>
      </p:sp>
      <p:sp>
        <p:nvSpPr>
          <p:cNvPr id="15" name="pt:zITLCYROff"/>
          <p:cNvSpPr/>
          <p:nvPr/>
        </p:nvSpPr>
        <p:spPr>
          <a:xfrm>
            <a:off x="4673600" y="1587500"/>
            <a:ext cx="1905000" cy="3302000"/>
          </a:xfrm>
          <a:prstGeom prst="roundRect">
            <a:avLst>
              <a:gd name="adj" fmla="val 5333"/>
            </a:avLst>
          </a:prstGeom>
          <a:solidFill>
            <a:srgbClr val="1B0F0B"/>
          </a:solidFill>
          <a:ln w="12700">
            <a:solidFill>
              <a:srgbClr val="392E2A"/>
            </a:solidFill>
            <a:prstDash val="solid"/>
          </a:ln>
        </p:spPr>
      </p:sp>
      <p:sp>
        <p:nvSpPr>
          <p:cNvPr id="16" name="pt:y9nKX7B1rH"/>
          <p:cNvSpPr/>
          <p:nvPr/>
        </p:nvSpPr>
        <p:spPr>
          <a:xfrm>
            <a:off x="48514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03</a:t>
            </a:r>
            <a:endParaRPr lang="en-US" sz="2800" dirty="0"/>
          </a:p>
        </p:txBody>
      </p:sp>
      <p:sp>
        <p:nvSpPr>
          <p:cNvPr id="17" name="pt:I_C8EoYvKJ"/>
          <p:cNvSpPr/>
          <p:nvPr/>
        </p:nvSpPr>
        <p:spPr>
          <a:xfrm>
            <a:off x="48514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Deliver</a:t>
            </a:r>
            <a:endParaRPr lang="en-US" sz="1700" dirty="0"/>
          </a:p>
        </p:txBody>
      </p:sp>
      <p:sp>
        <p:nvSpPr>
          <p:cNvPr id="18" name="pt:AsWSIB33_w"/>
          <p:cNvSpPr/>
          <p:nvPr/>
        </p:nvSpPr>
        <p:spPr>
          <a:xfrm>
            <a:off x="48514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Drivers follow turn-by-turn routes in the app</a:t>
            </a:r>
            <a:endParaRPr lang="en-US" sz="1300" dirty="0"/>
          </a:p>
        </p:txBody>
      </p:sp>
      <p:sp>
        <p:nvSpPr>
          <p:cNvPr id="19" name="pt:60iboGnO0w"/>
          <p:cNvSpPr/>
          <p:nvPr/>
        </p:nvSpPr>
        <p:spPr>
          <a:xfrm>
            <a:off x="6845300" y="1663700"/>
            <a:ext cx="1905000" cy="3302000"/>
          </a:xfrm>
          <a:prstGeom prst="roundRect">
            <a:avLst>
              <a:gd name="adj" fmla="val 5333"/>
            </a:avLst>
          </a:prstGeom>
          <a:solidFill>
            <a:srgbClr val="F8F0ED">
              <a:alpha val="12000"/>
            </a:srgbClr>
          </a:solidFill>
          <a:ln/>
        </p:spPr>
      </p:sp>
      <p:sp>
        <p:nvSpPr>
          <p:cNvPr id="20" name="pt:XX_7-um7Xe"/>
          <p:cNvSpPr/>
          <p:nvPr/>
        </p:nvSpPr>
        <p:spPr>
          <a:xfrm>
            <a:off x="6781800" y="1587500"/>
            <a:ext cx="1905000" cy="3302000"/>
          </a:xfrm>
          <a:prstGeom prst="roundRect">
            <a:avLst>
              <a:gd name="adj" fmla="val 5333"/>
            </a:avLst>
          </a:prstGeom>
          <a:solidFill>
            <a:srgbClr val="1B0F0B"/>
          </a:solidFill>
          <a:ln w="12700">
            <a:solidFill>
              <a:srgbClr val="392E2A"/>
            </a:solidFill>
            <a:prstDash val="solid"/>
          </a:ln>
        </p:spPr>
      </p:sp>
      <p:sp>
        <p:nvSpPr>
          <p:cNvPr id="21" name="pt:WcSSMEM8Bu"/>
          <p:cNvSpPr/>
          <p:nvPr/>
        </p:nvSpPr>
        <p:spPr>
          <a:xfrm>
            <a:off x="69596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04</a:t>
            </a:r>
            <a:endParaRPr lang="en-US" sz="2800" dirty="0"/>
          </a:p>
        </p:txBody>
      </p:sp>
      <p:sp>
        <p:nvSpPr>
          <p:cNvPr id="22" name="pt:G37J8DTZ9p"/>
          <p:cNvSpPr/>
          <p:nvPr/>
        </p:nvSpPr>
        <p:spPr>
          <a:xfrm>
            <a:off x="69596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Notify</a:t>
            </a:r>
            <a:endParaRPr lang="en-US" sz="1700" dirty="0"/>
          </a:p>
        </p:txBody>
      </p:sp>
      <p:sp>
        <p:nvSpPr>
          <p:cNvPr id="23" name="pt:NELnJHRXOM"/>
          <p:cNvSpPr/>
          <p:nvPr/>
        </p:nvSpPr>
        <p:spPr>
          <a:xfrm>
            <a:off x="69596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Customers get live windows and proof of delivery</a:t>
            </a:r>
            <a:endParaRPr lang="en-US" sz="1300" dirty="0"/>
          </a:p>
        </p:txBody>
      </p:sp>
      <p:sp>
        <p:nvSpPr>
          <p:cNvPr id="24" name="pt:bVHyo40nyr"/>
          <p:cNvSpPr/>
          <p:nvPr/>
        </p:nvSpPr>
        <p:spPr>
          <a:xfrm>
            <a:off x="412750" y="6451600"/>
            <a:ext cx="361950" cy="361950"/>
          </a:xfrm>
          <a:prstGeom prst="roundRect">
            <a:avLst>
              <a:gd name="adj" fmla="val 12281"/>
            </a:avLst>
          </a:prstGeom>
          <a:solidFill>
            <a:srgbClr val="FFFFFF"/>
          </a:solidFill>
          <a:ln/>
        </p:spPr>
      </p:sp>
      <p:pic>
        <p:nvPicPr>
          <p:cNvPr id="25" name="pt:IorNmEIJP4"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8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88000" y="88000"/>
                                      <p:to x="100000" y="100000"/>
                                    </p:animScale>
                                  </p:childTnLst>
                                </p:cTn>
                              </p:par>
                              <p:par>
                                <p:cTn id="16" presetID="53" presetClass="entr" presetSubtype="16" fill="hold" decel="100000" nodeType="withEffect">
                                  <p:stCondLst>
                                    <p:cond delay="175"/>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Scale>
                                      <p:cBhvr>
                                        <p:cTn id="15" dur="450" fill="hold"/>
                                        <p:tgtEl>
                                          <p:spTgt spid="7"/>
                                        </p:tgtEl>
                                      </p:cBhvr>
                                      <p:from x="88000" y="88000"/>
                                      <p:to x="100000" y="100000"/>
                                    </p:animScale>
                                  </p:childTnLst>
                                </p:cTn>
                              </p:par>
                              <p:par>
                                <p:cTn id="20" presetID="53" presetClass="entr" presetSubtype="16" fill="hold" decel="100000" nodeType="withEffect">
                                  <p:stCondLst>
                                    <p:cond delay="263"/>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animScale>
                                      <p:cBhvr>
                                        <p:cTn id="19" dur="450" fill="hold"/>
                                        <p:tgtEl>
                                          <p:spTgt spid="10"/>
                                        </p:tgtEl>
                                      </p:cBhvr>
                                      <p:from x="88000" y="88000"/>
                                      <p:to x="100000" y="100000"/>
                                    </p:animScale>
                                  </p:childTnLst>
                                </p:cTn>
                              </p:par>
                              <p:par>
                                <p:cTn id="24" presetID="53" presetClass="entr" presetSubtype="16" fill="hold" decel="100000" nodeType="withEffect">
                                  <p:stCondLst>
                                    <p:cond delay="3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animScale>
                                      <p:cBhvr>
                                        <p:cTn id="23" dur="450" fill="hold"/>
                                        <p:tgtEl>
                                          <p:spTgt spid="12"/>
                                        </p:tgtEl>
                                      </p:cBhvr>
                                      <p:from x="88000" y="88000"/>
                                      <p:to x="100000" y="100000"/>
                                    </p:animScale>
                                  </p:childTnLst>
                                </p:cTn>
                              </p:par>
                              <p:par>
                                <p:cTn id="28" presetID="53" presetClass="entr" presetSubtype="16" fill="hold" decel="100000" nodeType="withEffect">
                                  <p:stCondLst>
                                    <p:cond delay="438"/>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animScale>
                                      <p:cBhvr>
                                        <p:cTn id="27" dur="450" fill="hold"/>
                                        <p:tgtEl>
                                          <p:spTgt spid="15"/>
                                        </p:tgtEl>
                                      </p:cBhvr>
                                      <p:from x="88000" y="88000"/>
                                      <p:to x="100000" y="100000"/>
                                    </p:animScale>
                                  </p:childTnLst>
                                </p:cTn>
                              </p:par>
                              <p:par>
                                <p:cTn id="32" presetID="53" presetClass="entr" presetSubtype="16" fill="hold" decel="100000" nodeType="withEffect">
                                  <p:stCondLst>
                                    <p:cond delay="525"/>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animScale>
                                      <p:cBhvr>
                                        <p:cTn id="31" dur="450" fill="hold"/>
                                        <p:tgtEl>
                                          <p:spTgt spid="17"/>
                                        </p:tgtEl>
                                      </p:cBhvr>
                                      <p:from x="88000" y="88000"/>
                                      <p:to x="100000" y="100000"/>
                                    </p:animScale>
                                  </p:childTnLst>
                                </p:cTn>
                              </p:par>
                              <p:par>
                                <p:cTn id="36" presetID="53" presetClass="entr" presetSubtype="16" fill="hold" decel="100000" nodeType="withEffect">
                                  <p:stCondLst>
                                    <p:cond delay="613"/>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animScale>
                                      <p:cBhvr>
                                        <p:cTn id="35" dur="450" fill="hold"/>
                                        <p:tgtEl>
                                          <p:spTgt spid="20"/>
                                        </p:tgtEl>
                                      </p:cBhvr>
                                      <p:from x="88000" y="88000"/>
                                      <p:to x="100000" y="100000"/>
                                    </p:animScale>
                                  </p:childTnLst>
                                </p:cTn>
                              </p:par>
                              <p:par>
                                <p:cTn id="40" presetID="53" presetClass="entr" presetSubtype="16" fill="hold" decel="100000" nodeType="withEffect">
                                  <p:stCondLst>
                                    <p:cond delay="7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animScale>
                                      <p:cBhvr>
                                        <p:cTn id="39" dur="450" fill="hold"/>
                                        <p:tgtEl>
                                          <p:spTgt spid="22"/>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0C09"/>
        </a:solidFill>
      </p:bgPr>
    </p:bg>
    <p:spTree>
      <p:nvGrpSpPr>
        <p:cNvPr id="1" name=""/>
        <p:cNvGrpSpPr/>
        <p:nvPr/>
      </p:nvGrpSpPr>
      <p:grpSpPr>
        <a:xfrm>
          <a:off x="0" y="0"/>
          <a:ext cx="0" cy="0"/>
          <a:chOff x="0" y="0"/>
          <a:chExt cx="0" cy="0"/>
        </a:xfrm>
      </p:grpSpPr>
      <p:pic>
        <p:nvPicPr>
          <p:cNvPr id="2" name="pt:_Tnj8QZXHf" descr="Teacher helping a student with a tablet in a bright classroom">    </p:cNvPr>
          <p:cNvPicPr>
            <a:picLocks noChangeAspect="1"/>
          </p:cNvPicPr>
          <p:nvPr/>
        </p:nvPicPr>
        <p:blipFill>
          <a:blip r:embed="rId1"/>
          <a:srcRect l="0" r="0" t="0" b="0"/>
          <a:stretch/>
        </p:blipFill>
        <p:spPr>
          <a:xfrm>
            <a:off x="0" y="0"/>
            <a:ext cx="9144000" cy="6858000"/>
          </a:xfrm>
          <a:prstGeom prst="rect">
            <a:avLst/>
          </a:prstGeom>
        </p:spPr>
      </p:pic>
      <p:pic>
        <p:nvPicPr>
          <p:cNvPr id="3" name="pt:_Tnj8QZXHf"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GF4Bja28EJ"/>
          <p:cNvSpPr/>
          <p:nvPr/>
        </p:nvSpPr>
        <p:spPr>
          <a:xfrm>
            <a:off x="457200" y="2880360"/>
            <a:ext cx="698500" cy="50800"/>
          </a:xfrm>
          <a:prstGeom prst="roundRect">
            <a:avLst>
              <a:gd name="adj" fmla="val 50000"/>
            </a:avLst>
          </a:prstGeom>
          <a:solidFill>
            <a:srgbClr val="17BEBB"/>
          </a:solidFill>
          <a:ln/>
        </p:spPr>
      </p:sp>
      <p:sp>
        <p:nvSpPr>
          <p:cNvPr id="5" name="pt:vUgI0cGSLE"/>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Why Fleets Choose Northwind</a:t>
            </a:r>
            <a:endParaRPr lang="en-US" sz="3600" dirty="0"/>
          </a:p>
        </p:txBody>
      </p:sp>
      <p:sp>
        <p:nvSpPr>
          <p:cNvPr id="6" name="pt:qv5XjJMHwp"/>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Built for fleets of 5 to 200 · Live in an afternoon · 98% customer retention</a:t>
            </a:r>
            <a:endParaRPr lang="en-US" sz="1600" dirty="0"/>
          </a:p>
        </p:txBody>
      </p:sp>
      <p:sp>
        <p:nvSpPr>
          <p:cNvPr id="7" name="pt:xsf2zdkFNK"/>
          <p:cNvSpPr/>
          <p:nvPr/>
        </p:nvSpPr>
        <p:spPr>
          <a:xfrm>
            <a:off x="412750" y="6451600"/>
            <a:ext cx="361950" cy="361950"/>
          </a:xfrm>
          <a:prstGeom prst="roundRect">
            <a:avLst>
              <a:gd name="adj" fmla="val 12281"/>
            </a:avLst>
          </a:prstGeom>
          <a:solidFill>
            <a:srgbClr val="FFFFFF"/>
          </a:solidFill>
          <a:ln/>
        </p:spPr>
      </p:sp>
      <p:pic>
        <p:nvPicPr>
          <p:cNvPr id="8" name="pt:WA3DFxMhDY"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Remix edited 96644</dc:title>
  <dc:subject>PptxGenJS Presentation</dc:subject>
  <dc:creator>PptxGenJS</dc:creator>
  <cp:lastModifiedBy>PptxGenJS</cp:lastModifiedBy>
  <cp:revision>1</cp:revision>
  <dcterms:created xsi:type="dcterms:W3CDTF">2026-10-10T05:05:02Z</dcterms:created>
  <dcterms:modified xsi:type="dcterms:W3CDTF">2026-10-10T05:05:02Z</dcterms:modified>
</cp:coreProperties>
</file>