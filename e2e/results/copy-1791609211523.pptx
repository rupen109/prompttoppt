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Northwind, our logistics software platform purpose-built to eliminate fleet waste and reduce delivery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fleets face significant inefficiencies in daily delivery operations. Wasted spend stems from manual route planning and unreliable delivery windows. Existing enterprise tools fail to address the needs of fleets with under 200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value proposition centres on speed, reliability, and ease of adoption. By automating route planning in under a minute, we eliminate manual scheduling overhead. Drivers use the hardware they already own, while customers receive dependable live delivery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taking the time to review Northwind. Our straightforward process lets you import orders instantly, optimize routes for cost and capacity, support drivers in real time, and keep your end customers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16"/>
        </a:solidFill>
      </p:bgPr>
    </p:bg>
    <p:spTree>
      <p:nvGrpSpPr>
        <p:cNvPr id="1" name=""/>
        <p:cNvGrpSpPr/>
        <p:nvPr/>
      </p:nvGrpSpPr>
      <p:grpSpPr>
        <a:xfrm>
          <a:off x="0" y="0"/>
          <a:ext cx="0" cy="0"/>
          <a:chOff x="0" y="0"/>
          <a:chExt cx="0" cy="0"/>
        </a:xfrm>
      </p:grpSpPr>
      <p:pic>
        <p:nvPicPr>
          <p:cNvPr id="2" name="pt:1874db65-e894-42dd-aa56-e113eb059749" descr="Graffiti-covered white van parked on a tree-lined city street">    </p:cNvPr>
          <p:cNvPicPr>
            <a:picLocks noChangeAspect="1"/>
          </p:cNvPicPr>
          <p:nvPr/>
        </p:nvPicPr>
        <p:blipFill>
          <a:blip r:embed="rId1"/>
          <a:srcRect l="0" r="0" t="0" b="0"/>
          <a:stretch/>
        </p:blipFill>
        <p:spPr>
          <a:xfrm>
            <a:off x="0" y="0"/>
            <a:ext cx="9144000" cy="6858000"/>
          </a:xfrm>
          <a:prstGeom prst="rect">
            <a:avLst/>
          </a:prstGeom>
        </p:spPr>
      </p:pic>
      <p:pic>
        <p:nvPicPr>
          <p:cNvPr id="3" name="pt:1874db65-e894-42dd-aa56-e113eb059749"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e010679e-dfc1-4fdc-b011-8c951ad87a15"/>
          <p:cNvSpPr/>
          <p:nvPr/>
        </p:nvSpPr>
        <p:spPr>
          <a:xfrm>
            <a:off x="457200" y="2880360"/>
            <a:ext cx="698500" cy="50800"/>
          </a:xfrm>
          <a:prstGeom prst="roundRect">
            <a:avLst>
              <a:gd name="adj" fmla="val 50000"/>
            </a:avLst>
          </a:prstGeom>
          <a:solidFill>
            <a:srgbClr val="22D3EE"/>
          </a:solidFill>
          <a:ln/>
        </p:spPr>
      </p:sp>
      <p:sp>
        <p:nvSpPr>
          <p:cNvPr id="5" name="pt:732a30c1-fd64-4f1d-b65d-a17cc9e41a54"/>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1157e45f-e34d-42fb-8b79-9b961d734d1e"/>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Tailored route planning and fleet management for modern delivery operations</a:t>
            </a:r>
            <a:endParaRPr lang="en-US" sz="1600" dirty="0"/>
          </a:p>
        </p:txBody>
      </p:sp>
      <p:sp>
        <p:nvSpPr>
          <p:cNvPr id="7" name="pt:6a6c6932-4768-4194-832e-d9f82e2fa849"/>
          <p:cNvSpPr/>
          <p:nvPr/>
        </p:nvSpPr>
        <p:spPr>
          <a:xfrm>
            <a:off x="412750" y="6451600"/>
            <a:ext cx="361950" cy="361950"/>
          </a:xfrm>
          <a:prstGeom prst="roundRect">
            <a:avLst>
              <a:gd name="adj" fmla="val 12281"/>
            </a:avLst>
          </a:prstGeom>
          <a:solidFill>
            <a:srgbClr val="FFFFFF"/>
          </a:solidFill>
          <a:ln/>
        </p:spPr>
      </p:sp>
      <p:pic>
        <p:nvPicPr>
          <p:cNvPr id="8" name="pt:1fa91758-1137-4ec2-aa52-7dfe42108c0c"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B"/>
        </a:solidFill>
      </p:bgPr>
    </p:bg>
    <p:spTree>
      <p:nvGrpSpPr>
        <p:cNvPr id="1" name=""/>
        <p:cNvGrpSpPr/>
        <p:nvPr/>
      </p:nvGrpSpPr>
      <p:grpSpPr>
        <a:xfrm>
          <a:off x="0" y="0"/>
          <a:ext cx="0" cy="0"/>
          <a:chOff x="0" y="0"/>
          <a:chExt cx="0" cy="0"/>
        </a:xfrm>
      </p:grpSpPr>
      <p:pic>
        <p:nvPicPr>
          <p:cNvPr id="2" name="pt:ae12fd15-203e-4ff6-835c-d890d3b6fc0f" descr="sales presentation photo">    </p:cNvPr>
          <p:cNvPicPr>
            <a:picLocks noChangeAspect="1"/>
          </p:cNvPicPr>
          <p:nvPr/>
        </p:nvPicPr>
        <p:blipFill>
          <a:blip r:embed="rId1"/>
          <a:srcRect l="0" r="0" t="0" b="0"/>
          <a:stretch/>
        </p:blipFill>
        <p:spPr>
          <a:xfrm>
            <a:off x="457200" y="457200"/>
            <a:ext cx="8229600" cy="2057400"/>
          </a:xfrm>
          <a:prstGeom prst="rect">
            <a:avLst/>
          </a:prstGeom>
        </p:spPr>
      </p:pic>
      <p:sp>
        <p:nvSpPr>
          <p:cNvPr id="3" name="pt:5da0839c-3121-4550-b7eb-981a5fec54fb"/>
          <p:cNvSpPr/>
          <p:nvPr/>
        </p:nvSpPr>
        <p:spPr>
          <a:xfrm>
            <a:off x="457200" y="2705100"/>
            <a:ext cx="8229600" cy="369570"/>
          </a:xfrm>
          <a:prstGeom prst="rect">
            <a:avLst/>
          </a:prstGeom>
          <a:noFill/>
          <a:ln/>
        </p:spPr>
        <p:txBody>
          <a:bodyPr wrap="square" lIns="0" tIns="0" rIns="0" bIns="0" rtlCol="0" anchor="t"/>
          <a:lstStyle/>
          <a:p>
            <a:pPr algn="l" indent="0" marL="0">
              <a:lnSpc>
                <a:spcPct val="120000"/>
              </a:lnSpc>
              <a:buNone/>
            </a:pPr>
            <a:r>
              <a:rPr lang="en-US" sz="2000" b="1" spc="150" kern="0" dirty="0">
                <a:solidFill>
                  <a:srgbClr val="22D3EE"/>
                </a:solidFill>
                <a:latin typeface="Space Grotesk" pitchFamily="34" charset="0"/>
                <a:ea typeface="Space Grotesk" pitchFamily="34" charset="-122"/>
                <a:cs typeface="Space Grotesk" pitchFamily="34" charset="-120"/>
              </a:rPr>
              <a:t>THE DELIVERY CHALLENGE FLEETS FACE</a:t>
            </a:r>
            <a:endParaRPr lang="en-US" sz="2000" dirty="0"/>
          </a:p>
        </p:txBody>
      </p:sp>
      <p:sp>
        <p:nvSpPr>
          <p:cNvPr id="4" name="pt:058731b8-6fdc-4bfa-87cc-7d38729be865"/>
          <p:cNvSpPr/>
          <p:nvPr/>
        </p:nvSpPr>
        <p:spPr>
          <a:xfrm>
            <a:off x="457200" y="3074670"/>
            <a:ext cx="8229600" cy="1404366"/>
          </a:xfrm>
          <a:prstGeom prst="rect">
            <a:avLst/>
          </a:prstGeom>
          <a:noFill/>
          <a:ln/>
        </p:spPr>
        <p:txBody>
          <a:bodyPr wrap="square" lIns="0" tIns="0" rIns="0" bIns="0" rtlCol="0" anchor="ctr"/>
          <a:lstStyle/>
          <a:p>
            <a:pPr algn="l" indent="0" marL="0">
              <a:lnSpc>
                <a:spcPct val="120000"/>
              </a:lnSpc>
              <a:buNone/>
            </a:pPr>
            <a:r>
              <a:rPr lang="en-US" sz="8500" b="1" dirty="0">
                <a:solidFill>
                  <a:srgbClr val="EDEDF8"/>
                </a:solidFill>
                <a:latin typeface="Space Grotesk" pitchFamily="34" charset="0"/>
                <a:ea typeface="Space Grotesk" pitchFamily="34" charset="-122"/>
                <a:cs typeface="Space Grotesk" pitchFamily="34" charset="-120"/>
              </a:rPr>
              <a:t>23%</a:t>
            </a:r>
            <a:endParaRPr lang="en-US" sz="8500" dirty="0"/>
          </a:p>
        </p:txBody>
      </p:sp>
      <p:sp>
        <p:nvSpPr>
          <p:cNvPr id="5" name="pt:250ea167-132c-4cff-bc14-04c982f65913"/>
          <p:cNvSpPr/>
          <p:nvPr/>
        </p:nvSpPr>
        <p:spPr>
          <a:xfrm>
            <a:off x="457200" y="4552950"/>
            <a:ext cx="8229600" cy="665226"/>
          </a:xfrm>
          <a:prstGeom prst="rect">
            <a:avLst/>
          </a:prstGeom>
          <a:noFill/>
          <a:ln/>
        </p:spPr>
        <p:txBody>
          <a:bodyPr wrap="square" lIns="0" tIns="0" rIns="0" bIns="0" rtlCol="0" anchor="t"/>
          <a:lstStyle/>
          <a:p>
            <a:pPr algn="l" indent="0" marL="0">
              <a:lnSpc>
                <a:spcPct val="120000"/>
              </a:lnSpc>
              <a:buNone/>
            </a:pPr>
            <a:r>
              <a:rPr lang="en-US" sz="2000" b="1" dirty="0">
                <a:solidFill>
                  <a:srgbClr val="EDEDF8"/>
                </a:solidFill>
                <a:latin typeface="Space Grotesk" pitchFamily="34" charset="0"/>
                <a:ea typeface="Space Grotesk" pitchFamily="34" charset="-122"/>
                <a:cs typeface="Space Grotesk" pitchFamily="34" charset="-120"/>
              </a:rPr>
              <a:t>of delivery spend is wasted on empty miles and failed first attempts</a:t>
            </a:r>
            <a:endParaRPr lang="en-US" sz="2000" dirty="0"/>
          </a:p>
        </p:txBody>
      </p:sp>
      <p:sp>
        <p:nvSpPr>
          <p:cNvPr id="6" name="pt:5282f8a9-cd29-4a17-8463-88173eb4bac2"/>
          <p:cNvSpPr/>
          <p:nvPr/>
        </p:nvSpPr>
        <p:spPr>
          <a:xfrm>
            <a:off x="457200" y="5292090"/>
            <a:ext cx="8229600" cy="110871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A5A5B1"/>
                </a:solidFill>
                <a:latin typeface="Inter" pitchFamily="34" charset="0"/>
                <a:ea typeface="Inter" pitchFamily="34" charset="-122"/>
                <a:cs typeface="Inter" pitchFamily="34" charset="-120"/>
              </a:rPr>
              <a:t>Small carriers plan routes by hand</a:t>
            </a:r>
            <a:endParaRPr lang="en-US" sz="1500" dirty="0"/>
          </a:p>
          <a:p>
            <a:pPr algn="l" marL="342900" indent="-342900">
              <a:lnSpc>
                <a:spcPct val="120000"/>
              </a:lnSpc>
              <a:spcAft>
                <a:spcPts val="800"/>
              </a:spcAft>
              <a:buSzPct val="100000"/>
              <a:buChar char="•"/>
            </a:pPr>
            <a:r>
              <a:rPr lang="en-US" sz="1500" dirty="0">
                <a:solidFill>
                  <a:srgbClr val="A5A5B1"/>
                </a:solidFill>
                <a:latin typeface="Inter" pitchFamily="34" charset="0"/>
                <a:ea typeface="Inter" pitchFamily="34" charset="-122"/>
                <a:cs typeface="Inter" pitchFamily="34" charset="-120"/>
              </a:rPr>
              <a:t>Customers get vague delivery windows</a:t>
            </a:r>
            <a:endParaRPr lang="en-US" sz="1500" dirty="0"/>
          </a:p>
          <a:p>
            <a:pPr algn="l" marL="342900" indent="-342900">
              <a:lnSpc>
                <a:spcPct val="120000"/>
              </a:lnSpc>
              <a:buSzPct val="100000"/>
              <a:buChar char="•"/>
            </a:pPr>
            <a:r>
              <a:rPr lang="en-US" sz="1500" dirty="0">
                <a:solidFill>
                  <a:srgbClr val="A5A5B1"/>
                </a:solidFill>
                <a:latin typeface="Inter" pitchFamily="34" charset="0"/>
                <a:ea typeface="Inter" pitchFamily="34" charset="-122"/>
                <a:cs typeface="Inter" pitchFamily="34" charset="-120"/>
              </a:rPr>
              <a:t>No tool fits a fleet under 200 vehicles</a:t>
            </a:r>
            <a:endParaRPr lang="en-US" sz="1500" dirty="0"/>
          </a:p>
        </p:txBody>
      </p:sp>
      <p:sp>
        <p:nvSpPr>
          <p:cNvPr id="7" name="pt:687827d3-4ce7-421f-b07c-1f9a2f9245f1"/>
          <p:cNvSpPr/>
          <p:nvPr/>
        </p:nvSpPr>
        <p:spPr>
          <a:xfrm>
            <a:off x="412750" y="6451600"/>
            <a:ext cx="361950" cy="361950"/>
          </a:xfrm>
          <a:prstGeom prst="roundRect">
            <a:avLst>
              <a:gd name="adj" fmla="val 12281"/>
            </a:avLst>
          </a:prstGeom>
          <a:solidFill>
            <a:srgbClr val="FFFFFF"/>
          </a:solidFill>
          <a:ln/>
        </p:spPr>
      </p:sp>
      <p:pic>
        <p:nvPicPr>
          <p:cNvPr id="8" name="pt:f5d9515a-112d-43b1-b74d-66733cec1706"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1" presetID="10" presetClass="entr" presetSubtype="0"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5" presetID="42" presetClass="entr" presetSubtype="0" fill="hold" decel="10000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anim calcmode="lin" valueType="num">
                                      <p:cBhvr additive="base">
                                        <p:cTn id="14" dur="450" fill="hold"/>
                                        <p:tgtEl>
                                          <p:spTgt spid="5"/>
                                        </p:tgtEl>
                                        <p:attrNameLst>
                                          <p:attrName>ppt_y</p:attrName>
                                        </p:attrNameLst>
                                      </p:cBhvr>
                                      <p:tavLst>
                                        <p:tav tm="0">
                                          <p:val>
                                            <p:strVal val="#ppt_y+0.04"/>
                                          </p:val>
                                        </p:tav>
                                        <p:tav tm="100000">
                                          <p:val>
                                            <p:strVal val="#ppt_y"/>
                                          </p:val>
                                        </p:tav>
                                      </p:tavLst>
                                    </p:anim>
                                  </p:childTnLst>
                                </p:cTn>
                              </p:par>
                              <p:par>
                                <p:cTn id="19" presetID="42" presetClass="entr" presetSubtype="0" fill="hold" decel="100000" nodeType="withEffect">
                                  <p:stCondLst>
                                    <p:cond delay="36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additive="base">
                                        <p:cTn id="18"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B"/>
        </a:solidFill>
      </p:bgPr>
    </p:bg>
    <p:spTree>
      <p:nvGrpSpPr>
        <p:cNvPr id="1" name=""/>
        <p:cNvGrpSpPr/>
        <p:nvPr/>
      </p:nvGrpSpPr>
      <p:grpSpPr>
        <a:xfrm>
          <a:off x="0" y="0"/>
          <a:ext cx="0" cy="0"/>
          <a:chOff x="0" y="0"/>
          <a:chExt cx="0" cy="0"/>
        </a:xfrm>
      </p:grpSpPr>
      <p:sp>
        <p:nvSpPr>
          <p:cNvPr id="2" name="pt:c2e3eda9-2153-468f-81e0-ff3404ca0e4d"/>
          <p:cNvSpPr/>
          <p:nvPr/>
        </p:nvSpPr>
        <p:spPr>
          <a:xfrm>
            <a:off x="0" y="228600"/>
            <a:ext cx="9144000" cy="12700"/>
          </a:xfrm>
          <a:prstGeom prst="rect">
            <a:avLst/>
          </a:prstGeom>
          <a:solidFill>
            <a:srgbClr val="2A2A39"/>
          </a:solidFill>
          <a:ln/>
        </p:spPr>
      </p:sp>
      <p:sp>
        <p:nvSpPr>
          <p:cNvPr id="3" name="pt:b12a4ce5-6354-40a2-8642-ef8a7a952d9a"/>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000" b="1" dirty="0">
                <a:solidFill>
                  <a:srgbClr val="EDEDF8"/>
                </a:solidFill>
                <a:latin typeface="Space Grotesk" pitchFamily="34" charset="0"/>
                <a:ea typeface="Space Grotesk" pitchFamily="34" charset="-122"/>
                <a:cs typeface="Space Grotesk" pitchFamily="34" charset="-120"/>
              </a:rPr>
              <a:t>Value Proposition: Automated, </a:t>
            </a:r>
            <a:pPr algn="l" indent="0" marL="0">
              <a:lnSpc>
                <a:spcPct val="120000"/>
              </a:lnSpc>
              <a:buNone/>
            </a:pPr>
            <a:r>
              <a:rPr lang="en-US" sz="2000" b="1" dirty="0">
                <a:solidFill>
                  <a:srgbClr val="22D3EE"/>
                </a:solidFill>
                <a:latin typeface="Space Grotesk" pitchFamily="34" charset="0"/>
                <a:ea typeface="Space Grotesk" pitchFamily="34" charset="-122"/>
                <a:cs typeface="Space Grotesk" pitchFamily="34" charset="-120"/>
              </a:rPr>
              <a:t>Reliable Routing</a:t>
            </a:r>
            <a:endParaRPr lang="en-US" sz="2000" dirty="0"/>
          </a:p>
        </p:txBody>
      </p:sp>
      <p:sp>
        <p:nvSpPr>
          <p:cNvPr id="4" name="pt:e36f5c61-f595-4b66-9541-6829a570ae5e"/>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Automatic route planning generates optimised itineraries in under a minute</a:t>
            </a:r>
            <a:endParaRPr lang="en-US" sz="1600" dirty="0"/>
          </a:p>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Live delivery windows give customers reliable arrival times they can trust</a:t>
            </a:r>
            <a:endParaRPr lang="en-US" sz="1600" dirty="0"/>
          </a:p>
          <a:p>
            <a:pPr algn="l" marL="342900" indent="-342900">
              <a:lnSpc>
                <a:spcPct val="120000"/>
              </a:lnSpc>
              <a:buSzPct val="100000"/>
              <a:buChar char="•"/>
            </a:pPr>
            <a:r>
              <a:rPr lang="en-US" sz="1600" dirty="0">
                <a:solidFill>
                  <a:srgbClr val="EDEDF8"/>
                </a:solidFill>
                <a:latin typeface="Inter" pitchFamily="34" charset="0"/>
                <a:ea typeface="Inter" pitchFamily="34" charset="-122"/>
                <a:cs typeface="Inter" pitchFamily="34" charset="-120"/>
              </a:rPr>
              <a:t>Seamless integration works directly with existing delivery vans and driver smartphones</a:t>
            </a:r>
            <a:endParaRPr lang="en-US" sz="1600" dirty="0"/>
          </a:p>
        </p:txBody>
      </p:sp>
      <p:pic>
        <p:nvPicPr>
          <p:cNvPr id="5" name="pt:8fc1abed-f695-41a4-b9f5-5d85524e573d" descr="Delivery driver reviewing route details on a smartphone beside a delivery vehicle">    </p:cNvPr>
          <p:cNvPicPr>
            <a:picLocks noChangeAspect="1"/>
          </p:cNvPicPr>
          <p:nvPr/>
        </p:nvPicPr>
        <p:blipFill>
          <a:blip r:embed="rId1"/>
          <a:srcRect l="0" r="0" t="0" b="0"/>
          <a:stretch/>
        </p:blipFill>
        <p:spPr>
          <a:xfrm>
            <a:off x="4775200" y="457200"/>
            <a:ext cx="3911600" cy="5943600"/>
          </a:xfrm>
          <a:prstGeom prst="rect">
            <a:avLst/>
          </a:prstGeom>
        </p:spPr>
      </p:pic>
      <p:sp>
        <p:nvSpPr>
          <p:cNvPr id="6" name="pt:a0dc9aa3-0c21-44f3-b92a-8e88985d92ae"/>
          <p:cNvSpPr/>
          <p:nvPr/>
        </p:nvSpPr>
        <p:spPr>
          <a:xfrm>
            <a:off x="412750" y="6451600"/>
            <a:ext cx="361950" cy="361950"/>
          </a:xfrm>
          <a:prstGeom prst="roundRect">
            <a:avLst>
              <a:gd name="adj" fmla="val 12281"/>
            </a:avLst>
          </a:prstGeom>
          <a:solidFill>
            <a:srgbClr val="FFFFFF"/>
          </a:solidFill>
          <a:ln/>
        </p:spPr>
      </p:sp>
      <p:pic>
        <p:nvPicPr>
          <p:cNvPr id="7" name="pt:fa834e34-daf5-457a-a09f-54f763041a8d"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42" presetClass="entr" presetSubtype="0" fill="hold" decel="100000" grpId="0" nodeType="withEffect">
                                  <p:stCondLst>
                                    <p:cond delay="12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 calcmode="lin" valueType="num">
                                      <p:cBhvr additive="base">
                                        <p:cTn id="11" dur="450" fill="hold"/>
                                        <p:tgtEl>
                                          <p:spTgt spid="4">
                                            <p:txEl>
                                              <p:pRg st="0" end="0"/>
                                            </p:txEl>
                                          </p:spTgt>
                                        </p:tgtEl>
                                        <p:attrNameLst>
                                          <p:attrName>ppt_y</p:attrName>
                                        </p:attrNameLst>
                                      </p:cBhvr>
                                      <p:tavLst>
                                        <p:tav tm="0">
                                          <p:val>
                                            <p:strVal val="#ppt_y+0.04"/>
                                          </p:val>
                                        </p:tav>
                                        <p:tav tm="100000">
                                          <p:val>
                                            <p:strVal val="#ppt_y"/>
                                          </p:val>
                                        </p:tav>
                                      </p:tavLst>
                                    </p:anim>
                                  </p:childTnLst>
                                </p:cTn>
                              </p:par>
                              <p:par>
                                <p:cTn id="16" presetID="42" presetClass="entr" presetSubtype="0" fill="hold" decel="100000" grpId="0" nodeType="withEffect">
                                  <p:stCondLst>
                                    <p:cond delay="216"/>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 calcmode="lin" valueType="num">
                                      <p:cBhvr additive="base">
                                        <p:cTn id="15" dur="450" fill="hold"/>
                                        <p:tgtEl>
                                          <p:spTgt spid="4">
                                            <p:txEl>
                                              <p:pRg st="1" end="1"/>
                                            </p:txEl>
                                          </p:spTgt>
                                        </p:tgtEl>
                                        <p:attrNameLst>
                                          <p:attrName>ppt_y</p:attrName>
                                        </p:attrNameLst>
                                      </p:cBhvr>
                                      <p:tavLst>
                                        <p:tav tm="0">
                                          <p:val>
                                            <p:strVal val="#ppt_y+0.04"/>
                                          </p:val>
                                        </p:tav>
                                        <p:tav tm="100000">
                                          <p:val>
                                            <p:strVal val="#ppt_y"/>
                                          </p:val>
                                        </p:tav>
                                      </p:tavLst>
                                    </p:anim>
                                  </p:childTnLst>
                                </p:cTn>
                              </p:par>
                              <p:par>
                                <p:cTn id="20" presetID="42" presetClass="entr" presetSubtype="0" fill="hold" decel="100000" grpId="0" nodeType="withEffect">
                                  <p:stCondLst>
                                    <p:cond delay="312"/>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 calcmode="lin" valueType="num">
                                      <p:cBhvr additive="base">
                                        <p:cTn id="19" dur="450" fill="hold"/>
                                        <p:tgtEl>
                                          <p:spTgt spid="4">
                                            <p:txEl>
                                              <p:pRg st="2" end="2"/>
                                            </p:txEl>
                                          </p:spTgt>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16"/>
        </a:solidFill>
      </p:bgPr>
    </p:bg>
    <p:spTree>
      <p:nvGrpSpPr>
        <p:cNvPr id="1" name=""/>
        <p:cNvGrpSpPr/>
        <p:nvPr/>
      </p:nvGrpSpPr>
      <p:grpSpPr>
        <a:xfrm>
          <a:off x="0" y="0"/>
          <a:ext cx="0" cy="0"/>
          <a:chOff x="0" y="0"/>
          <a:chExt cx="0" cy="0"/>
        </a:xfrm>
      </p:grpSpPr>
      <p:pic>
        <p:nvPicPr>
          <p:cNvPr id="2" name="pt:e7836852-9445-496f-892f-d55e2e9a4f77" descr="Workflow diagram, product brief, and user goals are shown">    </p:cNvPr>
          <p:cNvPicPr>
            <a:picLocks noChangeAspect="1"/>
          </p:cNvPicPr>
          <p:nvPr/>
        </p:nvPicPr>
        <p:blipFill>
          <a:blip r:embed="rId1"/>
          <a:srcRect l="0" r="0" t="0" b="0"/>
          <a:stretch/>
        </p:blipFill>
        <p:spPr>
          <a:xfrm>
            <a:off x="0" y="0"/>
            <a:ext cx="9144000" cy="6858000"/>
          </a:xfrm>
          <a:prstGeom prst="rect">
            <a:avLst/>
          </a:prstGeom>
        </p:spPr>
      </p:pic>
      <p:pic>
        <p:nvPicPr>
          <p:cNvPr id="3" name="pt:e7836852-9445-496f-892f-d55e2e9a4f77"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c9a83091-21c4-4bec-9f93-2996fef4dfed"/>
          <p:cNvSpPr/>
          <p:nvPr/>
        </p:nvSpPr>
        <p:spPr>
          <a:xfrm>
            <a:off x="457200" y="2880360"/>
            <a:ext cx="698500" cy="50800"/>
          </a:xfrm>
          <a:prstGeom prst="roundRect">
            <a:avLst>
              <a:gd name="adj" fmla="val 50000"/>
            </a:avLst>
          </a:prstGeom>
          <a:solidFill>
            <a:srgbClr val="22D3EE"/>
          </a:solidFill>
          <a:ln/>
        </p:spPr>
      </p:sp>
      <p:sp>
        <p:nvSpPr>
          <p:cNvPr id="5" name="pt:69b67daa-56e8-48c1-b376-8d1ac533c311"/>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Streamlined Operational Workflow</a:t>
            </a:r>
            <a:endParaRPr lang="en-US" sz="3600" dirty="0"/>
          </a:p>
        </p:txBody>
      </p:sp>
      <p:sp>
        <p:nvSpPr>
          <p:cNvPr id="6" name="pt:c4536e1e-0485-4590-90f6-805337e413bc"/>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Import orders, plan routes, deliver with live updates, and notify customers effortlessly</a:t>
            </a:r>
            <a:endParaRPr lang="en-US" sz="1600" dirty="0"/>
          </a:p>
        </p:txBody>
      </p:sp>
      <p:sp>
        <p:nvSpPr>
          <p:cNvPr id="7" name="pt:28a384cd-19ac-41fb-9f31-895c9f1b7fa5"/>
          <p:cNvSpPr/>
          <p:nvPr/>
        </p:nvSpPr>
        <p:spPr>
          <a:xfrm>
            <a:off x="412750" y="6451600"/>
            <a:ext cx="361950" cy="361950"/>
          </a:xfrm>
          <a:prstGeom prst="roundRect">
            <a:avLst>
              <a:gd name="adj" fmla="val 12281"/>
            </a:avLst>
          </a:prstGeom>
          <a:solidFill>
            <a:srgbClr val="FFFFFF"/>
          </a:solidFill>
          <a:ln/>
        </p:spPr>
      </p:sp>
      <p:pic>
        <p:nvPicPr>
          <p:cNvPr id="8" name="pt:34f16efb-0bb3-4c65-a8cd-1d8db58acbc0"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only 5656</dc:title>
  <dc:subject>PptxGenJS Presentation</dc:subject>
  <dc:creator>PptxGenJS</dc:creator>
  <cp:lastModifiedBy>PptxGenJS</cp:lastModifiedBy>
  <cp:revision>1</cp:revision>
  <dcterms:created xsi:type="dcterms:W3CDTF">2026-10-10T05:13:31Z</dcterms:created>
  <dcterms:modified xsi:type="dcterms:W3CDTF">2026-10-10T05:13:31Z</dcterms:modified>
</cp:coreProperties>
</file>