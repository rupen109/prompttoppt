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investors. Today we are excited to introduce Aroma Coffee Roasters, a specialty small-batch coffee roastery currently operating four successful stores in our community, and outline our next phase of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model relies on centralizing our small-batch roasting. By roasting in-house, we secure superior profit margins and serve both our four retail locations and a growing list of wholesale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successfully scaled to four thriving locations in high-traffic neighborhoods. Our community-first approach has earned us a highly loyal customer base that drives repeat daily foot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expansion roadmap focuses on three clear phases: maximizing throughput across our four existing stores, opening new neighborhood retail footprint, and scaling our wholesale and digital subscription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seeking local investment capital to fund our next phase of growth. With four successful stores already operating, this is an opportunity to partner with an established craft brand as we expand our retail footprint and scale production. Thank you for your time, and we welcome your questions and investment inquiries.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c5d8f206-aa43-4558-a23e-c5860df4001f" descr="person pouring coffee on coffee cup">    </p:cNvPr>
          <p:cNvPicPr>
            <a:picLocks noChangeAspect="1"/>
          </p:cNvPicPr>
          <p:nvPr/>
        </p:nvPicPr>
        <p:blipFill>
          <a:blip r:embed="rId1"/>
          <a:srcRect l="0" r="0" t="0" b="0"/>
          <a:stretch/>
        </p:blipFill>
        <p:spPr>
          <a:xfrm>
            <a:off x="0" y="0"/>
            <a:ext cx="12192000" cy="6858000"/>
          </a:xfrm>
          <a:prstGeom prst="rect">
            <a:avLst/>
          </a:prstGeom>
        </p:spPr>
      </p:pic>
      <p:pic>
        <p:nvPicPr>
          <p:cNvPr id="3" name="pt:c5d8f206-aa43-4558-a23e-c5860df4001f"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pt:1d692124-d851-471a-a53c-d02be4060468"/>
          <p:cNvSpPr/>
          <p:nvPr/>
        </p:nvSpPr>
        <p:spPr>
          <a:xfrm rot="-2700000">
            <a:off x="7507182" y="1521883"/>
            <a:ext cx="5349240" cy="31750"/>
          </a:xfrm>
          <a:prstGeom prst="rect">
            <a:avLst/>
          </a:prstGeom>
          <a:solidFill>
            <a:srgbClr val="17BEBB">
              <a:alpha val="85000"/>
            </a:srgbClr>
          </a:solidFill>
          <a:ln/>
        </p:spPr>
      </p:sp>
      <p:sp>
        <p:nvSpPr>
          <p:cNvPr id="5" name="pt:78c356a4-5a56-4194-b01c-724290539cec"/>
          <p:cNvSpPr/>
          <p:nvPr/>
        </p:nvSpPr>
        <p:spPr>
          <a:xfrm rot="2700000">
            <a:off x="7507182" y="5304367"/>
            <a:ext cx="5349240" cy="31750"/>
          </a:xfrm>
          <a:prstGeom prst="rect">
            <a:avLst/>
          </a:prstGeom>
          <a:solidFill>
            <a:srgbClr val="17BEBB">
              <a:alpha val="85000"/>
            </a:srgbClr>
          </a:solidFill>
          <a:ln/>
        </p:spPr>
      </p:sp>
      <p:sp>
        <p:nvSpPr>
          <p:cNvPr id="6" name="pt:4e34c06e-17db-4c53-8b80-87d1b44241a2"/>
          <p:cNvSpPr/>
          <p:nvPr/>
        </p:nvSpPr>
        <p:spPr>
          <a:xfrm rot="-2700000">
            <a:off x="7723082" y="1521883"/>
            <a:ext cx="5349240" cy="31750"/>
          </a:xfrm>
          <a:prstGeom prst="rect">
            <a:avLst/>
          </a:prstGeom>
          <a:solidFill>
            <a:srgbClr val="FFFFFF">
              <a:alpha val="80000"/>
            </a:srgbClr>
          </a:solidFill>
          <a:ln/>
        </p:spPr>
      </p:sp>
      <p:sp>
        <p:nvSpPr>
          <p:cNvPr id="7" name="pt:bce138e7-4295-471e-a055-50bcccb1984c"/>
          <p:cNvSpPr/>
          <p:nvPr/>
        </p:nvSpPr>
        <p:spPr>
          <a:xfrm rot="2700000">
            <a:off x="7723082" y="5304367"/>
            <a:ext cx="5349240" cy="31750"/>
          </a:xfrm>
          <a:prstGeom prst="rect">
            <a:avLst/>
          </a:prstGeom>
          <a:solidFill>
            <a:srgbClr val="FFFFFF">
              <a:alpha val="80000"/>
            </a:srgbClr>
          </a:solidFill>
          <a:ln/>
        </p:spPr>
      </p:sp>
      <p:sp>
        <p:nvSpPr>
          <p:cNvPr id="8" name="pt:661e03a9-6e2f-4e65-bb61-87ef004dee3d"/>
          <p:cNvSpPr/>
          <p:nvPr/>
        </p:nvSpPr>
        <p:spPr>
          <a:xfrm rot="-2700000">
            <a:off x="7938982" y="1521883"/>
            <a:ext cx="5349240" cy="31750"/>
          </a:xfrm>
          <a:prstGeom prst="rect">
            <a:avLst/>
          </a:prstGeom>
          <a:solidFill>
            <a:srgbClr val="FFFFFF">
              <a:alpha val="75000"/>
            </a:srgbClr>
          </a:solidFill>
          <a:ln/>
        </p:spPr>
      </p:sp>
      <p:sp>
        <p:nvSpPr>
          <p:cNvPr id="9" name="pt:a6e7f626-f5cf-404f-bdb4-6e9004aa61b1"/>
          <p:cNvSpPr/>
          <p:nvPr/>
        </p:nvSpPr>
        <p:spPr>
          <a:xfrm rot="2700000">
            <a:off x="7938982" y="5304367"/>
            <a:ext cx="5349240" cy="31750"/>
          </a:xfrm>
          <a:prstGeom prst="rect">
            <a:avLst/>
          </a:prstGeom>
          <a:solidFill>
            <a:srgbClr val="FFFFFF">
              <a:alpha val="75000"/>
            </a:srgbClr>
          </a:solidFill>
          <a:ln/>
        </p:spPr>
      </p:sp>
      <p:sp>
        <p:nvSpPr>
          <p:cNvPr id="10" name="pt:f3a54542-0ba7-4d8e-801e-3da9452d091c"/>
          <p:cNvSpPr/>
          <p:nvPr/>
        </p:nvSpPr>
        <p:spPr>
          <a:xfrm rot="-2700000">
            <a:off x="8154882" y="1521883"/>
            <a:ext cx="5349240" cy="31750"/>
          </a:xfrm>
          <a:prstGeom prst="rect">
            <a:avLst/>
          </a:prstGeom>
          <a:solidFill>
            <a:srgbClr val="17BEBB">
              <a:alpha val="70000"/>
            </a:srgbClr>
          </a:solidFill>
          <a:ln/>
        </p:spPr>
      </p:sp>
      <p:sp>
        <p:nvSpPr>
          <p:cNvPr id="11" name="pt:e3bc813b-a9b9-4fca-8fb6-b12488557c9b"/>
          <p:cNvSpPr/>
          <p:nvPr/>
        </p:nvSpPr>
        <p:spPr>
          <a:xfrm rot="2700000">
            <a:off x="8154882" y="5304367"/>
            <a:ext cx="5349240" cy="31750"/>
          </a:xfrm>
          <a:prstGeom prst="rect">
            <a:avLst/>
          </a:prstGeom>
          <a:solidFill>
            <a:srgbClr val="17BEBB">
              <a:alpha val="70000"/>
            </a:srgbClr>
          </a:solidFill>
          <a:ln/>
        </p:spPr>
      </p:sp>
      <p:sp>
        <p:nvSpPr>
          <p:cNvPr id="12" name="pt:d50d8b87-ced9-41c5-933f-4ac5be77082d"/>
          <p:cNvSpPr/>
          <p:nvPr/>
        </p:nvSpPr>
        <p:spPr>
          <a:xfrm rot="-2700000">
            <a:off x="8370782" y="1521883"/>
            <a:ext cx="5349240" cy="31750"/>
          </a:xfrm>
          <a:prstGeom prst="rect">
            <a:avLst/>
          </a:prstGeom>
          <a:solidFill>
            <a:srgbClr val="FFFFFF">
              <a:alpha val="65000"/>
            </a:srgbClr>
          </a:solidFill>
          <a:ln/>
        </p:spPr>
      </p:sp>
      <p:sp>
        <p:nvSpPr>
          <p:cNvPr id="13" name="pt:4c18257c-e8df-4774-adc4-40bed0199474"/>
          <p:cNvSpPr/>
          <p:nvPr/>
        </p:nvSpPr>
        <p:spPr>
          <a:xfrm rot="2700000">
            <a:off x="8370782" y="5304367"/>
            <a:ext cx="5349240" cy="31750"/>
          </a:xfrm>
          <a:prstGeom prst="rect">
            <a:avLst/>
          </a:prstGeom>
          <a:solidFill>
            <a:srgbClr val="FFFFFF">
              <a:alpha val="65000"/>
            </a:srgbClr>
          </a:solidFill>
          <a:ln/>
        </p:spPr>
      </p:sp>
      <p:sp>
        <p:nvSpPr>
          <p:cNvPr id="14" name="pt:5812152a-3479-4f22-85bb-55c8e225dbc8"/>
          <p:cNvSpPr/>
          <p:nvPr/>
        </p:nvSpPr>
        <p:spPr>
          <a:xfrm rot="-2700000">
            <a:off x="8586682" y="1521883"/>
            <a:ext cx="5349240" cy="31750"/>
          </a:xfrm>
          <a:prstGeom prst="rect">
            <a:avLst/>
          </a:prstGeom>
          <a:solidFill>
            <a:srgbClr val="FFFFFF">
              <a:alpha val="59000"/>
            </a:srgbClr>
          </a:solidFill>
          <a:ln/>
        </p:spPr>
      </p:sp>
      <p:sp>
        <p:nvSpPr>
          <p:cNvPr id="15" name="pt:1aaaa274-24c9-4937-a0b4-a8bffe5ff6ac"/>
          <p:cNvSpPr/>
          <p:nvPr/>
        </p:nvSpPr>
        <p:spPr>
          <a:xfrm rot="2700000">
            <a:off x="8586682" y="5304367"/>
            <a:ext cx="5349240" cy="31750"/>
          </a:xfrm>
          <a:prstGeom prst="rect">
            <a:avLst/>
          </a:prstGeom>
          <a:solidFill>
            <a:srgbClr val="FFFFFF">
              <a:alpha val="59000"/>
            </a:srgbClr>
          </a:solidFill>
          <a:ln/>
        </p:spPr>
      </p:sp>
      <p:sp>
        <p:nvSpPr>
          <p:cNvPr id="16" name="pt:08846e40-d8d7-4802-a7e6-4bc82858bae0"/>
          <p:cNvSpPr/>
          <p:nvPr/>
        </p:nvSpPr>
        <p:spPr>
          <a:xfrm rot="-2700000">
            <a:off x="8802582" y="1521883"/>
            <a:ext cx="5349240" cy="31750"/>
          </a:xfrm>
          <a:prstGeom prst="rect">
            <a:avLst/>
          </a:prstGeom>
          <a:solidFill>
            <a:srgbClr val="17BEBB">
              <a:alpha val="54000"/>
            </a:srgbClr>
          </a:solidFill>
          <a:ln/>
        </p:spPr>
      </p:sp>
      <p:sp>
        <p:nvSpPr>
          <p:cNvPr id="17" name="pt:6c64149b-7e93-4159-81d4-9edf934871da"/>
          <p:cNvSpPr/>
          <p:nvPr/>
        </p:nvSpPr>
        <p:spPr>
          <a:xfrm rot="2700000">
            <a:off x="8802582" y="5304367"/>
            <a:ext cx="5349240" cy="31750"/>
          </a:xfrm>
          <a:prstGeom prst="rect">
            <a:avLst/>
          </a:prstGeom>
          <a:solidFill>
            <a:srgbClr val="17BEBB">
              <a:alpha val="54000"/>
            </a:srgbClr>
          </a:solidFill>
          <a:ln/>
        </p:spPr>
      </p:sp>
      <p:sp>
        <p:nvSpPr>
          <p:cNvPr id="18" name="pt:0826ba1f-49a5-49d3-bde1-213b3f9fd32e"/>
          <p:cNvSpPr/>
          <p:nvPr/>
        </p:nvSpPr>
        <p:spPr>
          <a:xfrm rot="-2700000">
            <a:off x="9018482" y="1521883"/>
            <a:ext cx="5349240" cy="31750"/>
          </a:xfrm>
          <a:prstGeom prst="rect">
            <a:avLst/>
          </a:prstGeom>
          <a:solidFill>
            <a:srgbClr val="FFFFFF">
              <a:alpha val="49000"/>
            </a:srgbClr>
          </a:solidFill>
          <a:ln/>
        </p:spPr>
      </p:sp>
      <p:sp>
        <p:nvSpPr>
          <p:cNvPr id="19" name="pt:44ed699a-c78f-4130-83e3-d5136f0811dc"/>
          <p:cNvSpPr/>
          <p:nvPr/>
        </p:nvSpPr>
        <p:spPr>
          <a:xfrm rot="2700000">
            <a:off x="9018482" y="5304367"/>
            <a:ext cx="5349240" cy="31750"/>
          </a:xfrm>
          <a:prstGeom prst="rect">
            <a:avLst/>
          </a:prstGeom>
          <a:solidFill>
            <a:srgbClr val="FFFFFF">
              <a:alpha val="49000"/>
            </a:srgbClr>
          </a:solidFill>
          <a:ln/>
        </p:spPr>
      </p:sp>
      <p:sp>
        <p:nvSpPr>
          <p:cNvPr id="20" name="pt:ddd2287e-dcc5-48f5-97e0-5a5c123028bf"/>
          <p:cNvSpPr/>
          <p:nvPr/>
        </p:nvSpPr>
        <p:spPr>
          <a:xfrm rot="-2700000">
            <a:off x="9234382" y="1521883"/>
            <a:ext cx="5349240" cy="31750"/>
          </a:xfrm>
          <a:prstGeom prst="rect">
            <a:avLst/>
          </a:prstGeom>
          <a:solidFill>
            <a:srgbClr val="FFFFFF">
              <a:alpha val="44000"/>
            </a:srgbClr>
          </a:solidFill>
          <a:ln/>
        </p:spPr>
      </p:sp>
      <p:sp>
        <p:nvSpPr>
          <p:cNvPr id="21" name="pt:40fb7c75-6446-4a20-bb16-44082aecb99f"/>
          <p:cNvSpPr/>
          <p:nvPr/>
        </p:nvSpPr>
        <p:spPr>
          <a:xfrm rot="2700000">
            <a:off x="9234382" y="5304367"/>
            <a:ext cx="5349240" cy="31750"/>
          </a:xfrm>
          <a:prstGeom prst="rect">
            <a:avLst/>
          </a:prstGeom>
          <a:solidFill>
            <a:srgbClr val="FFFFFF">
              <a:alpha val="44000"/>
            </a:srgbClr>
          </a:solidFill>
          <a:ln/>
        </p:spPr>
      </p:sp>
      <p:sp>
        <p:nvSpPr>
          <p:cNvPr id="22" name="pt:f6786ec1-70cb-437c-85b9-4ef2cdcefce8"/>
          <p:cNvSpPr/>
          <p:nvPr/>
        </p:nvSpPr>
        <p:spPr>
          <a:xfrm rot="-2700000">
            <a:off x="9450282" y="1521883"/>
            <a:ext cx="5349240" cy="31750"/>
          </a:xfrm>
          <a:prstGeom prst="rect">
            <a:avLst/>
          </a:prstGeom>
          <a:solidFill>
            <a:srgbClr val="17BEBB">
              <a:alpha val="39000"/>
            </a:srgbClr>
          </a:solidFill>
          <a:ln/>
        </p:spPr>
      </p:sp>
      <p:sp>
        <p:nvSpPr>
          <p:cNvPr id="23" name="pt:405cf8cd-5c1c-4555-8486-afd46669830e"/>
          <p:cNvSpPr/>
          <p:nvPr/>
        </p:nvSpPr>
        <p:spPr>
          <a:xfrm rot="2700000">
            <a:off x="9450282" y="5304367"/>
            <a:ext cx="5349240" cy="31750"/>
          </a:xfrm>
          <a:prstGeom prst="rect">
            <a:avLst/>
          </a:prstGeom>
          <a:solidFill>
            <a:srgbClr val="17BEBB">
              <a:alpha val="39000"/>
            </a:srgbClr>
          </a:solidFill>
          <a:ln/>
        </p:spPr>
      </p:sp>
      <p:sp>
        <p:nvSpPr>
          <p:cNvPr id="24" name="pt:be415346-9368-47d5-b827-699f23e13d63"/>
          <p:cNvSpPr/>
          <p:nvPr/>
        </p:nvSpPr>
        <p:spPr>
          <a:xfrm>
            <a:off x="975360" y="1371600"/>
            <a:ext cx="698500" cy="50800"/>
          </a:xfrm>
          <a:prstGeom prst="roundRect">
            <a:avLst>
              <a:gd name="adj" fmla="val 50000"/>
            </a:avLst>
          </a:prstGeom>
          <a:solidFill>
            <a:srgbClr val="17BEBB"/>
          </a:solidFill>
          <a:ln/>
        </p:spPr>
      </p:sp>
      <p:sp>
        <p:nvSpPr>
          <p:cNvPr id="25" name="pt:81df3aaa-7810-42ee-a0e7-821763743c2b"/>
          <p:cNvSpPr/>
          <p:nvPr/>
        </p:nvSpPr>
        <p:spPr>
          <a:xfrm>
            <a:off x="975360" y="1562100"/>
            <a:ext cx="6339840" cy="2692400"/>
          </a:xfrm>
          <a:prstGeom prst="rect">
            <a:avLst/>
          </a:prstGeom>
          <a:noFill/>
          <a:ln/>
        </p:spPr>
        <p:txBody>
          <a:bodyPr wrap="square" lIns="0" tIns="0" rIns="0" bIns="0" rtlCol="0" anchor="ctr"/>
          <a:lstStyle/>
          <a:p>
            <a:pPr algn="l" indent="0" marL="0">
              <a:lnSpc>
                <a:spcPct val="120000"/>
              </a:lnSpc>
              <a:buNone/>
            </a:pPr>
            <a:r>
              <a:rPr lang="en-US" sz="4000" b="1" dirty="0">
                <a:solidFill>
                  <a:srgbClr val="FFFFFF"/>
                </a:solidFill>
                <a:latin typeface="Playfair Display" pitchFamily="34" charset="0"/>
                <a:ea typeface="Playfair Display" pitchFamily="34" charset="-122"/>
                <a:cs typeface="Playfair Display" pitchFamily="34" charset="-120"/>
              </a:rPr>
              <a:t>Aroma Coffee Roasters: Elevating Local Small-Batch Coffee</a:t>
            </a:r>
            <a:endParaRPr lang="en-US" sz="4000" dirty="0"/>
          </a:p>
        </p:txBody>
      </p:sp>
      <p:sp>
        <p:nvSpPr>
          <p:cNvPr id="26" name="pt:d3ac68c8-8db3-4619-8652-1204375cebf7"/>
          <p:cNvSpPr/>
          <p:nvPr/>
        </p:nvSpPr>
        <p:spPr>
          <a:xfrm>
            <a:off x="975360" y="4292600"/>
            <a:ext cx="633984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Playfair Display" pitchFamily="34" charset="0"/>
                <a:ea typeface="Playfair Display" pitchFamily="34" charset="-122"/>
                <a:cs typeface="Playfair Display" pitchFamily="34" charset="-120"/>
              </a:rPr>
              <a:t>Investment opportunity in a growing specialty coffee brand with 4 established locations</a:t>
            </a:r>
            <a:endParaRPr lang="en-US" sz="1600" dirty="0"/>
          </a:p>
        </p:txBody>
      </p:sp>
      <p:sp>
        <p:nvSpPr>
          <p:cNvPr id="27" name="pt:a63d2b6e-ca09-46f7-85ca-1e90ad519d99"/>
          <p:cNvSpPr/>
          <p:nvPr/>
        </p:nvSpPr>
        <p:spPr>
          <a:xfrm>
            <a:off x="546100" y="6305550"/>
            <a:ext cx="1231900" cy="495300"/>
          </a:xfrm>
          <a:prstGeom prst="roundRect">
            <a:avLst>
              <a:gd name="adj" fmla="val 12821"/>
            </a:avLst>
          </a:prstGeom>
          <a:solidFill>
            <a:srgbClr val="FFFFFF"/>
          </a:solidFill>
          <a:ln/>
        </p:spPr>
      </p:sp>
      <p:pic>
        <p:nvPicPr>
          <p:cNvPr id="28" name="pt:2dd6f8bd-45f3-47fc-a6fd-079bc1be7002" descr="Journey logo">    </p:cNvPr>
          <p:cNvPicPr>
            <a:picLocks noChangeAspect="1"/>
          </p:cNvPicPr>
          <p:nvPr/>
        </p:nvPicPr>
        <p:blipFill>
          <a:blip r:embed="rId3"/>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wipe(left)">
                                      <p:cBhvr>
                                        <p:cTn id="6" dur="450"/>
                                        <p:tgtEl>
                                          <p:spTgt spid="2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Scale>
                                      <p:cBhvr>
                                        <p:cTn id="10" dur="450" fill="hold"/>
                                        <p:tgtEl>
                                          <p:spTgt spid="2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animScale>
                                      <p:cBhvr>
                                        <p:cTn id="14" dur="450" fill="hold"/>
                                        <p:tgtEl>
                                          <p:spTgt spid="2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65952eb6-2533-4902-a1d6-818e1b8bee9f"/>
          <p:cNvSpPr/>
          <p:nvPr/>
        </p:nvSpPr>
        <p:spPr>
          <a:xfrm>
            <a:off x="0" y="304800"/>
            <a:ext cx="12192000" cy="12700"/>
          </a:xfrm>
          <a:prstGeom prst="rect">
            <a:avLst/>
          </a:prstGeom>
          <a:solidFill>
            <a:srgbClr val="392E2A"/>
          </a:solidFill>
          <a:ln/>
        </p:spPr>
      </p:sp>
      <p:sp>
        <p:nvSpPr>
          <p:cNvPr id="3" name="pt:0ea125af-4f35-4e00-a3ba-be5977464ad4"/>
          <p:cNvSpPr/>
          <p:nvPr/>
        </p:nvSpPr>
        <p:spPr>
          <a:xfrm>
            <a:off x="609600" y="660400"/>
            <a:ext cx="52832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Playfair Display" pitchFamily="34" charset="0"/>
                <a:ea typeface="Playfair Display" pitchFamily="34" charset="-122"/>
                <a:cs typeface="Playfair Display" pitchFamily="34" charset="-120"/>
              </a:rPr>
              <a:t>Our Proven Business Model </a:t>
            </a:r>
            <a:pPr algn="l" indent="0" marL="0">
              <a:lnSpc>
                <a:spcPct val="120000"/>
              </a:lnSpc>
              <a:buNone/>
            </a:pPr>
            <a:r>
              <a:rPr lang="en-US" sz="2800" b="1" dirty="0">
                <a:solidFill>
                  <a:srgbClr val="17BEBB"/>
                </a:solidFill>
                <a:latin typeface="Playfair Display" pitchFamily="34" charset="0"/>
                <a:ea typeface="Playfair Display" pitchFamily="34" charset="-122"/>
                <a:cs typeface="Playfair Display" pitchFamily="34" charset="-120"/>
              </a:rPr>
              <a:t>&amp; Operations</a:t>
            </a:r>
            <a:endParaRPr lang="en-US" sz="2800" dirty="0"/>
          </a:p>
        </p:txBody>
      </p:sp>
      <p:sp>
        <p:nvSpPr>
          <p:cNvPr id="4" name="pt:7f1d0fb2-30b5-4197-9e22-9fe913e648ac"/>
          <p:cNvSpPr/>
          <p:nvPr/>
        </p:nvSpPr>
        <p:spPr>
          <a:xfrm>
            <a:off x="609600" y="1739900"/>
            <a:ext cx="5283200" cy="45085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In-house small-batch roasting delivers artisanal quality while capturing higher profit margins.</a:t>
            </a:r>
            <a:endParaRPr lang="en-US" sz="1600" dirty="0"/>
          </a:p>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Direct retail store sales across our 4 operating locations generate predictable daily cash flow.</a:t>
            </a:r>
            <a:endParaRPr lang="en-US" sz="1600" dirty="0"/>
          </a:p>
          <a:p>
            <a:pPr algn="l" marL="342900" indent="-342900">
              <a:lnSpc>
                <a:spcPct val="120000"/>
              </a:lnSpc>
              <a:spcAft>
                <a:spcPts val="800"/>
              </a:spcAft>
              <a:buSzPct val="100000"/>
              <a:buChar char="•"/>
            </a:pPr>
            <a:r>
              <a:rPr lang="en-US" sz="1600" dirty="0">
                <a:solidFill>
                  <a:srgbClr val="F8F0ED"/>
                </a:solidFill>
                <a:latin typeface="Lora" pitchFamily="34" charset="0"/>
                <a:ea typeface="Lora" pitchFamily="34" charset="-122"/>
                <a:cs typeface="Lora" pitchFamily="34" charset="-120"/>
              </a:rPr>
              <a:t>Complementary wholesale bean distribution supplies local cafes and corporate offices.</a:t>
            </a:r>
            <a:endParaRPr lang="en-US" sz="1600" dirty="0"/>
          </a:p>
          <a:p>
            <a:pPr algn="l" marL="342900" indent="-342900">
              <a:lnSpc>
                <a:spcPct val="120000"/>
              </a:lnSpc>
              <a:buSzPct val="100000"/>
              <a:buChar char="•"/>
            </a:pPr>
            <a:r>
              <a:rPr lang="en-US" sz="1600" dirty="0">
                <a:solidFill>
                  <a:srgbClr val="F8F0ED"/>
                </a:solidFill>
                <a:latin typeface="Lora" pitchFamily="34" charset="0"/>
                <a:ea typeface="Lora" pitchFamily="34" charset="-122"/>
                <a:cs typeface="Lora" pitchFamily="34" charset="-120"/>
              </a:rPr>
              <a:t>Integrated operations maintain strict quality control from green bean sourcing to the final cup.</a:t>
            </a:r>
            <a:endParaRPr lang="en-US" sz="1600" dirty="0"/>
          </a:p>
        </p:txBody>
      </p:sp>
      <p:pic>
        <p:nvPicPr>
          <p:cNvPr id="5" name="pt:1ad77ca8-9434-4089-96d1-c1038df69152" descr="Freshly roasted coffee beans exiting a commercial roasting drum">    </p:cNvPr>
          <p:cNvPicPr>
            <a:picLocks noChangeAspect="1"/>
          </p:cNvPicPr>
          <p:nvPr/>
        </p:nvPicPr>
        <p:blipFill>
          <a:blip r:embed="rId1"/>
          <a:srcRect l="0" r="0" t="0" b="0"/>
          <a:stretch/>
        </p:blipFill>
        <p:spPr>
          <a:xfrm>
            <a:off x="6299200" y="609600"/>
            <a:ext cx="5283200" cy="5638800"/>
          </a:xfrm>
          <a:prstGeom prst="rect">
            <a:avLst/>
          </a:prstGeom>
        </p:spPr>
      </p:pic>
      <p:sp>
        <p:nvSpPr>
          <p:cNvPr id="6" name="pt:4be15a06-57b4-4f30-a079-dd4e41bafa42"/>
          <p:cNvSpPr/>
          <p:nvPr/>
        </p:nvSpPr>
        <p:spPr>
          <a:xfrm>
            <a:off x="546100" y="6305550"/>
            <a:ext cx="1231900" cy="495300"/>
          </a:xfrm>
          <a:prstGeom prst="roundRect">
            <a:avLst>
              <a:gd name="adj" fmla="val 12821"/>
            </a:avLst>
          </a:prstGeom>
          <a:solidFill>
            <a:srgbClr val="FFFFFF"/>
          </a:solidFill>
          <a:ln/>
        </p:spPr>
      </p:sp>
      <p:pic>
        <p:nvPicPr>
          <p:cNvPr id="7" name="pt:563408d1-1885-4975-a506-2648c5eab943" descr="Journey logo">    </p:cNvPr>
          <p:cNvPicPr>
            <a:picLocks noChangeAspect="1"/>
          </p:cNvPicPr>
          <p:nvPr/>
        </p:nvPicPr>
        <p:blipFill>
          <a:blip r:embed="rId2"/>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par>
                                <p:cTn id="24" presetID="53" presetClass="entr" presetSubtype="16" fill="hold" decel="100000" grpId="0" nodeType="withEffect">
                                  <p:stCondLst>
                                    <p:cond delay="34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50"/>
                                        <p:tgtEl>
                                          <p:spTgt spid="4">
                                            <p:txEl>
                                              <p:pRg st="3" end="3"/>
                                            </p:txEl>
                                          </p:spTgt>
                                        </p:tgtEl>
                                      </p:cBhvr>
                                    </p:animEffect>
                                    <p:animScale>
                                      <p:cBhvr>
                                        <p:cTn id="23" dur="450" fill="hold"/>
                                        <p:tgtEl>
                                          <p:spTgt spid="4">
                                            <p:txEl>
                                              <p:pRg st="3" end="3"/>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53c2e5b4-7fb4-46f3-9f6d-9927bd5a3459"/>
          <p:cNvSpPr/>
          <p:nvPr/>
        </p:nvSpPr>
        <p:spPr>
          <a:xfrm>
            <a:off x="0" y="304800"/>
            <a:ext cx="12192000" cy="12700"/>
          </a:xfrm>
          <a:prstGeom prst="rect">
            <a:avLst/>
          </a:prstGeom>
          <a:solidFill>
            <a:srgbClr val="392E2A"/>
          </a:solidFill>
          <a:ln/>
        </p:spPr>
      </p:sp>
      <p:sp>
        <p:nvSpPr>
          <p:cNvPr id="3" name="pt:d2e972b9-7b1b-4ae1-b470-bb54654683b8"/>
          <p:cNvSpPr/>
          <p:nvPr/>
        </p:nvSpPr>
        <p:spPr>
          <a:xfrm>
            <a:off x="609600" y="660400"/>
            <a:ext cx="4171950" cy="952500"/>
          </a:xfrm>
          <a:prstGeom prst="rect">
            <a:avLst/>
          </a:prstGeom>
          <a:noFill/>
          <a:ln/>
        </p:spPr>
        <p:txBody>
          <a:bodyPr wrap="square" lIns="0" tIns="0" rIns="0" bIns="0" rtlCol="0" anchor="ctr"/>
          <a:lstStyle/>
          <a:p>
            <a:pPr algn="l" indent="0" marL="0">
              <a:lnSpc>
                <a:spcPct val="120000"/>
              </a:lnSpc>
              <a:buNone/>
            </a:pPr>
            <a:r>
              <a:rPr lang="en-US" sz="2500" b="1" dirty="0">
                <a:solidFill>
                  <a:srgbClr val="F8F0ED"/>
                </a:solidFill>
                <a:latin typeface="Playfair Display" pitchFamily="34" charset="0"/>
                <a:ea typeface="Playfair Display" pitchFamily="34" charset="-122"/>
                <a:cs typeface="Playfair Display" pitchFamily="34" charset="-120"/>
              </a:rPr>
              <a:t>Current Market Presence &amp; </a:t>
            </a:r>
            <a:pPr algn="l" indent="0" marL="0">
              <a:lnSpc>
                <a:spcPct val="120000"/>
              </a:lnSpc>
              <a:buNone/>
            </a:pPr>
            <a:r>
              <a:rPr lang="en-US" sz="2500" b="1" dirty="0">
                <a:solidFill>
                  <a:srgbClr val="17BEBB"/>
                </a:solidFill>
                <a:latin typeface="Playfair Display" pitchFamily="34" charset="0"/>
                <a:ea typeface="Playfair Display" pitchFamily="34" charset="-122"/>
                <a:cs typeface="Playfair Display" pitchFamily="34" charset="-120"/>
              </a:rPr>
              <a:t>Community Footprint</a:t>
            </a:r>
            <a:endParaRPr lang="en-US" sz="2500" dirty="0"/>
          </a:p>
        </p:txBody>
      </p:sp>
      <p:sp>
        <p:nvSpPr>
          <p:cNvPr id="4" name="pt:e618bf65-9e23-43f8-9adf-d009a5ef3ecf"/>
          <p:cNvSpPr/>
          <p:nvPr/>
        </p:nvSpPr>
        <p:spPr>
          <a:xfrm>
            <a:off x="5137150" y="609600"/>
            <a:ext cx="6445250" cy="5638800"/>
          </a:xfrm>
          <a:prstGeom prst="roundRect">
            <a:avLst>
              <a:gd name="adj" fmla="val 1802"/>
            </a:avLst>
          </a:prstGeom>
          <a:solidFill>
            <a:srgbClr val="EA7C5C"/>
          </a:solidFill>
          <a:ln/>
        </p:spPr>
      </p:sp>
      <p:sp>
        <p:nvSpPr>
          <p:cNvPr id="5" name="pt:7d67daa8-1230-45d3-a887-ad7c5b8c08ef"/>
          <p:cNvSpPr/>
          <p:nvPr/>
        </p:nvSpPr>
        <p:spPr>
          <a:xfrm>
            <a:off x="5365750" y="812800"/>
            <a:ext cx="609600" cy="1308100"/>
          </a:xfrm>
          <a:prstGeom prst="rect">
            <a:avLst/>
          </a:prstGeom>
          <a:noFill/>
          <a:ln/>
        </p:spPr>
        <p:txBody>
          <a:bodyPr wrap="square" lIns="0" tIns="0" rIns="0" bIns="0" rtlCol="0" anchor="ctr"/>
          <a:lstStyle/>
          <a:p>
            <a:pPr algn="l" indent="0" marL="0">
              <a:lnSpc>
                <a:spcPct val="120000"/>
              </a:lnSpc>
              <a:buNone/>
            </a:pPr>
            <a:r>
              <a:rPr lang="en-US" sz="2200" b="1" dirty="0">
                <a:solidFill>
                  <a:srgbClr val="0B0F1A"/>
                </a:solidFill>
                <a:latin typeface="Playfair Display" pitchFamily="34" charset="0"/>
                <a:ea typeface="Playfair Display" pitchFamily="34" charset="-122"/>
                <a:cs typeface="Playfair Display" pitchFamily="34" charset="-120"/>
              </a:rPr>
              <a:t>01</a:t>
            </a:r>
            <a:endParaRPr lang="en-US" sz="2200" dirty="0"/>
          </a:p>
        </p:txBody>
      </p:sp>
      <p:sp>
        <p:nvSpPr>
          <p:cNvPr id="6" name="pt:164be339-21ec-41df-9ce8-3f748a5d26d2"/>
          <p:cNvSpPr/>
          <p:nvPr/>
        </p:nvSpPr>
        <p:spPr>
          <a:xfrm>
            <a:off x="6089650" y="812800"/>
            <a:ext cx="5238750" cy="1308100"/>
          </a:xfrm>
          <a:prstGeom prst="rect">
            <a:avLst/>
          </a:prstGeom>
          <a:noFill/>
          <a:ln/>
        </p:spPr>
        <p:txBody>
          <a:bodyPr wrap="square" lIns="0" tIns="0" rIns="0" bIns="0" rtlCol="0" anchor="ctr"/>
          <a:lstStyle/>
          <a:p>
            <a:pPr algn="l" indent="0" marL="0">
              <a:lnSpc>
                <a:spcPct val="120000"/>
              </a:lnSpc>
              <a:buNone/>
            </a:pPr>
            <a:r>
              <a:rPr lang="en-US" sz="1500" dirty="0">
                <a:solidFill>
                  <a:srgbClr val="0B0F1A"/>
                </a:solidFill>
                <a:latin typeface="Lora" pitchFamily="34" charset="0"/>
                <a:ea typeface="Lora" pitchFamily="34" charset="-122"/>
                <a:cs typeface="Lora" pitchFamily="34" charset="-120"/>
              </a:rPr>
              <a:t>Established footprint operating 4 strategically positioned stores across high-density local districts.</a:t>
            </a:r>
            <a:endParaRPr lang="en-US" sz="1500" dirty="0"/>
          </a:p>
        </p:txBody>
      </p:sp>
      <p:sp>
        <p:nvSpPr>
          <p:cNvPr id="7" name="pt:fffb95cd-5dcb-479a-aa62-deb920af5dff"/>
          <p:cNvSpPr/>
          <p:nvPr/>
        </p:nvSpPr>
        <p:spPr>
          <a:xfrm>
            <a:off x="5365750" y="2120900"/>
            <a:ext cx="5988050" cy="12700"/>
          </a:xfrm>
          <a:prstGeom prst="rect">
            <a:avLst/>
          </a:prstGeom>
          <a:solidFill>
            <a:srgbClr val="9C5645"/>
          </a:solidFill>
          <a:ln/>
        </p:spPr>
      </p:sp>
      <p:sp>
        <p:nvSpPr>
          <p:cNvPr id="8" name="pt:a330835c-5a7d-4aba-85ff-309afb5e8136"/>
          <p:cNvSpPr/>
          <p:nvPr/>
        </p:nvSpPr>
        <p:spPr>
          <a:xfrm>
            <a:off x="5365750" y="2120900"/>
            <a:ext cx="609600" cy="1308100"/>
          </a:xfrm>
          <a:prstGeom prst="rect">
            <a:avLst/>
          </a:prstGeom>
          <a:noFill/>
          <a:ln/>
        </p:spPr>
        <p:txBody>
          <a:bodyPr wrap="square" lIns="0" tIns="0" rIns="0" bIns="0" rtlCol="0" anchor="ctr"/>
          <a:lstStyle/>
          <a:p>
            <a:pPr algn="l" indent="0" marL="0">
              <a:lnSpc>
                <a:spcPct val="120000"/>
              </a:lnSpc>
              <a:buNone/>
            </a:pPr>
            <a:r>
              <a:rPr lang="en-US" sz="2200" b="1" dirty="0">
                <a:solidFill>
                  <a:srgbClr val="0B0F1A"/>
                </a:solidFill>
                <a:latin typeface="Playfair Display" pitchFamily="34" charset="0"/>
                <a:ea typeface="Playfair Display" pitchFamily="34" charset="-122"/>
                <a:cs typeface="Playfair Display" pitchFamily="34" charset="-120"/>
              </a:rPr>
              <a:t>02</a:t>
            </a:r>
            <a:endParaRPr lang="en-US" sz="2200" dirty="0"/>
          </a:p>
        </p:txBody>
      </p:sp>
      <p:sp>
        <p:nvSpPr>
          <p:cNvPr id="9" name="pt:d2581f64-37e5-45e3-95d5-f0da49b36dfe"/>
          <p:cNvSpPr/>
          <p:nvPr/>
        </p:nvSpPr>
        <p:spPr>
          <a:xfrm>
            <a:off x="6089650" y="2120900"/>
            <a:ext cx="5238750" cy="1308100"/>
          </a:xfrm>
          <a:prstGeom prst="rect">
            <a:avLst/>
          </a:prstGeom>
          <a:noFill/>
          <a:ln/>
        </p:spPr>
        <p:txBody>
          <a:bodyPr wrap="square" lIns="0" tIns="0" rIns="0" bIns="0" rtlCol="0" anchor="ctr"/>
          <a:lstStyle/>
          <a:p>
            <a:pPr algn="l" indent="0" marL="0">
              <a:lnSpc>
                <a:spcPct val="120000"/>
              </a:lnSpc>
              <a:buNone/>
            </a:pPr>
            <a:r>
              <a:rPr lang="en-US" sz="1500" dirty="0">
                <a:solidFill>
                  <a:srgbClr val="0B0F1A"/>
                </a:solidFill>
                <a:latin typeface="Lora" pitchFamily="34" charset="0"/>
                <a:ea typeface="Lora" pitchFamily="34" charset="-122"/>
                <a:cs typeface="Lora" pitchFamily="34" charset="-120"/>
              </a:rPr>
              <a:t>Strong brand equity built on dedicated craft coffee preparation and active community engagement.</a:t>
            </a:r>
            <a:endParaRPr lang="en-US" sz="1500" dirty="0"/>
          </a:p>
        </p:txBody>
      </p:sp>
      <p:sp>
        <p:nvSpPr>
          <p:cNvPr id="10" name="pt:23caf7fc-1c25-4687-8636-958d0a6e3aae"/>
          <p:cNvSpPr/>
          <p:nvPr/>
        </p:nvSpPr>
        <p:spPr>
          <a:xfrm>
            <a:off x="5365750" y="3429000"/>
            <a:ext cx="5988050" cy="12700"/>
          </a:xfrm>
          <a:prstGeom prst="rect">
            <a:avLst/>
          </a:prstGeom>
          <a:solidFill>
            <a:srgbClr val="9C5645"/>
          </a:solidFill>
          <a:ln/>
        </p:spPr>
      </p:sp>
      <p:sp>
        <p:nvSpPr>
          <p:cNvPr id="11" name="pt:908bde5f-a728-4529-8413-b444038c61eb"/>
          <p:cNvSpPr/>
          <p:nvPr/>
        </p:nvSpPr>
        <p:spPr>
          <a:xfrm>
            <a:off x="5365750" y="3429000"/>
            <a:ext cx="609600" cy="1308100"/>
          </a:xfrm>
          <a:prstGeom prst="rect">
            <a:avLst/>
          </a:prstGeom>
          <a:noFill/>
          <a:ln/>
        </p:spPr>
        <p:txBody>
          <a:bodyPr wrap="square" lIns="0" tIns="0" rIns="0" bIns="0" rtlCol="0" anchor="ctr"/>
          <a:lstStyle/>
          <a:p>
            <a:pPr algn="l" indent="0" marL="0">
              <a:lnSpc>
                <a:spcPct val="120000"/>
              </a:lnSpc>
              <a:buNone/>
            </a:pPr>
            <a:r>
              <a:rPr lang="en-US" sz="2200" b="1" dirty="0">
                <a:solidFill>
                  <a:srgbClr val="0B0F1A"/>
                </a:solidFill>
                <a:latin typeface="Playfair Display" pitchFamily="34" charset="0"/>
                <a:ea typeface="Playfair Display" pitchFamily="34" charset="-122"/>
                <a:cs typeface="Playfair Display" pitchFamily="34" charset="-120"/>
              </a:rPr>
              <a:t>03</a:t>
            </a:r>
            <a:endParaRPr lang="en-US" sz="2200" dirty="0"/>
          </a:p>
        </p:txBody>
      </p:sp>
      <p:sp>
        <p:nvSpPr>
          <p:cNvPr id="12" name="pt:780856d7-4b05-4cd7-b27a-0bd2073cf073"/>
          <p:cNvSpPr/>
          <p:nvPr/>
        </p:nvSpPr>
        <p:spPr>
          <a:xfrm>
            <a:off x="6089650" y="3429000"/>
            <a:ext cx="5238750" cy="1308100"/>
          </a:xfrm>
          <a:prstGeom prst="rect">
            <a:avLst/>
          </a:prstGeom>
          <a:noFill/>
          <a:ln/>
        </p:spPr>
        <p:txBody>
          <a:bodyPr wrap="square" lIns="0" tIns="0" rIns="0" bIns="0" rtlCol="0" anchor="ctr"/>
          <a:lstStyle/>
          <a:p>
            <a:pPr algn="l" indent="0" marL="0">
              <a:lnSpc>
                <a:spcPct val="120000"/>
              </a:lnSpc>
              <a:buNone/>
            </a:pPr>
            <a:r>
              <a:rPr lang="en-US" sz="1500" dirty="0">
                <a:solidFill>
                  <a:srgbClr val="0B0F1A"/>
                </a:solidFill>
                <a:latin typeface="Lora" pitchFamily="34" charset="0"/>
                <a:ea typeface="Lora" pitchFamily="34" charset="-122"/>
                <a:cs typeface="Lora" pitchFamily="34" charset="-120"/>
              </a:rPr>
              <a:t>Consistent customer foot traffic driven by recurring morning routines and strong brand loyalty.</a:t>
            </a:r>
            <a:endParaRPr lang="en-US" sz="1500" dirty="0"/>
          </a:p>
        </p:txBody>
      </p:sp>
      <p:sp>
        <p:nvSpPr>
          <p:cNvPr id="13" name="pt:b3b37020-0961-467f-8a38-c85029b86c51"/>
          <p:cNvSpPr/>
          <p:nvPr/>
        </p:nvSpPr>
        <p:spPr>
          <a:xfrm>
            <a:off x="5365750" y="4737100"/>
            <a:ext cx="5988050" cy="12700"/>
          </a:xfrm>
          <a:prstGeom prst="rect">
            <a:avLst/>
          </a:prstGeom>
          <a:solidFill>
            <a:srgbClr val="9C5645"/>
          </a:solidFill>
          <a:ln/>
        </p:spPr>
      </p:sp>
      <p:sp>
        <p:nvSpPr>
          <p:cNvPr id="14" name="pt:10a4e935-696c-480d-b739-0607af28725b"/>
          <p:cNvSpPr/>
          <p:nvPr/>
        </p:nvSpPr>
        <p:spPr>
          <a:xfrm>
            <a:off x="5365750" y="4737100"/>
            <a:ext cx="609600" cy="1308100"/>
          </a:xfrm>
          <a:prstGeom prst="rect">
            <a:avLst/>
          </a:prstGeom>
          <a:noFill/>
          <a:ln/>
        </p:spPr>
        <p:txBody>
          <a:bodyPr wrap="square" lIns="0" tIns="0" rIns="0" bIns="0" rtlCol="0" anchor="ctr"/>
          <a:lstStyle/>
          <a:p>
            <a:pPr algn="l" indent="0" marL="0">
              <a:lnSpc>
                <a:spcPct val="120000"/>
              </a:lnSpc>
              <a:buNone/>
            </a:pPr>
            <a:r>
              <a:rPr lang="en-US" sz="2200" b="1" dirty="0">
                <a:solidFill>
                  <a:srgbClr val="0B0F1A"/>
                </a:solidFill>
                <a:latin typeface="Playfair Display" pitchFamily="34" charset="0"/>
                <a:ea typeface="Playfair Display" pitchFamily="34" charset="-122"/>
                <a:cs typeface="Playfair Display" pitchFamily="34" charset="-120"/>
              </a:rPr>
              <a:t>04</a:t>
            </a:r>
            <a:endParaRPr lang="en-US" sz="2200" dirty="0"/>
          </a:p>
        </p:txBody>
      </p:sp>
      <p:sp>
        <p:nvSpPr>
          <p:cNvPr id="15" name="pt:be8e3be0-15ec-4b5b-9223-8635569ef963"/>
          <p:cNvSpPr/>
          <p:nvPr/>
        </p:nvSpPr>
        <p:spPr>
          <a:xfrm>
            <a:off x="6089650" y="4737100"/>
            <a:ext cx="5238750" cy="1308100"/>
          </a:xfrm>
          <a:prstGeom prst="rect">
            <a:avLst/>
          </a:prstGeom>
          <a:noFill/>
          <a:ln/>
        </p:spPr>
        <p:txBody>
          <a:bodyPr wrap="square" lIns="0" tIns="0" rIns="0" bIns="0" rtlCol="0" anchor="ctr"/>
          <a:lstStyle/>
          <a:p>
            <a:pPr algn="l" indent="0" marL="0">
              <a:lnSpc>
                <a:spcPct val="120000"/>
              </a:lnSpc>
              <a:buNone/>
            </a:pPr>
            <a:r>
              <a:rPr lang="en-US" sz="1500" dirty="0">
                <a:solidFill>
                  <a:srgbClr val="0B0F1A"/>
                </a:solidFill>
                <a:latin typeface="Lora" pitchFamily="34" charset="0"/>
                <a:ea typeface="Lora" pitchFamily="34" charset="-122"/>
                <a:cs typeface="Lora" pitchFamily="34" charset="-120"/>
              </a:rPr>
              <a:t>Proven store-level economics that demonstrate demand for specialty small-batch roasting.</a:t>
            </a:r>
            <a:endParaRPr lang="en-US" sz="1500" dirty="0"/>
          </a:p>
        </p:txBody>
      </p:sp>
      <p:sp>
        <p:nvSpPr>
          <p:cNvPr id="16" name="pt:1b550e06-28b0-492b-bb51-523bba9be9c5"/>
          <p:cNvSpPr/>
          <p:nvPr/>
        </p:nvSpPr>
        <p:spPr>
          <a:xfrm>
            <a:off x="546100" y="6305550"/>
            <a:ext cx="1231900" cy="495300"/>
          </a:xfrm>
          <a:prstGeom prst="roundRect">
            <a:avLst>
              <a:gd name="adj" fmla="val 12821"/>
            </a:avLst>
          </a:prstGeom>
          <a:solidFill>
            <a:srgbClr val="FFFFFF"/>
          </a:solidFill>
          <a:ln/>
        </p:spPr>
      </p:sp>
      <p:pic>
        <p:nvPicPr>
          <p:cNvPr id="17" name="pt:e3e8a148-266c-480d-ab07-19755f11d89b" descr="Journey logo">    </p:cNvPr>
          <p:cNvPicPr>
            <a:picLocks noChangeAspect="1"/>
          </p:cNvPicPr>
          <p:nvPr/>
        </p:nvPicPr>
        <p:blipFill>
          <a:blip r:embed="rId1"/>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animScale>
                                      <p:cBhvr>
                                        <p:cTn id="11" dur="450" fill="hold"/>
                                        <p:tgtEl>
                                          <p:spTgt spid="4"/>
                                        </p:tgtEl>
                                      </p:cBhvr>
                                      <p:from x="88000" y="88000"/>
                                      <p:to x="100000" y="100000"/>
                                    </p:animScale>
                                  </p:childTnLst>
                                </p:cTn>
                              </p:par>
                              <p:par>
                                <p:cTn id="16" presetID="53" presetClass="entr" presetSubtype="16" fill="hold" decel="100000" nodeType="withEffect">
                                  <p:stCondLst>
                                    <p:cond delay="2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animScale>
                                      <p:cBhvr>
                                        <p:cTn id="15"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0F0B"/>
        </a:solidFill>
      </p:bgPr>
    </p:bg>
    <p:spTree>
      <p:nvGrpSpPr>
        <p:cNvPr id="1" name=""/>
        <p:cNvGrpSpPr/>
        <p:nvPr/>
      </p:nvGrpSpPr>
      <p:grpSpPr>
        <a:xfrm>
          <a:off x="0" y="0"/>
          <a:ext cx="0" cy="0"/>
          <a:chOff x="0" y="0"/>
          <a:chExt cx="0" cy="0"/>
        </a:xfrm>
      </p:grpSpPr>
      <p:sp>
        <p:nvSpPr>
          <p:cNvPr id="2" name="pt:39b786f4-c2d5-466d-82a6-436b263af514"/>
          <p:cNvSpPr/>
          <p:nvPr/>
        </p:nvSpPr>
        <p:spPr>
          <a:xfrm>
            <a:off x="0" y="304800"/>
            <a:ext cx="12192000" cy="12700"/>
          </a:xfrm>
          <a:prstGeom prst="rect">
            <a:avLst/>
          </a:prstGeom>
          <a:solidFill>
            <a:srgbClr val="392E2A"/>
          </a:solidFill>
          <a:ln/>
        </p:spPr>
      </p:sp>
      <p:sp>
        <p:nvSpPr>
          <p:cNvPr id="3" name="pt:81ba676c-c0d7-46ad-9350-b740e4c5cf30"/>
          <p:cNvSpPr/>
          <p:nvPr/>
        </p:nvSpPr>
        <p:spPr>
          <a:xfrm>
            <a:off x="609600" y="660400"/>
            <a:ext cx="109728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F8F0ED"/>
                </a:solidFill>
                <a:latin typeface="Playfair Display" pitchFamily="34" charset="0"/>
                <a:ea typeface="Playfair Display" pitchFamily="34" charset="-122"/>
                <a:cs typeface="Playfair Display" pitchFamily="34" charset="-120"/>
              </a:rPr>
              <a:t>Phased Growth </a:t>
            </a:r>
            <a:pPr algn="l" indent="0" marL="0">
              <a:lnSpc>
                <a:spcPct val="120000"/>
              </a:lnSpc>
              <a:buNone/>
            </a:pPr>
            <a:r>
              <a:rPr lang="en-US" sz="3000" b="1" dirty="0">
                <a:solidFill>
                  <a:srgbClr val="17BEBB"/>
                </a:solidFill>
                <a:latin typeface="Playfair Display" pitchFamily="34" charset="0"/>
                <a:ea typeface="Playfair Display" pitchFamily="34" charset="-122"/>
                <a:cs typeface="Playfair Display" pitchFamily="34" charset="-120"/>
              </a:rPr>
              <a:t>Strategy</a:t>
            </a:r>
            <a:endParaRPr lang="en-US" sz="3000" dirty="0"/>
          </a:p>
        </p:txBody>
      </p:sp>
      <p:sp>
        <p:nvSpPr>
          <p:cNvPr id="4" name="pt:4777568f-e46c-4661-87cc-8485a8c26d4e"/>
          <p:cNvSpPr/>
          <p:nvPr/>
        </p:nvSpPr>
        <p:spPr>
          <a:xfrm>
            <a:off x="609600" y="1739900"/>
            <a:ext cx="3763433" cy="584200"/>
          </a:xfrm>
          <a:prstGeom prst="chevron">
            <a:avLst/>
          </a:prstGeom>
          <a:solidFill>
            <a:srgbClr val="834634"/>
          </a:solidFill>
          <a:ln/>
        </p:spPr>
      </p:sp>
      <p:sp>
        <p:nvSpPr>
          <p:cNvPr id="5" name="pt:1936539d-b707-4a9d-8c2b-b3f7a2c253fa"/>
          <p:cNvSpPr/>
          <p:nvPr/>
        </p:nvSpPr>
        <p:spPr>
          <a:xfrm>
            <a:off x="863600"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FFFFFF"/>
                </a:solidFill>
                <a:latin typeface="Playfair Display" pitchFamily="34" charset="0"/>
                <a:ea typeface="Playfair Display" pitchFamily="34" charset="-122"/>
                <a:cs typeface="Playfair Display" pitchFamily="34" charset="-120"/>
              </a:rPr>
              <a:t>Phase 1</a:t>
            </a:r>
            <a:endParaRPr lang="en-US" sz="1500" dirty="0"/>
          </a:p>
        </p:txBody>
      </p:sp>
      <p:sp>
        <p:nvSpPr>
          <p:cNvPr id="6" name="pt:ecc5ca08-3e60-4dd6-9a9d-2ea873b0ddb7"/>
          <p:cNvSpPr/>
          <p:nvPr/>
        </p:nvSpPr>
        <p:spPr>
          <a:xfrm>
            <a:off x="673100" y="2578100"/>
            <a:ext cx="3598333" cy="3746500"/>
          </a:xfrm>
          <a:prstGeom prst="roundRect">
            <a:avLst>
              <a:gd name="adj" fmla="val 2824"/>
            </a:avLst>
          </a:prstGeom>
          <a:solidFill>
            <a:srgbClr val="F8F0ED">
              <a:alpha val="12000"/>
            </a:srgbClr>
          </a:solidFill>
          <a:ln/>
        </p:spPr>
      </p:sp>
      <p:sp>
        <p:nvSpPr>
          <p:cNvPr id="7" name="pt:ac317c6b-33ee-46a4-9e2c-277e4b0122bc"/>
          <p:cNvSpPr/>
          <p:nvPr/>
        </p:nvSpPr>
        <p:spPr>
          <a:xfrm>
            <a:off x="609600" y="2501900"/>
            <a:ext cx="3598333" cy="3746500"/>
          </a:xfrm>
          <a:prstGeom prst="roundRect">
            <a:avLst>
              <a:gd name="adj" fmla="val 2824"/>
            </a:avLst>
          </a:prstGeom>
          <a:solidFill>
            <a:srgbClr val="1B0F0B"/>
          </a:solidFill>
          <a:ln w="12700">
            <a:solidFill>
              <a:srgbClr val="392E2A"/>
            </a:solidFill>
            <a:prstDash val="solid"/>
          </a:ln>
        </p:spPr>
      </p:sp>
      <p:sp>
        <p:nvSpPr>
          <p:cNvPr id="8" name="pt:cff395aa-a678-4396-a5a8-d59e6c04c16d"/>
          <p:cNvSpPr/>
          <p:nvPr/>
        </p:nvSpPr>
        <p:spPr>
          <a:xfrm>
            <a:off x="812800" y="2654300"/>
            <a:ext cx="3191933" cy="508000"/>
          </a:xfrm>
          <a:prstGeom prst="rect">
            <a:avLst/>
          </a:prstGeom>
          <a:noFill/>
          <a:ln/>
        </p:spPr>
        <p:txBody>
          <a:bodyPr wrap="square" lIns="0" tIns="0" rIns="0" bIns="0" rtlCol="0" anchor="t"/>
          <a:lstStyle/>
          <a:p>
            <a:pPr algn="l" indent="0" marL="0">
              <a:lnSpc>
                <a:spcPct val="120000"/>
              </a:lnSpc>
              <a:buNone/>
            </a:pPr>
            <a:r>
              <a:rPr lang="en-US" sz="1500" b="1" dirty="0">
                <a:solidFill>
                  <a:srgbClr val="F8F0ED"/>
                </a:solidFill>
                <a:latin typeface="Playfair Display" pitchFamily="34" charset="0"/>
                <a:ea typeface="Playfair Display" pitchFamily="34" charset="-122"/>
                <a:cs typeface="Playfair Display" pitchFamily="34" charset="-120"/>
              </a:rPr>
              <a:t>Optimize &amp; Scale Existing Operations</a:t>
            </a:r>
            <a:endParaRPr lang="en-US" sz="1500" dirty="0"/>
          </a:p>
        </p:txBody>
      </p:sp>
      <p:sp>
        <p:nvSpPr>
          <p:cNvPr id="9" name="pt:a5c3c6aa-5542-4ba4-8a89-b0beff779131"/>
          <p:cNvSpPr/>
          <p:nvPr/>
        </p:nvSpPr>
        <p:spPr>
          <a:xfrm>
            <a:off x="812800"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Maximize roasting capacity at current facilities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Drive higher throughput across existing 4 stores</a:t>
            </a:r>
            <a:endParaRPr lang="en-US" sz="1300" dirty="0"/>
          </a:p>
        </p:txBody>
      </p:sp>
      <p:sp>
        <p:nvSpPr>
          <p:cNvPr id="10" name="pt:2ae2ab8c-82f4-47d0-b8dd-4ea44346047b"/>
          <p:cNvSpPr/>
          <p:nvPr/>
        </p:nvSpPr>
        <p:spPr>
          <a:xfrm>
            <a:off x="4296833" y="1739900"/>
            <a:ext cx="3763433" cy="584200"/>
          </a:xfrm>
          <a:prstGeom prst="chevron">
            <a:avLst/>
          </a:prstGeom>
          <a:solidFill>
            <a:srgbClr val="B76148"/>
          </a:solidFill>
          <a:ln/>
        </p:spPr>
      </p:sp>
      <p:sp>
        <p:nvSpPr>
          <p:cNvPr id="11" name="pt:5bda39e0-2ffa-4d1f-ba95-441ac21c28e7"/>
          <p:cNvSpPr/>
          <p:nvPr/>
        </p:nvSpPr>
        <p:spPr>
          <a:xfrm>
            <a:off x="4550833"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0B0F1A"/>
                </a:solidFill>
                <a:latin typeface="Playfair Display" pitchFamily="34" charset="0"/>
                <a:ea typeface="Playfair Display" pitchFamily="34" charset="-122"/>
                <a:cs typeface="Playfair Display" pitchFamily="34" charset="-120"/>
              </a:rPr>
              <a:t>Phase 2</a:t>
            </a:r>
            <a:endParaRPr lang="en-US" sz="1500" dirty="0"/>
          </a:p>
        </p:txBody>
      </p:sp>
      <p:sp>
        <p:nvSpPr>
          <p:cNvPr id="12" name="pt:a16cf6b4-3e2c-4547-a473-8b09a551e00d"/>
          <p:cNvSpPr/>
          <p:nvPr/>
        </p:nvSpPr>
        <p:spPr>
          <a:xfrm>
            <a:off x="4360333" y="2578100"/>
            <a:ext cx="3598333" cy="3746500"/>
          </a:xfrm>
          <a:prstGeom prst="roundRect">
            <a:avLst>
              <a:gd name="adj" fmla="val 2824"/>
            </a:avLst>
          </a:prstGeom>
          <a:solidFill>
            <a:srgbClr val="F8F0ED">
              <a:alpha val="12000"/>
            </a:srgbClr>
          </a:solidFill>
          <a:ln/>
        </p:spPr>
      </p:sp>
      <p:sp>
        <p:nvSpPr>
          <p:cNvPr id="13" name="pt:27c881f6-5447-43c2-9005-93f30c14f56e"/>
          <p:cNvSpPr/>
          <p:nvPr/>
        </p:nvSpPr>
        <p:spPr>
          <a:xfrm>
            <a:off x="4296833" y="2501900"/>
            <a:ext cx="3598333" cy="3746500"/>
          </a:xfrm>
          <a:prstGeom prst="roundRect">
            <a:avLst>
              <a:gd name="adj" fmla="val 2824"/>
            </a:avLst>
          </a:prstGeom>
          <a:solidFill>
            <a:srgbClr val="1B0F0B"/>
          </a:solidFill>
          <a:ln w="12700">
            <a:solidFill>
              <a:srgbClr val="392E2A"/>
            </a:solidFill>
            <a:prstDash val="solid"/>
          </a:ln>
        </p:spPr>
      </p:sp>
      <p:sp>
        <p:nvSpPr>
          <p:cNvPr id="14" name="pt:189344da-1c6e-4a4d-8122-d04810a8b9b4"/>
          <p:cNvSpPr/>
          <p:nvPr/>
        </p:nvSpPr>
        <p:spPr>
          <a:xfrm>
            <a:off x="4500033"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Expand Retail Footprint</a:t>
            </a:r>
            <a:endParaRPr lang="en-US" sz="1600" dirty="0"/>
          </a:p>
        </p:txBody>
      </p:sp>
      <p:sp>
        <p:nvSpPr>
          <p:cNvPr id="15" name="pt:6f219179-4ef0-43f3-851c-1765a4810996"/>
          <p:cNvSpPr/>
          <p:nvPr/>
        </p:nvSpPr>
        <p:spPr>
          <a:xfrm>
            <a:off x="4500033"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Target high-density neighborhood retail sites</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Launch next wave of community-focused cafes</a:t>
            </a:r>
            <a:endParaRPr lang="en-US" sz="1300" dirty="0"/>
          </a:p>
        </p:txBody>
      </p:sp>
      <p:sp>
        <p:nvSpPr>
          <p:cNvPr id="16" name="pt:70fa8ce5-8da3-4611-9251-7865d3a31e10"/>
          <p:cNvSpPr/>
          <p:nvPr/>
        </p:nvSpPr>
        <p:spPr>
          <a:xfrm>
            <a:off x="7984067" y="1739900"/>
            <a:ext cx="3598333" cy="584200"/>
          </a:xfrm>
          <a:prstGeom prst="chevron">
            <a:avLst/>
          </a:prstGeom>
          <a:solidFill>
            <a:srgbClr val="EA7C5C"/>
          </a:solidFill>
          <a:ln/>
        </p:spPr>
      </p:sp>
      <p:sp>
        <p:nvSpPr>
          <p:cNvPr id="17" name="pt:95243e62-6db8-46f3-a5f2-e7552de4e5b0"/>
          <p:cNvSpPr/>
          <p:nvPr/>
        </p:nvSpPr>
        <p:spPr>
          <a:xfrm>
            <a:off x="8238067" y="1739900"/>
            <a:ext cx="3179233" cy="584200"/>
          </a:xfrm>
          <a:prstGeom prst="rect">
            <a:avLst/>
          </a:prstGeom>
          <a:noFill/>
          <a:ln/>
        </p:spPr>
        <p:txBody>
          <a:bodyPr wrap="square" lIns="0" tIns="0" rIns="0" bIns="0" rtlCol="0" anchor="ctr"/>
          <a:lstStyle/>
          <a:p>
            <a:pPr algn="ctr" indent="0" marL="0">
              <a:lnSpc>
                <a:spcPct val="120000"/>
              </a:lnSpc>
              <a:buNone/>
            </a:pPr>
            <a:r>
              <a:rPr lang="en-US" sz="1500" b="1" dirty="0">
                <a:solidFill>
                  <a:srgbClr val="0B0F1A"/>
                </a:solidFill>
                <a:latin typeface="Playfair Display" pitchFamily="34" charset="0"/>
                <a:ea typeface="Playfair Display" pitchFamily="34" charset="-122"/>
                <a:cs typeface="Playfair Display" pitchFamily="34" charset="-120"/>
              </a:rPr>
              <a:t>Phase 3</a:t>
            </a:r>
            <a:endParaRPr lang="en-US" sz="1500" dirty="0"/>
          </a:p>
        </p:txBody>
      </p:sp>
      <p:sp>
        <p:nvSpPr>
          <p:cNvPr id="18" name="pt:2f77b972-6144-475e-a80a-d70fc344c1b6"/>
          <p:cNvSpPr/>
          <p:nvPr/>
        </p:nvSpPr>
        <p:spPr>
          <a:xfrm>
            <a:off x="8047567" y="2578100"/>
            <a:ext cx="3598333" cy="3746500"/>
          </a:xfrm>
          <a:prstGeom prst="roundRect">
            <a:avLst>
              <a:gd name="adj" fmla="val 2824"/>
            </a:avLst>
          </a:prstGeom>
          <a:solidFill>
            <a:srgbClr val="F8F0ED">
              <a:alpha val="12000"/>
            </a:srgbClr>
          </a:solidFill>
          <a:ln/>
        </p:spPr>
      </p:sp>
      <p:sp>
        <p:nvSpPr>
          <p:cNvPr id="19" name="pt:6b0cd496-f080-45b4-aec4-510d4ea2925a"/>
          <p:cNvSpPr/>
          <p:nvPr/>
        </p:nvSpPr>
        <p:spPr>
          <a:xfrm>
            <a:off x="7984067" y="2501900"/>
            <a:ext cx="3598333" cy="3746500"/>
          </a:xfrm>
          <a:prstGeom prst="roundRect">
            <a:avLst>
              <a:gd name="adj" fmla="val 2824"/>
            </a:avLst>
          </a:prstGeom>
          <a:solidFill>
            <a:srgbClr val="1B0F0B"/>
          </a:solidFill>
          <a:ln w="12700">
            <a:solidFill>
              <a:srgbClr val="392E2A"/>
            </a:solidFill>
            <a:prstDash val="solid"/>
          </a:ln>
        </p:spPr>
      </p:sp>
      <p:sp>
        <p:nvSpPr>
          <p:cNvPr id="20" name="pt:357f1097-f3f8-44a9-8a5a-7873620a85f9"/>
          <p:cNvSpPr/>
          <p:nvPr/>
        </p:nvSpPr>
        <p:spPr>
          <a:xfrm>
            <a:off x="8187267" y="2654300"/>
            <a:ext cx="3191933" cy="508000"/>
          </a:xfrm>
          <a:prstGeom prst="rect">
            <a:avLst/>
          </a:prstGeom>
          <a:noFill/>
          <a:ln/>
        </p:spPr>
        <p:txBody>
          <a:bodyPr wrap="square" lIns="0" tIns="0" rIns="0" bIns="0" rtlCol="0" anchor="t"/>
          <a:lstStyle/>
          <a:p>
            <a:pPr algn="l" indent="0" marL="0">
              <a:lnSpc>
                <a:spcPct val="120000"/>
              </a:lnSpc>
              <a:buNone/>
            </a:pPr>
            <a:r>
              <a:rPr lang="en-US" sz="1600" b="1" dirty="0">
                <a:solidFill>
                  <a:srgbClr val="F8F0ED"/>
                </a:solidFill>
                <a:latin typeface="Playfair Display" pitchFamily="34" charset="0"/>
                <a:ea typeface="Playfair Display" pitchFamily="34" charset="-122"/>
                <a:cs typeface="Playfair Display" pitchFamily="34" charset="-120"/>
              </a:rPr>
              <a:t>Amplify Wholesale &amp; Digital</a:t>
            </a:r>
            <a:endParaRPr lang="en-US" sz="1600" dirty="0"/>
          </a:p>
        </p:txBody>
      </p:sp>
      <p:sp>
        <p:nvSpPr>
          <p:cNvPr id="21" name="pt:0d891a15-08ab-4f2d-9e53-4641855fed70"/>
          <p:cNvSpPr/>
          <p:nvPr/>
        </p:nvSpPr>
        <p:spPr>
          <a:xfrm>
            <a:off x="8187267" y="3213100"/>
            <a:ext cx="3191933" cy="2908300"/>
          </a:xfrm>
          <a:prstGeom prst="rect">
            <a:avLst/>
          </a:prstGeom>
          <a:noFill/>
          <a:ln/>
        </p:spPr>
        <p:txBody>
          <a:bodyPr wrap="square" lIns="0" tIns="0" rIns="0" bIns="0" rtlCol="0" anchor="t"/>
          <a:lstStyle/>
          <a:p>
            <a:pPr algn="l" marL="342900" indent="-342900">
              <a:lnSpc>
                <a:spcPct val="120000"/>
              </a:lnSpc>
              <a:spcAft>
                <a:spcPts val="700"/>
              </a:spcAft>
              <a:buSzPct val="100000"/>
              <a:buChar char="•"/>
            </a:pPr>
            <a:r>
              <a:rPr lang="en-US" sz="1300" dirty="0">
                <a:solidFill>
                  <a:srgbClr val="B1A8A5"/>
                </a:solidFill>
                <a:latin typeface="Lora" pitchFamily="34" charset="0"/>
                <a:ea typeface="Lora" pitchFamily="34" charset="-122"/>
                <a:cs typeface="Lora" pitchFamily="34" charset="-120"/>
              </a:rPr>
              <a:t>Expand regional wholesale cafe distribution</a:t>
            </a:r>
            <a:endParaRPr lang="en-US" sz="1300" dirty="0"/>
          </a:p>
          <a:p>
            <a:pPr algn="l" marL="342900" indent="-342900">
              <a:lnSpc>
                <a:spcPct val="120000"/>
              </a:lnSpc>
              <a:buSzPct val="100000"/>
              <a:buChar char="•"/>
            </a:pPr>
            <a:r>
              <a:rPr lang="en-US" sz="1300" dirty="0">
                <a:solidFill>
                  <a:srgbClr val="B1A8A5"/>
                </a:solidFill>
                <a:latin typeface="Lora" pitchFamily="34" charset="0"/>
                <a:ea typeface="Lora" pitchFamily="34" charset="-122"/>
                <a:cs typeface="Lora" pitchFamily="34" charset="-120"/>
              </a:rPr>
              <a:t>Scale direct-to-consumer online bean subscriptions</a:t>
            </a:r>
            <a:endParaRPr lang="en-US" sz="1300" dirty="0"/>
          </a:p>
        </p:txBody>
      </p:sp>
      <p:sp>
        <p:nvSpPr>
          <p:cNvPr id="22" name="pt:211e0823-7299-48ec-8662-6492270c0b46"/>
          <p:cNvSpPr/>
          <p:nvPr/>
        </p:nvSpPr>
        <p:spPr>
          <a:xfrm>
            <a:off x="546100" y="6305550"/>
            <a:ext cx="1231900" cy="495300"/>
          </a:xfrm>
          <a:prstGeom prst="roundRect">
            <a:avLst>
              <a:gd name="adj" fmla="val 12821"/>
            </a:avLst>
          </a:prstGeom>
          <a:solidFill>
            <a:srgbClr val="FFFFFF"/>
          </a:solidFill>
          <a:ln/>
        </p:spPr>
      </p:sp>
      <p:pic>
        <p:nvPicPr>
          <p:cNvPr id="23" name="pt:b3e97db2-4334-4f03-b6aa-fdeadc3c252a" descr="Journey logo">    </p:cNvPr>
          <p:cNvPicPr>
            <a:picLocks noChangeAspect="1"/>
          </p:cNvPicPr>
          <p:nvPr/>
        </p:nvPicPr>
        <p:blipFill>
          <a:blip r:embed="rId1"/>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71"/>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animScale>
                                      <p:cBhvr>
                                        <p:cTn id="11" dur="450" fill="hold"/>
                                        <p:tgtEl>
                                          <p:spTgt spid="4"/>
                                        </p:tgtEl>
                                      </p:cBhvr>
                                      <p:from x="88000" y="88000"/>
                                      <p:to x="100000" y="100000"/>
                                    </p:animScale>
                                  </p:childTnLst>
                                </p:cTn>
                              </p:par>
                              <p:par>
                                <p:cTn id="16" presetID="53" presetClass="entr" presetSubtype="16" fill="hold" decel="100000" nodeType="withEffect">
                                  <p:stCondLst>
                                    <p:cond delay="143"/>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grpId="0" nodeType="withEffect">
                                  <p:stCondLst>
                                    <p:cond delay="214"/>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fade">
                                      <p:cBhvr>
                                        <p:cTn id="18" dur="450"/>
                                        <p:tgtEl>
                                          <p:spTgt spid="9">
                                            <p:txEl>
                                              <p:pRg st="0" end="0"/>
                                            </p:txEl>
                                          </p:spTgt>
                                        </p:tgtEl>
                                      </p:cBhvr>
                                    </p:animEffect>
                                    <p:animScale>
                                      <p:cBhvr>
                                        <p:cTn id="19" dur="450" fill="hold"/>
                                        <p:tgtEl>
                                          <p:spTgt spid="9">
                                            <p:txEl>
                                              <p:pRg st="0" end="0"/>
                                            </p:txEl>
                                          </p:spTgt>
                                        </p:tgtEl>
                                      </p:cBhvr>
                                      <p:from x="88000" y="88000"/>
                                      <p:to x="100000" y="100000"/>
                                    </p:animScale>
                                  </p:childTnLst>
                                </p:cTn>
                              </p:par>
                              <p:par>
                                <p:cTn id="24" presetID="53" presetClass="entr" presetSubtype="16" fill="hold" decel="100000" grpId="0" nodeType="withEffect">
                                  <p:stCondLst>
                                    <p:cond delay="271"/>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fade">
                                      <p:cBhvr>
                                        <p:cTn id="22" dur="450"/>
                                        <p:tgtEl>
                                          <p:spTgt spid="9">
                                            <p:txEl>
                                              <p:pRg st="1" end="1"/>
                                            </p:txEl>
                                          </p:spTgt>
                                        </p:tgtEl>
                                      </p:cBhvr>
                                    </p:animEffect>
                                    <p:animScale>
                                      <p:cBhvr>
                                        <p:cTn id="23" dur="450" fill="hold"/>
                                        <p:tgtEl>
                                          <p:spTgt spid="9">
                                            <p:txEl>
                                              <p:pRg st="1" end="1"/>
                                            </p:txEl>
                                          </p:spTgt>
                                        </p:tgtEl>
                                      </p:cBhvr>
                                      <p:from x="88000" y="88000"/>
                                      <p:to x="100000" y="100000"/>
                                    </p:animScale>
                                  </p:childTnLst>
                                </p:cTn>
                              </p:par>
                              <p:par>
                                <p:cTn id="28" presetID="53" presetClass="entr" presetSubtype="16" fill="hold" decel="100000" nodeType="withEffect">
                                  <p:stCondLst>
                                    <p:cond delay="286"/>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animScale>
                                      <p:cBhvr>
                                        <p:cTn id="27" dur="450" fill="hold"/>
                                        <p:tgtEl>
                                          <p:spTgt spid="10"/>
                                        </p:tgtEl>
                                      </p:cBhvr>
                                      <p:from x="88000" y="88000"/>
                                      <p:to x="100000" y="100000"/>
                                    </p:animScale>
                                  </p:childTnLst>
                                </p:cTn>
                              </p:par>
                              <p:par>
                                <p:cTn id="32" presetID="53" presetClass="entr" presetSubtype="16" fill="hold" decel="100000" nodeType="withEffect">
                                  <p:stCondLst>
                                    <p:cond delay="357"/>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50"/>
                                        <p:tgtEl>
                                          <p:spTgt spid="13"/>
                                        </p:tgtEl>
                                      </p:cBhvr>
                                    </p:animEffect>
                                    <p:animScale>
                                      <p:cBhvr>
                                        <p:cTn id="31" dur="450" fill="hold"/>
                                        <p:tgtEl>
                                          <p:spTgt spid="13"/>
                                        </p:tgtEl>
                                      </p:cBhvr>
                                      <p:from x="88000" y="88000"/>
                                      <p:to x="100000" y="100000"/>
                                    </p:animScale>
                                  </p:childTnLst>
                                </p:cTn>
                              </p:par>
                              <p:par>
                                <p:cTn id="36" presetID="53" presetClass="entr" presetSubtype="16" fill="hold" decel="100000" grpId="0" nodeType="withEffect">
                                  <p:stCondLst>
                                    <p:cond delay="429"/>
                                  </p:stCondLst>
                                  <p:childTnLst>
                                    <p:set>
                                      <p:cBhvr>
                                        <p:cTn id="33" dur="1" fill="hold">
                                          <p:stCondLst>
                                            <p:cond delay="0"/>
                                          </p:stCondLst>
                                        </p:cTn>
                                        <p:tgtEl>
                                          <p:spTgt spid="15">
                                            <p:txEl>
                                              <p:pRg st="0" end="0"/>
                                            </p:txEl>
                                          </p:spTgt>
                                        </p:tgtEl>
                                        <p:attrNameLst>
                                          <p:attrName>style.visibility</p:attrName>
                                        </p:attrNameLst>
                                      </p:cBhvr>
                                      <p:to>
                                        <p:strVal val="visible"/>
                                      </p:to>
                                    </p:set>
                                    <p:animEffect transition="in" filter="fade">
                                      <p:cBhvr>
                                        <p:cTn id="34" dur="450"/>
                                        <p:tgtEl>
                                          <p:spTgt spid="15">
                                            <p:txEl>
                                              <p:pRg st="0" end="0"/>
                                            </p:txEl>
                                          </p:spTgt>
                                        </p:tgtEl>
                                      </p:cBhvr>
                                    </p:animEffect>
                                    <p:animScale>
                                      <p:cBhvr>
                                        <p:cTn id="35" dur="450" fill="hold"/>
                                        <p:tgtEl>
                                          <p:spTgt spid="15">
                                            <p:txEl>
                                              <p:pRg st="0" end="0"/>
                                            </p:txEl>
                                          </p:spTgt>
                                        </p:tgtEl>
                                      </p:cBhvr>
                                      <p:from x="88000" y="88000"/>
                                      <p:to x="100000" y="100000"/>
                                    </p:animScale>
                                  </p:childTnLst>
                                </p:cTn>
                              </p:par>
                              <p:par>
                                <p:cTn id="40" presetID="53" presetClass="entr" presetSubtype="16" fill="hold" decel="100000" grpId="0" nodeType="withEffect">
                                  <p:stCondLst>
                                    <p:cond delay="486"/>
                                  </p:stCondLst>
                                  <p:childTnLst>
                                    <p:set>
                                      <p:cBhvr>
                                        <p:cTn id="37" dur="1" fill="hold">
                                          <p:stCondLst>
                                            <p:cond delay="0"/>
                                          </p:stCondLst>
                                        </p:cTn>
                                        <p:tgtEl>
                                          <p:spTgt spid="15">
                                            <p:txEl>
                                              <p:pRg st="1" end="1"/>
                                            </p:txEl>
                                          </p:spTgt>
                                        </p:tgtEl>
                                        <p:attrNameLst>
                                          <p:attrName>style.visibility</p:attrName>
                                        </p:attrNameLst>
                                      </p:cBhvr>
                                      <p:to>
                                        <p:strVal val="visible"/>
                                      </p:to>
                                    </p:set>
                                    <p:animEffect transition="in" filter="fade">
                                      <p:cBhvr>
                                        <p:cTn id="38" dur="450"/>
                                        <p:tgtEl>
                                          <p:spTgt spid="15">
                                            <p:txEl>
                                              <p:pRg st="1" end="1"/>
                                            </p:txEl>
                                          </p:spTgt>
                                        </p:tgtEl>
                                      </p:cBhvr>
                                    </p:animEffect>
                                    <p:animScale>
                                      <p:cBhvr>
                                        <p:cTn id="39" dur="450" fill="hold"/>
                                        <p:tgtEl>
                                          <p:spTgt spid="15">
                                            <p:txEl>
                                              <p:pRg st="1" end="1"/>
                                            </p:txEl>
                                          </p:spTgt>
                                        </p:tgtEl>
                                      </p:cBhvr>
                                      <p:from x="88000" y="88000"/>
                                      <p:to x="100000" y="100000"/>
                                    </p:animScale>
                                  </p:childTnLst>
                                </p:cTn>
                              </p:par>
                              <p:par>
                                <p:cTn id="44" presetID="53" presetClass="entr" presetSubtype="16" fill="hold" decel="100000" nodeType="withEffect">
                                  <p:stCondLst>
                                    <p:cond delay="5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50"/>
                                        <p:tgtEl>
                                          <p:spTgt spid="16"/>
                                        </p:tgtEl>
                                      </p:cBhvr>
                                    </p:animEffect>
                                    <p:animScale>
                                      <p:cBhvr>
                                        <p:cTn id="43" dur="450" fill="hold"/>
                                        <p:tgtEl>
                                          <p:spTgt spid="16"/>
                                        </p:tgtEl>
                                      </p:cBhvr>
                                      <p:from x="88000" y="88000"/>
                                      <p:to x="100000" y="100000"/>
                                    </p:animScale>
                                  </p:childTnLst>
                                </p:cTn>
                              </p:par>
                              <p:par>
                                <p:cTn id="48" presetID="53" presetClass="entr" presetSubtype="16" fill="hold" decel="100000" nodeType="withEffect">
                                  <p:stCondLst>
                                    <p:cond delay="571"/>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animScale>
                                      <p:cBhvr>
                                        <p:cTn id="47" dur="450" fill="hold"/>
                                        <p:tgtEl>
                                          <p:spTgt spid="19"/>
                                        </p:tgtEl>
                                      </p:cBhvr>
                                      <p:from x="88000" y="88000"/>
                                      <p:to x="100000" y="100000"/>
                                    </p:animScale>
                                  </p:childTnLst>
                                </p:cTn>
                              </p:par>
                              <p:par>
                                <p:cTn id="52" presetID="53" presetClass="entr" presetSubtype="16" fill="hold" decel="100000" grpId="0" nodeType="withEffect">
                                  <p:stCondLst>
                                    <p:cond delay="643"/>
                                  </p:stCondLst>
                                  <p:childTnLst>
                                    <p:set>
                                      <p:cBhvr>
                                        <p:cTn id="49" dur="1" fill="hold">
                                          <p:stCondLst>
                                            <p:cond delay="0"/>
                                          </p:stCondLst>
                                        </p:cTn>
                                        <p:tgtEl>
                                          <p:spTgt spid="21">
                                            <p:txEl>
                                              <p:pRg st="0" end="0"/>
                                            </p:txEl>
                                          </p:spTgt>
                                        </p:tgtEl>
                                        <p:attrNameLst>
                                          <p:attrName>style.visibility</p:attrName>
                                        </p:attrNameLst>
                                      </p:cBhvr>
                                      <p:to>
                                        <p:strVal val="visible"/>
                                      </p:to>
                                    </p:set>
                                    <p:animEffect transition="in" filter="fade">
                                      <p:cBhvr>
                                        <p:cTn id="50" dur="450"/>
                                        <p:tgtEl>
                                          <p:spTgt spid="21">
                                            <p:txEl>
                                              <p:pRg st="0" end="0"/>
                                            </p:txEl>
                                          </p:spTgt>
                                        </p:tgtEl>
                                      </p:cBhvr>
                                    </p:animEffect>
                                    <p:animScale>
                                      <p:cBhvr>
                                        <p:cTn id="51" dur="450" fill="hold"/>
                                        <p:tgtEl>
                                          <p:spTgt spid="21">
                                            <p:txEl>
                                              <p:pRg st="0" end="0"/>
                                            </p:txEl>
                                          </p:spTgt>
                                        </p:tgtEl>
                                      </p:cBhvr>
                                      <p:from x="88000" y="88000"/>
                                      <p:to x="100000" y="100000"/>
                                    </p:animScale>
                                  </p:childTnLst>
                                </p:cTn>
                              </p:par>
                              <p:par>
                                <p:cTn id="56" presetID="53" presetClass="entr" presetSubtype="16" fill="hold" decel="100000" grpId="0" nodeType="withEffect">
                                  <p:stCondLst>
                                    <p:cond delay="700"/>
                                  </p:stCondLst>
                                  <p:childTnLst>
                                    <p:set>
                                      <p:cBhvr>
                                        <p:cTn id="53" dur="1" fill="hold">
                                          <p:stCondLst>
                                            <p:cond delay="0"/>
                                          </p:stCondLst>
                                        </p:cTn>
                                        <p:tgtEl>
                                          <p:spTgt spid="21">
                                            <p:txEl>
                                              <p:pRg st="1" end="1"/>
                                            </p:txEl>
                                          </p:spTgt>
                                        </p:tgtEl>
                                        <p:attrNameLst>
                                          <p:attrName>style.visibility</p:attrName>
                                        </p:attrNameLst>
                                      </p:cBhvr>
                                      <p:to>
                                        <p:strVal val="visible"/>
                                      </p:to>
                                    </p:set>
                                    <p:animEffect transition="in" filter="fade">
                                      <p:cBhvr>
                                        <p:cTn id="54" dur="450"/>
                                        <p:tgtEl>
                                          <p:spTgt spid="21">
                                            <p:txEl>
                                              <p:pRg st="1" end="1"/>
                                            </p:txEl>
                                          </p:spTgt>
                                        </p:tgtEl>
                                      </p:cBhvr>
                                    </p:animEffect>
                                    <p:animScale>
                                      <p:cBhvr>
                                        <p:cTn id="55" dur="450" fill="hold"/>
                                        <p:tgtEl>
                                          <p:spTgt spid="21">
                                            <p:txEl>
                                              <p:pRg st="1" end="1"/>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5" grpId="0" build="p"/>
      <p:bldP spid="2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0C09"/>
        </a:solidFill>
      </p:bgPr>
    </p:bg>
    <p:spTree>
      <p:nvGrpSpPr>
        <p:cNvPr id="1" name=""/>
        <p:cNvGrpSpPr/>
        <p:nvPr/>
      </p:nvGrpSpPr>
      <p:grpSpPr>
        <a:xfrm>
          <a:off x="0" y="0"/>
          <a:ext cx="0" cy="0"/>
          <a:chOff x="0" y="0"/>
          <a:chExt cx="0" cy="0"/>
        </a:xfrm>
      </p:grpSpPr>
      <p:pic>
        <p:nvPicPr>
          <p:cNvPr id="2" name="pt:326efb73-e853-467b-8c36-73aa0655d66a" descr="Coffee shop sign on a glass door with reflections">    </p:cNvPr>
          <p:cNvPicPr>
            <a:picLocks noChangeAspect="1"/>
          </p:cNvPicPr>
          <p:nvPr/>
        </p:nvPicPr>
        <p:blipFill>
          <a:blip r:embed="rId1"/>
          <a:srcRect l="0" r="0" t="0" b="0"/>
          <a:stretch/>
        </p:blipFill>
        <p:spPr>
          <a:xfrm>
            <a:off x="0" y="0"/>
            <a:ext cx="12192000" cy="6858000"/>
          </a:xfrm>
          <a:prstGeom prst="rect">
            <a:avLst/>
          </a:prstGeom>
        </p:spPr>
      </p:pic>
      <p:pic>
        <p:nvPicPr>
          <p:cNvPr id="3" name="pt:326efb73-e853-467b-8c36-73aa0655d66a" descr="preencoded.png">    </p:cNvPr>
          <p:cNvPicPr>
            <a:picLocks noChangeAspect="1"/>
          </p:cNvPicPr>
          <p:nvPr/>
        </p:nvPicPr>
        <p:blipFill>
          <a:blip r:embed="rId2"/>
          <a:stretch>
            <a:fillRect/>
          </a:stretch>
        </p:blipFill>
        <p:spPr>
          <a:xfrm>
            <a:off x="0" y="0"/>
            <a:ext cx="12192000" cy="6858000"/>
          </a:xfrm>
          <a:prstGeom prst="rect">
            <a:avLst/>
          </a:prstGeom>
        </p:spPr>
      </p:pic>
      <p:sp>
        <p:nvSpPr>
          <p:cNvPr id="4" name="pt:257db764-fe0d-4e18-8007-cbb20bdbb383"/>
          <p:cNvSpPr/>
          <p:nvPr/>
        </p:nvSpPr>
        <p:spPr>
          <a:xfrm rot="-2700000">
            <a:off x="7507182" y="1521883"/>
            <a:ext cx="5349240" cy="31750"/>
          </a:xfrm>
          <a:prstGeom prst="rect">
            <a:avLst/>
          </a:prstGeom>
          <a:solidFill>
            <a:srgbClr val="17BEBB">
              <a:alpha val="85000"/>
            </a:srgbClr>
          </a:solidFill>
          <a:ln/>
        </p:spPr>
      </p:sp>
      <p:sp>
        <p:nvSpPr>
          <p:cNvPr id="5" name="pt:05834704-f946-4bba-a7fd-812592f08038"/>
          <p:cNvSpPr/>
          <p:nvPr/>
        </p:nvSpPr>
        <p:spPr>
          <a:xfrm rot="2700000">
            <a:off x="7507182" y="5304367"/>
            <a:ext cx="5349240" cy="31750"/>
          </a:xfrm>
          <a:prstGeom prst="rect">
            <a:avLst/>
          </a:prstGeom>
          <a:solidFill>
            <a:srgbClr val="17BEBB">
              <a:alpha val="85000"/>
            </a:srgbClr>
          </a:solidFill>
          <a:ln/>
        </p:spPr>
      </p:sp>
      <p:sp>
        <p:nvSpPr>
          <p:cNvPr id="6" name="pt:12871ce2-175d-4797-aed2-674296b467bc"/>
          <p:cNvSpPr/>
          <p:nvPr/>
        </p:nvSpPr>
        <p:spPr>
          <a:xfrm rot="-2700000">
            <a:off x="7723082" y="1521883"/>
            <a:ext cx="5349240" cy="31750"/>
          </a:xfrm>
          <a:prstGeom prst="rect">
            <a:avLst/>
          </a:prstGeom>
          <a:solidFill>
            <a:srgbClr val="FFFFFF">
              <a:alpha val="80000"/>
            </a:srgbClr>
          </a:solidFill>
          <a:ln/>
        </p:spPr>
      </p:sp>
      <p:sp>
        <p:nvSpPr>
          <p:cNvPr id="7" name="pt:fcb87785-497c-4b71-9a74-e7bb92310841"/>
          <p:cNvSpPr/>
          <p:nvPr/>
        </p:nvSpPr>
        <p:spPr>
          <a:xfrm rot="2700000">
            <a:off x="7723082" y="5304367"/>
            <a:ext cx="5349240" cy="31750"/>
          </a:xfrm>
          <a:prstGeom prst="rect">
            <a:avLst/>
          </a:prstGeom>
          <a:solidFill>
            <a:srgbClr val="FFFFFF">
              <a:alpha val="80000"/>
            </a:srgbClr>
          </a:solidFill>
          <a:ln/>
        </p:spPr>
      </p:sp>
      <p:sp>
        <p:nvSpPr>
          <p:cNvPr id="8" name="pt:b82913d4-4877-4aeb-917a-3438a279737d"/>
          <p:cNvSpPr/>
          <p:nvPr/>
        </p:nvSpPr>
        <p:spPr>
          <a:xfrm rot="-2700000">
            <a:off x="7938982" y="1521883"/>
            <a:ext cx="5349240" cy="31750"/>
          </a:xfrm>
          <a:prstGeom prst="rect">
            <a:avLst/>
          </a:prstGeom>
          <a:solidFill>
            <a:srgbClr val="FFFFFF">
              <a:alpha val="75000"/>
            </a:srgbClr>
          </a:solidFill>
          <a:ln/>
        </p:spPr>
      </p:sp>
      <p:sp>
        <p:nvSpPr>
          <p:cNvPr id="9" name="pt:511e9f5b-04ee-4ece-83f1-84fe28f0d53b"/>
          <p:cNvSpPr/>
          <p:nvPr/>
        </p:nvSpPr>
        <p:spPr>
          <a:xfrm rot="2700000">
            <a:off x="7938982" y="5304367"/>
            <a:ext cx="5349240" cy="31750"/>
          </a:xfrm>
          <a:prstGeom prst="rect">
            <a:avLst/>
          </a:prstGeom>
          <a:solidFill>
            <a:srgbClr val="FFFFFF">
              <a:alpha val="75000"/>
            </a:srgbClr>
          </a:solidFill>
          <a:ln/>
        </p:spPr>
      </p:sp>
      <p:sp>
        <p:nvSpPr>
          <p:cNvPr id="10" name="pt:45d2a9ef-38ef-418b-ba45-61cd21ab84e5"/>
          <p:cNvSpPr/>
          <p:nvPr/>
        </p:nvSpPr>
        <p:spPr>
          <a:xfrm rot="-2700000">
            <a:off x="8154882" y="1521883"/>
            <a:ext cx="5349240" cy="31750"/>
          </a:xfrm>
          <a:prstGeom prst="rect">
            <a:avLst/>
          </a:prstGeom>
          <a:solidFill>
            <a:srgbClr val="17BEBB">
              <a:alpha val="70000"/>
            </a:srgbClr>
          </a:solidFill>
          <a:ln/>
        </p:spPr>
      </p:sp>
      <p:sp>
        <p:nvSpPr>
          <p:cNvPr id="11" name="pt:df3b8fd6-dfda-44ed-b559-41998f19afe7"/>
          <p:cNvSpPr/>
          <p:nvPr/>
        </p:nvSpPr>
        <p:spPr>
          <a:xfrm rot="2700000">
            <a:off x="8154882" y="5304367"/>
            <a:ext cx="5349240" cy="31750"/>
          </a:xfrm>
          <a:prstGeom prst="rect">
            <a:avLst/>
          </a:prstGeom>
          <a:solidFill>
            <a:srgbClr val="17BEBB">
              <a:alpha val="70000"/>
            </a:srgbClr>
          </a:solidFill>
          <a:ln/>
        </p:spPr>
      </p:sp>
      <p:sp>
        <p:nvSpPr>
          <p:cNvPr id="12" name="pt:9f7113e7-9300-4803-b38f-b9f5463c1228"/>
          <p:cNvSpPr/>
          <p:nvPr/>
        </p:nvSpPr>
        <p:spPr>
          <a:xfrm rot="-2700000">
            <a:off x="8370782" y="1521883"/>
            <a:ext cx="5349240" cy="31750"/>
          </a:xfrm>
          <a:prstGeom prst="rect">
            <a:avLst/>
          </a:prstGeom>
          <a:solidFill>
            <a:srgbClr val="FFFFFF">
              <a:alpha val="65000"/>
            </a:srgbClr>
          </a:solidFill>
          <a:ln/>
        </p:spPr>
      </p:sp>
      <p:sp>
        <p:nvSpPr>
          <p:cNvPr id="13" name="pt:7295da4d-7ebe-44ed-b7cc-77cdc0600057"/>
          <p:cNvSpPr/>
          <p:nvPr/>
        </p:nvSpPr>
        <p:spPr>
          <a:xfrm rot="2700000">
            <a:off x="8370782" y="5304367"/>
            <a:ext cx="5349240" cy="31750"/>
          </a:xfrm>
          <a:prstGeom prst="rect">
            <a:avLst/>
          </a:prstGeom>
          <a:solidFill>
            <a:srgbClr val="FFFFFF">
              <a:alpha val="65000"/>
            </a:srgbClr>
          </a:solidFill>
          <a:ln/>
        </p:spPr>
      </p:sp>
      <p:sp>
        <p:nvSpPr>
          <p:cNvPr id="14" name="pt:902ad957-b3df-4499-8aa6-e3725aedb939"/>
          <p:cNvSpPr/>
          <p:nvPr/>
        </p:nvSpPr>
        <p:spPr>
          <a:xfrm rot="-2700000">
            <a:off x="8586682" y="1521883"/>
            <a:ext cx="5349240" cy="31750"/>
          </a:xfrm>
          <a:prstGeom prst="rect">
            <a:avLst/>
          </a:prstGeom>
          <a:solidFill>
            <a:srgbClr val="FFFFFF">
              <a:alpha val="59000"/>
            </a:srgbClr>
          </a:solidFill>
          <a:ln/>
        </p:spPr>
      </p:sp>
      <p:sp>
        <p:nvSpPr>
          <p:cNvPr id="15" name="pt:3cf87b1f-6a4a-4127-96dc-941ea6f0decd"/>
          <p:cNvSpPr/>
          <p:nvPr/>
        </p:nvSpPr>
        <p:spPr>
          <a:xfrm rot="2700000">
            <a:off x="8586682" y="5304367"/>
            <a:ext cx="5349240" cy="31750"/>
          </a:xfrm>
          <a:prstGeom prst="rect">
            <a:avLst/>
          </a:prstGeom>
          <a:solidFill>
            <a:srgbClr val="FFFFFF">
              <a:alpha val="59000"/>
            </a:srgbClr>
          </a:solidFill>
          <a:ln/>
        </p:spPr>
      </p:sp>
      <p:sp>
        <p:nvSpPr>
          <p:cNvPr id="16" name="pt:6bcea883-4ba8-482e-bce9-ac7848e10afe"/>
          <p:cNvSpPr/>
          <p:nvPr/>
        </p:nvSpPr>
        <p:spPr>
          <a:xfrm rot="-2700000">
            <a:off x="8802582" y="1521883"/>
            <a:ext cx="5349240" cy="31750"/>
          </a:xfrm>
          <a:prstGeom prst="rect">
            <a:avLst/>
          </a:prstGeom>
          <a:solidFill>
            <a:srgbClr val="17BEBB">
              <a:alpha val="54000"/>
            </a:srgbClr>
          </a:solidFill>
          <a:ln/>
        </p:spPr>
      </p:sp>
      <p:sp>
        <p:nvSpPr>
          <p:cNvPr id="17" name="pt:ec7a73c4-ff28-4d69-b43e-6dece234bbb9"/>
          <p:cNvSpPr/>
          <p:nvPr/>
        </p:nvSpPr>
        <p:spPr>
          <a:xfrm rot="2700000">
            <a:off x="8802582" y="5304367"/>
            <a:ext cx="5349240" cy="31750"/>
          </a:xfrm>
          <a:prstGeom prst="rect">
            <a:avLst/>
          </a:prstGeom>
          <a:solidFill>
            <a:srgbClr val="17BEBB">
              <a:alpha val="54000"/>
            </a:srgbClr>
          </a:solidFill>
          <a:ln/>
        </p:spPr>
      </p:sp>
      <p:sp>
        <p:nvSpPr>
          <p:cNvPr id="18" name="pt:f94ea8bf-f497-4ce2-92e9-1c263cad31cf"/>
          <p:cNvSpPr/>
          <p:nvPr/>
        </p:nvSpPr>
        <p:spPr>
          <a:xfrm rot="-2700000">
            <a:off x="9018482" y="1521883"/>
            <a:ext cx="5349240" cy="31750"/>
          </a:xfrm>
          <a:prstGeom prst="rect">
            <a:avLst/>
          </a:prstGeom>
          <a:solidFill>
            <a:srgbClr val="FFFFFF">
              <a:alpha val="49000"/>
            </a:srgbClr>
          </a:solidFill>
          <a:ln/>
        </p:spPr>
      </p:sp>
      <p:sp>
        <p:nvSpPr>
          <p:cNvPr id="19" name="pt:b7e744e4-c3cf-4fad-b07b-3b57747440f1"/>
          <p:cNvSpPr/>
          <p:nvPr/>
        </p:nvSpPr>
        <p:spPr>
          <a:xfrm rot="2700000">
            <a:off x="9018482" y="5304367"/>
            <a:ext cx="5349240" cy="31750"/>
          </a:xfrm>
          <a:prstGeom prst="rect">
            <a:avLst/>
          </a:prstGeom>
          <a:solidFill>
            <a:srgbClr val="FFFFFF">
              <a:alpha val="49000"/>
            </a:srgbClr>
          </a:solidFill>
          <a:ln/>
        </p:spPr>
      </p:sp>
      <p:sp>
        <p:nvSpPr>
          <p:cNvPr id="20" name="pt:357cbacd-ff5f-4411-ae3f-36a9e387f701"/>
          <p:cNvSpPr/>
          <p:nvPr/>
        </p:nvSpPr>
        <p:spPr>
          <a:xfrm rot="-2700000">
            <a:off x="9234382" y="1521883"/>
            <a:ext cx="5349240" cy="31750"/>
          </a:xfrm>
          <a:prstGeom prst="rect">
            <a:avLst/>
          </a:prstGeom>
          <a:solidFill>
            <a:srgbClr val="FFFFFF">
              <a:alpha val="44000"/>
            </a:srgbClr>
          </a:solidFill>
          <a:ln/>
        </p:spPr>
      </p:sp>
      <p:sp>
        <p:nvSpPr>
          <p:cNvPr id="21" name="pt:21a7f094-a79d-4c91-a6c8-1cdfa32099e0"/>
          <p:cNvSpPr/>
          <p:nvPr/>
        </p:nvSpPr>
        <p:spPr>
          <a:xfrm rot="2700000">
            <a:off x="9234382" y="5304367"/>
            <a:ext cx="5349240" cy="31750"/>
          </a:xfrm>
          <a:prstGeom prst="rect">
            <a:avLst/>
          </a:prstGeom>
          <a:solidFill>
            <a:srgbClr val="FFFFFF">
              <a:alpha val="44000"/>
            </a:srgbClr>
          </a:solidFill>
          <a:ln/>
        </p:spPr>
      </p:sp>
      <p:sp>
        <p:nvSpPr>
          <p:cNvPr id="22" name="pt:2ecfd0e2-8b44-4240-859e-c0b002111ed5"/>
          <p:cNvSpPr/>
          <p:nvPr/>
        </p:nvSpPr>
        <p:spPr>
          <a:xfrm rot="-2700000">
            <a:off x="9450282" y="1521883"/>
            <a:ext cx="5349240" cy="31750"/>
          </a:xfrm>
          <a:prstGeom prst="rect">
            <a:avLst/>
          </a:prstGeom>
          <a:solidFill>
            <a:srgbClr val="17BEBB">
              <a:alpha val="39000"/>
            </a:srgbClr>
          </a:solidFill>
          <a:ln/>
        </p:spPr>
      </p:sp>
      <p:sp>
        <p:nvSpPr>
          <p:cNvPr id="23" name="pt:6997c8a6-5b31-4394-b583-dbaa1d357074"/>
          <p:cNvSpPr/>
          <p:nvPr/>
        </p:nvSpPr>
        <p:spPr>
          <a:xfrm rot="2700000">
            <a:off x="9450282" y="5304367"/>
            <a:ext cx="5349240" cy="31750"/>
          </a:xfrm>
          <a:prstGeom prst="rect">
            <a:avLst/>
          </a:prstGeom>
          <a:solidFill>
            <a:srgbClr val="17BEBB">
              <a:alpha val="39000"/>
            </a:srgbClr>
          </a:solidFill>
          <a:ln/>
        </p:spPr>
      </p:sp>
      <p:sp>
        <p:nvSpPr>
          <p:cNvPr id="24" name="pt:ede058f5-e1b9-42bd-87ef-718c204b3d63"/>
          <p:cNvSpPr/>
          <p:nvPr/>
        </p:nvSpPr>
        <p:spPr>
          <a:xfrm>
            <a:off x="975360" y="1371600"/>
            <a:ext cx="698500" cy="50800"/>
          </a:xfrm>
          <a:prstGeom prst="roundRect">
            <a:avLst>
              <a:gd name="adj" fmla="val 50000"/>
            </a:avLst>
          </a:prstGeom>
          <a:solidFill>
            <a:srgbClr val="17BEBB"/>
          </a:solidFill>
          <a:ln/>
        </p:spPr>
      </p:sp>
      <p:sp>
        <p:nvSpPr>
          <p:cNvPr id="25" name="pt:2da2f55f-a65b-414e-b720-b6e0fd387bc1"/>
          <p:cNvSpPr/>
          <p:nvPr/>
        </p:nvSpPr>
        <p:spPr>
          <a:xfrm>
            <a:off x="975360" y="1562100"/>
            <a:ext cx="6339840" cy="269240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Playfair Display" pitchFamily="34" charset="0"/>
                <a:ea typeface="Playfair Display" pitchFamily="34" charset="-122"/>
                <a:cs typeface="Playfair Display" pitchFamily="34" charset="-120"/>
              </a:rPr>
              <a:t>Partnering for Next-Stage Growth</a:t>
            </a:r>
            <a:endParaRPr lang="en-US" sz="3600" dirty="0"/>
          </a:p>
        </p:txBody>
      </p:sp>
      <p:sp>
        <p:nvSpPr>
          <p:cNvPr id="26" name="pt:dc11736d-c545-4822-9f10-197762b455c2"/>
          <p:cNvSpPr/>
          <p:nvPr/>
        </p:nvSpPr>
        <p:spPr>
          <a:xfrm>
            <a:off x="975360" y="4292600"/>
            <a:ext cx="633984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Playfair Display" pitchFamily="34" charset="0"/>
                <a:ea typeface="Playfair Display" pitchFamily="34" charset="-122"/>
                <a:cs typeface="Playfair Display" pitchFamily="34" charset="-120"/>
              </a:rPr>
              <a:t>Join us in scaling Aroma Coffee Roasters across the region</a:t>
            </a:r>
            <a:endParaRPr lang="en-US" sz="1600" dirty="0"/>
          </a:p>
        </p:txBody>
      </p:sp>
      <p:sp>
        <p:nvSpPr>
          <p:cNvPr id="27" name="pt:16c20a13-641f-4688-9b44-d2db2006cbfd"/>
          <p:cNvSpPr/>
          <p:nvPr/>
        </p:nvSpPr>
        <p:spPr>
          <a:xfrm>
            <a:off x="546100" y="6305550"/>
            <a:ext cx="1231900" cy="495300"/>
          </a:xfrm>
          <a:prstGeom prst="roundRect">
            <a:avLst>
              <a:gd name="adj" fmla="val 12821"/>
            </a:avLst>
          </a:prstGeom>
          <a:solidFill>
            <a:srgbClr val="FFFFFF"/>
          </a:solidFill>
          <a:ln/>
        </p:spPr>
      </p:sp>
      <p:pic>
        <p:nvPicPr>
          <p:cNvPr id="28" name="pt:a87ee530-fe84-4f9a-92cf-8bfab81e3bb0" descr="Journey logo">    </p:cNvPr>
          <p:cNvPicPr>
            <a:picLocks noChangeAspect="1"/>
          </p:cNvPicPr>
          <p:nvPr/>
        </p:nvPicPr>
        <p:blipFill>
          <a:blip r:embed="rId3"/>
          <a:srcRect l="0" r="0" t="0" b="0"/>
          <a:stretch/>
        </p:blipFill>
        <p:spPr>
          <a:xfrm>
            <a:off x="609600" y="6369050"/>
            <a:ext cx="1104900" cy="36830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wipe(left)">
                                      <p:cBhvr>
                                        <p:cTn id="6" dur="450"/>
                                        <p:tgtEl>
                                          <p:spTgt spid="2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Scale>
                                      <p:cBhvr>
                                        <p:cTn id="10" dur="450" fill="hold"/>
                                        <p:tgtEl>
                                          <p:spTgt spid="2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50"/>
                                        <p:tgtEl>
                                          <p:spTgt spid="26"/>
                                        </p:tgtEl>
                                      </p:cBhvr>
                                    </p:animEffect>
                                    <p:animScale>
                                      <p:cBhvr>
                                        <p:cTn id="14" dur="450" fill="hold"/>
                                        <p:tgtEl>
                                          <p:spTgt spid="2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or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Aroma Coffee Roasters Investment Pitch</dc:title>
  <dc:subject>PptxGenJS Presentation</dc:subject>
  <dc:creator>PptxGenJS</dc:creator>
  <cp:lastModifiedBy>PptxGenJS</cp:lastModifiedBy>
  <cp:revision>1</cp:revision>
  <dcterms:created xsi:type="dcterms:W3CDTF">2026-10-15T17:59:04Z</dcterms:created>
  <dcterms:modified xsi:type="dcterms:W3CDTF">2026-10-15T17:59:04Z</dcterms:modified>
</cp:coreProperties>
</file>