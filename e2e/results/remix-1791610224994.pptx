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Journey provides modern route planning and logistics software designed specifically to cut delivery costs and solve complex operational fleet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Journey targets the major pain points in last-mile logistics, where inefficient routing hurts profitability and customer satisfaction. Our software automates route planning rapidly and provides reliable live tracking. We specifically serve fleets from 5 to 200 vehicles with fast onboarding and clear 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operational metrics show strong momentum across fleet adoption and revenue growth. We have expanded to 84 paying fleets while maintaining exceptional customer retention rates. This growth reflects the ongoing value Journey delivers to our fleet partners daily.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Connect with our team today to learn how Journey can optimize your delivery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0C09"/>
        </a:solidFill>
      </p:bgPr>
    </p:bg>
    <p:spTree>
      <p:nvGrpSpPr>
        <p:cNvPr id="1" name=""/>
        <p:cNvGrpSpPr/>
        <p:nvPr/>
      </p:nvGrpSpPr>
      <p:grpSpPr>
        <a:xfrm>
          <a:off x="0" y="0"/>
          <a:ext cx="0" cy="0"/>
          <a:chOff x="0" y="0"/>
          <a:chExt cx="0" cy="0"/>
        </a:xfrm>
      </p:grpSpPr>
      <p:pic>
        <p:nvPicPr>
          <p:cNvPr id="2" name="pt:ReEZcxWzVl" descr="a white van parked on the side of the road">    </p:cNvPr>
          <p:cNvPicPr>
            <a:picLocks noChangeAspect="1"/>
          </p:cNvPicPr>
          <p:nvPr/>
        </p:nvPicPr>
        <p:blipFill>
          <a:blip r:embed="rId1"/>
          <a:srcRect l="0" r="0" t="0" b="0"/>
          <a:stretch/>
        </p:blipFill>
        <p:spPr>
          <a:xfrm>
            <a:off x="0" y="0"/>
            <a:ext cx="9144000" cy="6858000"/>
          </a:xfrm>
          <a:prstGeom prst="rect">
            <a:avLst/>
          </a:prstGeom>
        </p:spPr>
      </p:pic>
      <p:pic>
        <p:nvPicPr>
          <p:cNvPr id="3" name="pt:ReEZcxWzVl"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IQeZTPj4CH"/>
          <p:cNvSpPr/>
          <p:nvPr/>
        </p:nvSpPr>
        <p:spPr>
          <a:xfrm>
            <a:off x="457200" y="2880360"/>
            <a:ext cx="698500" cy="50800"/>
          </a:xfrm>
          <a:prstGeom prst="roundRect">
            <a:avLst>
              <a:gd name="adj" fmla="val 50000"/>
            </a:avLst>
          </a:prstGeom>
          <a:solidFill>
            <a:srgbClr val="17BEBB"/>
          </a:solidFill>
          <a:ln/>
        </p:spPr>
      </p:sp>
      <p:sp>
        <p:nvSpPr>
          <p:cNvPr id="5" name="pt:ViRX-Xki9L"/>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4200" b="1" dirty="0">
                <a:solidFill>
                  <a:srgbClr val="FFFFFF"/>
                </a:solidFill>
                <a:latin typeface="Space Grotesk" pitchFamily="34" charset="0"/>
                <a:ea typeface="Space Grotesk" pitchFamily="34" charset="-122"/>
                <a:cs typeface="Space Grotesk" pitchFamily="34" charset="-120"/>
              </a:rPr>
              <a:t>Journey: Logistics Software That Cuts Delivery Cost</a:t>
            </a:r>
            <a:endParaRPr lang="en-US" sz="4200" dirty="0"/>
          </a:p>
        </p:txBody>
      </p:sp>
      <p:sp>
        <p:nvSpPr>
          <p:cNvPr id="6" name="pt:q0ncidS59H"/>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D0CECE"/>
                </a:solidFill>
                <a:latin typeface="Space Grotesk" pitchFamily="34" charset="0"/>
                <a:ea typeface="Space Grotesk" pitchFamily="34" charset="-122"/>
                <a:cs typeface="Space Grotesk" pitchFamily="34" charset="-120"/>
              </a:rPr>
              <a:t>Route planning and logistics software designed to reduce fleet operational costs</a:t>
            </a:r>
            <a:endParaRPr lang="en-US" sz="1600" dirty="0"/>
          </a:p>
        </p:txBody>
      </p:sp>
      <p:sp>
        <p:nvSpPr>
          <p:cNvPr id="7" name="pt:_UfO7SgeQG"/>
          <p:cNvSpPr/>
          <p:nvPr/>
        </p:nvSpPr>
        <p:spPr>
          <a:xfrm>
            <a:off x="412750" y="6451600"/>
            <a:ext cx="361950" cy="361950"/>
          </a:xfrm>
          <a:prstGeom prst="roundRect">
            <a:avLst>
              <a:gd name="adj" fmla="val 12281"/>
            </a:avLst>
          </a:prstGeom>
          <a:solidFill>
            <a:srgbClr val="FFFFFF"/>
          </a:solidFill>
          <a:ln/>
        </p:spPr>
      </p:sp>
      <p:pic>
        <p:nvPicPr>
          <p:cNvPr id="8" name="pt:CGLBcHu4ze"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53" presetClass="entr" presetSubtype="16" fill="hold" decel="10000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Scale>
                                      <p:cBhvr>
                                        <p:cTn id="10" dur="450" fill="hold"/>
                                        <p:tgtEl>
                                          <p:spTgt spid="5"/>
                                        </p:tgtEl>
                                      </p:cBhvr>
                                      <p:from x="88000" y="88000"/>
                                      <p:to x="100000" y="100000"/>
                                    </p:animScale>
                                  </p:childTnLst>
                                </p:cTn>
                              </p:par>
                              <p:par>
                                <p:cTn id="15" presetID="53" presetClass="entr" presetSubtype="16" fill="hold" decel="100000" nodeType="withEffect">
                                  <p:stCondLst>
                                    <p:cond delay="2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Scale>
                                      <p:cBhvr>
                                        <p:cTn id="14" dur="450" fill="hold"/>
                                        <p:tgtEl>
                                          <p:spTgt spid="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0F0B"/>
        </a:solidFill>
      </p:bgPr>
    </p:bg>
    <p:spTree>
      <p:nvGrpSpPr>
        <p:cNvPr id="1" name=""/>
        <p:cNvGrpSpPr/>
        <p:nvPr/>
      </p:nvGrpSpPr>
      <p:grpSpPr>
        <a:xfrm>
          <a:off x="0" y="0"/>
          <a:ext cx="0" cy="0"/>
          <a:chOff x="0" y="0"/>
          <a:chExt cx="0" cy="0"/>
        </a:xfrm>
      </p:grpSpPr>
      <p:sp>
        <p:nvSpPr>
          <p:cNvPr id="2" name="pt:K8tSdRE1rp"/>
          <p:cNvSpPr/>
          <p:nvPr/>
        </p:nvSpPr>
        <p:spPr>
          <a:xfrm>
            <a:off x="0" y="228600"/>
            <a:ext cx="9144000" cy="12700"/>
          </a:xfrm>
          <a:prstGeom prst="rect">
            <a:avLst/>
          </a:prstGeom>
          <a:solidFill>
            <a:srgbClr val="392E2A"/>
          </a:solidFill>
          <a:ln/>
        </p:spPr>
      </p:sp>
      <p:sp>
        <p:nvSpPr>
          <p:cNvPr id="3" name="pt:cQeUFf0hE5"/>
          <p:cNvSpPr/>
          <p:nvPr/>
        </p:nvSpPr>
        <p:spPr>
          <a:xfrm>
            <a:off x="457200" y="508000"/>
            <a:ext cx="3911600" cy="952500"/>
          </a:xfrm>
          <a:prstGeom prst="rect">
            <a:avLst/>
          </a:prstGeom>
          <a:noFill/>
          <a:ln/>
        </p:spPr>
        <p:txBody>
          <a:bodyPr wrap="square" lIns="0" tIns="0" rIns="0" bIns="0" rtlCol="0" anchor="ctr"/>
          <a:lstStyle/>
          <a:p>
            <a:pPr algn="l" indent="0" marL="0">
              <a:lnSpc>
                <a:spcPct val="120000"/>
              </a:lnSpc>
              <a:buNone/>
            </a:pPr>
            <a:r>
              <a:rPr lang="en-US" sz="2300" b="1" dirty="0">
                <a:solidFill>
                  <a:srgbClr val="F8F0ED"/>
                </a:solidFill>
                <a:latin typeface="Space Grotesk" pitchFamily="34" charset="0"/>
                <a:ea typeface="Space Grotesk" pitchFamily="34" charset="-122"/>
                <a:cs typeface="Space Grotesk" pitchFamily="34" charset="-120"/>
              </a:rPr>
              <a:t>Solving core delivery challenges </a:t>
            </a:r>
            <a:pPr algn="l" indent="0" marL="0">
              <a:lnSpc>
                <a:spcPct val="120000"/>
              </a:lnSpc>
              <a:buNone/>
            </a:pPr>
            <a:r>
              <a:rPr lang="en-US" sz="2300" b="1" dirty="0">
                <a:solidFill>
                  <a:srgbClr val="17BEBB"/>
                </a:solidFill>
                <a:latin typeface="Space Grotesk" pitchFamily="34" charset="0"/>
                <a:ea typeface="Space Grotesk" pitchFamily="34" charset="-122"/>
                <a:cs typeface="Space Grotesk" pitchFamily="34" charset="-120"/>
              </a:rPr>
              <a:t>with Journey</a:t>
            </a:r>
            <a:endParaRPr lang="en-US" sz="2300" dirty="0"/>
          </a:p>
        </p:txBody>
      </p:sp>
      <p:sp>
        <p:nvSpPr>
          <p:cNvPr id="4" name="pt:X7uHCJODHO"/>
          <p:cNvSpPr/>
          <p:nvPr/>
        </p:nvSpPr>
        <p:spPr>
          <a:xfrm>
            <a:off x="457200" y="1587500"/>
            <a:ext cx="3911600" cy="481330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600" dirty="0">
                <a:solidFill>
                  <a:srgbClr val="F8F0ED"/>
                </a:solidFill>
                <a:latin typeface="Inter" pitchFamily="34" charset="0"/>
                <a:ea typeface="Inter" pitchFamily="34" charset="-122"/>
                <a:cs typeface="Inter" pitchFamily="34" charset="-120"/>
              </a:rPr>
              <a:t>Eliminates wasted spend caused by empty miles and failed first attempts</a:t>
            </a:r>
            <a:endParaRPr lang="en-US" sz="1600" dirty="0"/>
          </a:p>
          <a:p>
            <a:pPr algn="l" marL="342900" indent="-342900">
              <a:lnSpc>
                <a:spcPct val="120000"/>
              </a:lnSpc>
              <a:spcAft>
                <a:spcPts val="800"/>
              </a:spcAft>
              <a:buSzPct val="100000"/>
              <a:buChar char="•"/>
            </a:pPr>
            <a:r>
              <a:rPr lang="en-US" sz="1600" dirty="0">
                <a:solidFill>
                  <a:srgbClr val="F8F0ED"/>
                </a:solidFill>
                <a:latin typeface="Inter" pitchFamily="34" charset="0"/>
                <a:ea typeface="Inter" pitchFamily="34" charset="-122"/>
                <a:cs typeface="Inter" pitchFamily="34" charset="-120"/>
              </a:rPr>
              <a:t>Generates automatic route planning in under a minute</a:t>
            </a:r>
            <a:endParaRPr lang="en-US" sz="1600" dirty="0"/>
          </a:p>
          <a:p>
            <a:pPr algn="l" marL="342900" indent="-342900">
              <a:lnSpc>
                <a:spcPct val="120000"/>
              </a:lnSpc>
              <a:spcAft>
                <a:spcPts val="800"/>
              </a:spcAft>
              <a:buSzPct val="100000"/>
              <a:buChar char="•"/>
            </a:pPr>
            <a:r>
              <a:rPr lang="en-US" sz="1600" dirty="0">
                <a:solidFill>
                  <a:srgbClr val="F8F0ED"/>
                </a:solidFill>
                <a:latin typeface="Inter" pitchFamily="34" charset="0"/>
                <a:ea typeface="Inter" pitchFamily="34" charset="-122"/>
                <a:cs typeface="Inter" pitchFamily="34" charset="-120"/>
              </a:rPr>
              <a:t>Provides live delivery windows that customers can trust</a:t>
            </a:r>
            <a:endParaRPr lang="en-US" sz="1600" dirty="0"/>
          </a:p>
          <a:p>
            <a:pPr algn="l" marL="342900" indent="-342900">
              <a:lnSpc>
                <a:spcPct val="120000"/>
              </a:lnSpc>
              <a:buSzPct val="100000"/>
              <a:buChar char="•"/>
            </a:pPr>
            <a:r>
              <a:rPr lang="en-US" sz="1600" dirty="0">
                <a:solidFill>
                  <a:srgbClr val="F8F0ED"/>
                </a:solidFill>
                <a:latin typeface="Inter" pitchFamily="34" charset="0"/>
                <a:ea typeface="Inter" pitchFamily="34" charset="-122"/>
                <a:cs typeface="Inter" pitchFamily="34" charset="-120"/>
              </a:rPr>
              <a:t>Built for fleets of 5 to 200, going live in an afternoon with simple flat pricing</a:t>
            </a:r>
            <a:endParaRPr lang="en-US" sz="1600" dirty="0"/>
          </a:p>
        </p:txBody>
      </p:sp>
      <p:pic>
        <p:nvPicPr>
          <p:cNvPr id="5" name="pt:e0OtqKqRcL" descr="Delivery driver checking a route planning app on a smartphone next to a vehicle">    </p:cNvPr>
          <p:cNvPicPr>
            <a:picLocks noChangeAspect="1"/>
          </p:cNvPicPr>
          <p:nvPr/>
        </p:nvPicPr>
        <p:blipFill>
          <a:blip r:embed="rId1"/>
          <a:srcRect l="0" r="0" t="0" b="0"/>
          <a:stretch/>
        </p:blipFill>
        <p:spPr>
          <a:xfrm>
            <a:off x="4775200" y="457200"/>
            <a:ext cx="3911600" cy="5943600"/>
          </a:xfrm>
          <a:prstGeom prst="rect">
            <a:avLst/>
          </a:prstGeom>
        </p:spPr>
      </p:pic>
      <p:sp>
        <p:nvSpPr>
          <p:cNvPr id="6" name="pt:A7OR752KVz"/>
          <p:cNvSpPr/>
          <p:nvPr/>
        </p:nvSpPr>
        <p:spPr>
          <a:xfrm>
            <a:off x="412750" y="6451600"/>
            <a:ext cx="361950" cy="361950"/>
          </a:xfrm>
          <a:prstGeom prst="roundRect">
            <a:avLst>
              <a:gd name="adj" fmla="val 12281"/>
            </a:avLst>
          </a:prstGeom>
          <a:solidFill>
            <a:srgbClr val="FFFFFF"/>
          </a:solidFill>
          <a:ln/>
        </p:spPr>
      </p:sp>
      <p:pic>
        <p:nvPicPr>
          <p:cNvPr id="7" name="pt:k5LNr8yypg" descr="Journey Brand logo">    </p:cNvPr>
          <p:cNvPicPr>
            <a:picLocks noChangeAspect="1"/>
          </p:cNvPicPr>
          <p:nvPr/>
        </p:nvPicPr>
        <p:blipFill>
          <a:blip r:embed="rId2"/>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2" presetID="53" presetClass="entr" presetSubtype="16" fill="hold" decel="100000" grpId="0" nodeType="withEffect">
                                  <p:stCondLst>
                                    <p:cond delay="10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450"/>
                                        <p:tgtEl>
                                          <p:spTgt spid="4">
                                            <p:txEl>
                                              <p:pRg st="0" end="0"/>
                                            </p:txEl>
                                          </p:spTgt>
                                        </p:tgtEl>
                                      </p:cBhvr>
                                    </p:animEffect>
                                    <p:animScale>
                                      <p:cBhvr>
                                        <p:cTn id="11" dur="450" fill="hold"/>
                                        <p:tgtEl>
                                          <p:spTgt spid="4">
                                            <p:txEl>
                                              <p:pRg st="0" end="0"/>
                                            </p:txEl>
                                          </p:spTgt>
                                        </p:tgtEl>
                                      </p:cBhvr>
                                      <p:from x="88000" y="88000"/>
                                      <p:to x="100000" y="100000"/>
                                    </p:animScale>
                                  </p:childTnLst>
                                </p:cTn>
                              </p:par>
                              <p:par>
                                <p:cTn id="16" presetID="53" presetClass="entr" presetSubtype="16" fill="hold" decel="100000" grpId="0" nodeType="withEffect">
                                  <p:stCondLst>
                                    <p:cond delay="18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450"/>
                                        <p:tgtEl>
                                          <p:spTgt spid="4">
                                            <p:txEl>
                                              <p:pRg st="1" end="1"/>
                                            </p:txEl>
                                          </p:spTgt>
                                        </p:tgtEl>
                                      </p:cBhvr>
                                    </p:animEffect>
                                    <p:animScale>
                                      <p:cBhvr>
                                        <p:cTn id="15" dur="450" fill="hold"/>
                                        <p:tgtEl>
                                          <p:spTgt spid="4">
                                            <p:txEl>
                                              <p:pRg st="1" end="1"/>
                                            </p:txEl>
                                          </p:spTgt>
                                        </p:tgtEl>
                                      </p:cBhvr>
                                      <p:from x="88000" y="88000"/>
                                      <p:to x="100000" y="100000"/>
                                    </p:animScale>
                                  </p:childTnLst>
                                </p:cTn>
                              </p:par>
                              <p:par>
                                <p:cTn id="20" presetID="53" presetClass="entr" presetSubtype="16" fill="hold" decel="100000" grpId="0" nodeType="withEffect">
                                  <p:stCondLst>
                                    <p:cond delay="26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450"/>
                                        <p:tgtEl>
                                          <p:spTgt spid="4">
                                            <p:txEl>
                                              <p:pRg st="2" end="2"/>
                                            </p:txEl>
                                          </p:spTgt>
                                        </p:tgtEl>
                                      </p:cBhvr>
                                    </p:animEffect>
                                    <p:animScale>
                                      <p:cBhvr>
                                        <p:cTn id="19" dur="450" fill="hold"/>
                                        <p:tgtEl>
                                          <p:spTgt spid="4">
                                            <p:txEl>
                                              <p:pRg st="2" end="2"/>
                                            </p:txEl>
                                          </p:spTgt>
                                        </p:tgtEl>
                                      </p:cBhvr>
                                      <p:from x="88000" y="88000"/>
                                      <p:to x="100000" y="100000"/>
                                    </p:animScale>
                                  </p:childTnLst>
                                </p:cTn>
                              </p:par>
                              <p:par>
                                <p:cTn id="24" presetID="53" presetClass="entr" presetSubtype="16" fill="hold" decel="100000" grpId="0" nodeType="withEffect">
                                  <p:stCondLst>
                                    <p:cond delay="34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450"/>
                                        <p:tgtEl>
                                          <p:spTgt spid="4">
                                            <p:txEl>
                                              <p:pRg st="3" end="3"/>
                                            </p:txEl>
                                          </p:spTgt>
                                        </p:tgtEl>
                                      </p:cBhvr>
                                    </p:animEffect>
                                    <p:animScale>
                                      <p:cBhvr>
                                        <p:cTn id="23" dur="450" fill="hold"/>
                                        <p:tgtEl>
                                          <p:spTgt spid="4">
                                            <p:txEl>
                                              <p:pRg st="3" end="3"/>
                                            </p:txEl>
                                          </p:spTgt>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0F0B"/>
        </a:solidFill>
      </p:bgPr>
    </p:bg>
    <p:spTree>
      <p:nvGrpSpPr>
        <p:cNvPr id="1" name=""/>
        <p:cNvGrpSpPr/>
        <p:nvPr/>
      </p:nvGrpSpPr>
      <p:grpSpPr>
        <a:xfrm>
          <a:off x="0" y="0"/>
          <a:ext cx="0" cy="0"/>
          <a:chOff x="0" y="0"/>
          <a:chExt cx="0" cy="0"/>
        </a:xfrm>
      </p:grpSpPr>
      <p:sp>
        <p:nvSpPr>
          <p:cNvPr id="2" name="pt:MABBwJCHxR"/>
          <p:cNvSpPr/>
          <p:nvPr/>
        </p:nvSpPr>
        <p:spPr>
          <a:xfrm>
            <a:off x="0" y="228600"/>
            <a:ext cx="9144000" cy="12700"/>
          </a:xfrm>
          <a:prstGeom prst="rect">
            <a:avLst/>
          </a:prstGeom>
          <a:solidFill>
            <a:srgbClr val="392E2A"/>
          </a:solidFill>
          <a:ln/>
        </p:spPr>
      </p:sp>
      <p:sp>
        <p:nvSpPr>
          <p:cNvPr id="3" name="pt:i7XRccKytH"/>
          <p:cNvSpPr/>
          <p:nvPr/>
        </p:nvSpPr>
        <p:spPr>
          <a:xfrm>
            <a:off x="457200" y="508000"/>
            <a:ext cx="8229600" cy="952500"/>
          </a:xfrm>
          <a:prstGeom prst="rect">
            <a:avLst/>
          </a:prstGeom>
          <a:noFill/>
          <a:ln/>
        </p:spPr>
        <p:txBody>
          <a:bodyPr wrap="square" lIns="0" tIns="0" rIns="0" bIns="0" rtlCol="0" anchor="ctr"/>
          <a:lstStyle/>
          <a:p>
            <a:pPr algn="l" indent="0" marL="0">
              <a:lnSpc>
                <a:spcPct val="120000"/>
              </a:lnSpc>
              <a:buNone/>
            </a:pPr>
            <a:r>
              <a:rPr lang="en-US" sz="2800" b="1" dirty="0">
                <a:solidFill>
                  <a:srgbClr val="F8F0ED"/>
                </a:solidFill>
                <a:latin typeface="Space Grotesk" pitchFamily="34" charset="0"/>
                <a:ea typeface="Space Grotesk" pitchFamily="34" charset="-122"/>
                <a:cs typeface="Space Grotesk" pitchFamily="34" charset="-120"/>
              </a:rPr>
              <a:t>Demonstrating steady growth and </a:t>
            </a:r>
            <a:pPr algn="l" indent="0" marL="0">
              <a:lnSpc>
                <a:spcPct val="120000"/>
              </a:lnSpc>
              <a:buNone/>
            </a:pPr>
            <a:r>
              <a:rPr lang="en-US" sz="2800" b="1" dirty="0">
                <a:solidFill>
                  <a:srgbClr val="17BEBB"/>
                </a:solidFill>
                <a:latin typeface="Space Grotesk" pitchFamily="34" charset="0"/>
                <a:ea typeface="Space Grotesk" pitchFamily="34" charset="-122"/>
                <a:cs typeface="Space Grotesk" pitchFamily="34" charset="-120"/>
              </a:rPr>
              <a:t>strong client retention</a:t>
            </a:r>
            <a:endParaRPr lang="en-US" sz="2800" dirty="0"/>
          </a:p>
        </p:txBody>
      </p:sp>
      <p:sp>
        <p:nvSpPr>
          <p:cNvPr id="4" name="pt:T9XiDv79n2"/>
          <p:cNvSpPr/>
          <p:nvPr/>
        </p:nvSpPr>
        <p:spPr>
          <a:xfrm>
            <a:off x="520700" y="1663700"/>
            <a:ext cx="2573867" cy="2279650"/>
          </a:xfrm>
          <a:prstGeom prst="roundRect">
            <a:avLst>
              <a:gd name="adj" fmla="val 4457"/>
            </a:avLst>
          </a:prstGeom>
          <a:solidFill>
            <a:srgbClr val="F8F0ED">
              <a:alpha val="12000"/>
            </a:srgbClr>
          </a:solidFill>
          <a:ln/>
        </p:spPr>
      </p:sp>
      <p:sp>
        <p:nvSpPr>
          <p:cNvPr id="5" name="pt:wxuI61EP-c"/>
          <p:cNvSpPr/>
          <p:nvPr/>
        </p:nvSpPr>
        <p:spPr>
          <a:xfrm>
            <a:off x="457200" y="1587500"/>
            <a:ext cx="2573867" cy="2279650"/>
          </a:xfrm>
          <a:prstGeom prst="roundRect">
            <a:avLst>
              <a:gd name="adj" fmla="val 4457"/>
            </a:avLst>
          </a:prstGeom>
          <a:solidFill>
            <a:srgbClr val="1B0F0B"/>
          </a:solidFill>
          <a:ln w="12700">
            <a:solidFill>
              <a:srgbClr val="392E2A"/>
            </a:solidFill>
            <a:prstDash val="solid"/>
          </a:ln>
        </p:spPr>
      </p:sp>
      <p:sp>
        <p:nvSpPr>
          <p:cNvPr id="6" name="pt:o8cCWdIrbV"/>
          <p:cNvSpPr/>
          <p:nvPr/>
        </p:nvSpPr>
        <p:spPr>
          <a:xfrm>
            <a:off x="660400" y="1714500"/>
            <a:ext cx="2167467" cy="508000"/>
          </a:xfrm>
          <a:prstGeom prst="rect">
            <a:avLst/>
          </a:prstGeom>
          <a:noFill/>
          <a:ln/>
        </p:spPr>
        <p:txBody>
          <a:bodyPr wrap="square" lIns="0" tIns="0" rIns="0" bIns="0" rtlCol="0" anchor="ctr"/>
          <a:lstStyle/>
          <a:p>
            <a:pPr algn="l" indent="0" marL="0">
              <a:lnSpc>
                <a:spcPct val="120000"/>
              </a:lnSpc>
              <a:buNone/>
            </a:pPr>
            <a:r>
              <a:rPr lang="en-US" sz="3000" b="1" dirty="0">
                <a:solidFill>
                  <a:srgbClr val="EA7C5C"/>
                </a:solidFill>
                <a:latin typeface="Space Grotesk" pitchFamily="34" charset="0"/>
                <a:ea typeface="Space Grotesk" pitchFamily="34" charset="-122"/>
                <a:cs typeface="Space Grotesk" pitchFamily="34" charset="-120"/>
              </a:rPr>
              <a:t>84</a:t>
            </a:r>
            <a:endParaRPr lang="en-US" sz="3000" dirty="0"/>
          </a:p>
        </p:txBody>
      </p:sp>
      <p:sp>
        <p:nvSpPr>
          <p:cNvPr id="7" name="pt:Ry3LhlTETw"/>
          <p:cNvSpPr/>
          <p:nvPr/>
        </p:nvSpPr>
        <p:spPr>
          <a:xfrm>
            <a:off x="660400" y="2222500"/>
            <a:ext cx="2167467" cy="1568450"/>
          </a:xfrm>
          <a:prstGeom prst="rect">
            <a:avLst/>
          </a:prstGeom>
          <a:noFill/>
          <a:ln/>
        </p:spPr>
        <p:txBody>
          <a:bodyPr wrap="square" lIns="0" tIns="0" rIns="0" bIns="0" rtlCol="0" anchor="t"/>
          <a:lstStyle/>
          <a:p>
            <a:pPr algn="l" indent="0" marL="0">
              <a:lnSpc>
                <a:spcPct val="120000"/>
              </a:lnSpc>
              <a:buNone/>
            </a:pPr>
            <a:r>
              <a:rPr lang="en-US" sz="1400" b="1" dirty="0">
                <a:solidFill>
                  <a:srgbClr val="F8F0ED"/>
                </a:solidFill>
                <a:latin typeface="Space Grotesk" pitchFamily="34" charset="0"/>
                <a:ea typeface="Space Grotesk" pitchFamily="34" charset="-122"/>
                <a:cs typeface="Space Grotesk" pitchFamily="34" charset="-120"/>
              </a:rPr>
              <a:t>Paying fleets</a:t>
            </a:r>
            <a:endParaRPr lang="en-US" sz="1400" dirty="0"/>
          </a:p>
        </p:txBody>
      </p:sp>
      <p:sp>
        <p:nvSpPr>
          <p:cNvPr id="8" name="pt:vTjUA8Ft4j"/>
          <p:cNvSpPr/>
          <p:nvPr/>
        </p:nvSpPr>
        <p:spPr>
          <a:xfrm>
            <a:off x="3348567" y="1663700"/>
            <a:ext cx="2573867" cy="2279650"/>
          </a:xfrm>
          <a:prstGeom prst="roundRect">
            <a:avLst>
              <a:gd name="adj" fmla="val 4457"/>
            </a:avLst>
          </a:prstGeom>
          <a:solidFill>
            <a:srgbClr val="F8F0ED">
              <a:alpha val="12000"/>
            </a:srgbClr>
          </a:solidFill>
          <a:ln/>
        </p:spPr>
      </p:sp>
      <p:sp>
        <p:nvSpPr>
          <p:cNvPr id="9" name="pt:M-MNJQfkFi"/>
          <p:cNvSpPr/>
          <p:nvPr/>
        </p:nvSpPr>
        <p:spPr>
          <a:xfrm>
            <a:off x="3285067" y="1587500"/>
            <a:ext cx="2573867" cy="2279650"/>
          </a:xfrm>
          <a:prstGeom prst="roundRect">
            <a:avLst>
              <a:gd name="adj" fmla="val 4457"/>
            </a:avLst>
          </a:prstGeom>
          <a:solidFill>
            <a:srgbClr val="1B0F0B"/>
          </a:solidFill>
          <a:ln w="12700">
            <a:solidFill>
              <a:srgbClr val="392E2A"/>
            </a:solidFill>
            <a:prstDash val="solid"/>
          </a:ln>
        </p:spPr>
      </p:sp>
      <p:sp>
        <p:nvSpPr>
          <p:cNvPr id="10" name="pt:Fl1khBkcS1"/>
          <p:cNvSpPr/>
          <p:nvPr/>
        </p:nvSpPr>
        <p:spPr>
          <a:xfrm>
            <a:off x="3488267" y="1714500"/>
            <a:ext cx="2167467" cy="508000"/>
          </a:xfrm>
          <a:prstGeom prst="rect">
            <a:avLst/>
          </a:prstGeom>
          <a:noFill/>
          <a:ln/>
        </p:spPr>
        <p:txBody>
          <a:bodyPr wrap="square" lIns="0" tIns="0" rIns="0" bIns="0" rtlCol="0" anchor="ctr"/>
          <a:lstStyle/>
          <a:p>
            <a:pPr algn="l" indent="0" marL="0">
              <a:lnSpc>
                <a:spcPct val="120000"/>
              </a:lnSpc>
              <a:buNone/>
            </a:pPr>
            <a:r>
              <a:rPr lang="en-US" sz="3000" b="1" dirty="0">
                <a:solidFill>
                  <a:srgbClr val="EA7C5C"/>
                </a:solidFill>
                <a:latin typeface="Space Grotesk" pitchFamily="34" charset="0"/>
                <a:ea typeface="Space Grotesk" pitchFamily="34" charset="-122"/>
                <a:cs typeface="Space Grotesk" pitchFamily="34" charset="-120"/>
              </a:rPr>
              <a:t>$610K</a:t>
            </a:r>
            <a:endParaRPr lang="en-US" sz="3000" dirty="0"/>
          </a:p>
        </p:txBody>
      </p:sp>
      <p:sp>
        <p:nvSpPr>
          <p:cNvPr id="11" name="pt:tovPkSlHSZ"/>
          <p:cNvSpPr/>
          <p:nvPr/>
        </p:nvSpPr>
        <p:spPr>
          <a:xfrm>
            <a:off x="3488267" y="2222500"/>
            <a:ext cx="2167467" cy="1568450"/>
          </a:xfrm>
          <a:prstGeom prst="rect">
            <a:avLst/>
          </a:prstGeom>
          <a:noFill/>
          <a:ln/>
        </p:spPr>
        <p:txBody>
          <a:bodyPr wrap="square" lIns="0" tIns="0" rIns="0" bIns="0" rtlCol="0" anchor="t"/>
          <a:lstStyle/>
          <a:p>
            <a:pPr algn="l" indent="0" marL="0">
              <a:lnSpc>
                <a:spcPct val="120000"/>
              </a:lnSpc>
              <a:buNone/>
            </a:pPr>
            <a:r>
              <a:rPr lang="en-US" sz="1400" b="1" dirty="0">
                <a:solidFill>
                  <a:srgbClr val="F8F0ED"/>
                </a:solidFill>
                <a:latin typeface="Space Grotesk" pitchFamily="34" charset="0"/>
                <a:ea typeface="Space Grotesk" pitchFamily="34" charset="-122"/>
                <a:cs typeface="Space Grotesk" pitchFamily="34" charset="-120"/>
              </a:rPr>
              <a:t>Annual recurring revenue</a:t>
            </a:r>
            <a:endParaRPr lang="en-US" sz="1400" dirty="0"/>
          </a:p>
        </p:txBody>
      </p:sp>
      <p:sp>
        <p:nvSpPr>
          <p:cNvPr id="12" name="pt:yw04SXi52p"/>
          <p:cNvSpPr/>
          <p:nvPr/>
        </p:nvSpPr>
        <p:spPr>
          <a:xfrm>
            <a:off x="6176433" y="1663700"/>
            <a:ext cx="2573867" cy="2279650"/>
          </a:xfrm>
          <a:prstGeom prst="roundRect">
            <a:avLst>
              <a:gd name="adj" fmla="val 4457"/>
            </a:avLst>
          </a:prstGeom>
          <a:solidFill>
            <a:srgbClr val="F8F0ED">
              <a:alpha val="12000"/>
            </a:srgbClr>
          </a:solidFill>
          <a:ln/>
        </p:spPr>
      </p:sp>
      <p:sp>
        <p:nvSpPr>
          <p:cNvPr id="13" name="pt:VC6dpi_RHO"/>
          <p:cNvSpPr/>
          <p:nvPr/>
        </p:nvSpPr>
        <p:spPr>
          <a:xfrm>
            <a:off x="6112933" y="1587500"/>
            <a:ext cx="2573867" cy="2279650"/>
          </a:xfrm>
          <a:prstGeom prst="roundRect">
            <a:avLst>
              <a:gd name="adj" fmla="val 4457"/>
            </a:avLst>
          </a:prstGeom>
          <a:solidFill>
            <a:srgbClr val="1B0F0B"/>
          </a:solidFill>
          <a:ln w="12700">
            <a:solidFill>
              <a:srgbClr val="392E2A"/>
            </a:solidFill>
            <a:prstDash val="solid"/>
          </a:ln>
        </p:spPr>
      </p:sp>
      <p:sp>
        <p:nvSpPr>
          <p:cNvPr id="14" name="pt:fd9Y5mupmN"/>
          <p:cNvSpPr/>
          <p:nvPr/>
        </p:nvSpPr>
        <p:spPr>
          <a:xfrm>
            <a:off x="6316133" y="1714500"/>
            <a:ext cx="2167467" cy="508000"/>
          </a:xfrm>
          <a:prstGeom prst="rect">
            <a:avLst/>
          </a:prstGeom>
          <a:noFill/>
          <a:ln/>
        </p:spPr>
        <p:txBody>
          <a:bodyPr wrap="square" lIns="0" tIns="0" rIns="0" bIns="0" rtlCol="0" anchor="ctr"/>
          <a:lstStyle/>
          <a:p>
            <a:pPr algn="l" indent="0" marL="0">
              <a:lnSpc>
                <a:spcPct val="120000"/>
              </a:lnSpc>
              <a:buNone/>
            </a:pPr>
            <a:r>
              <a:rPr lang="en-US" sz="3000" b="1" dirty="0">
                <a:solidFill>
                  <a:srgbClr val="EA7C5C"/>
                </a:solidFill>
                <a:latin typeface="Space Grotesk" pitchFamily="34" charset="0"/>
                <a:ea typeface="Space Grotesk" pitchFamily="34" charset="-122"/>
                <a:cs typeface="Space Grotesk" pitchFamily="34" charset="-120"/>
              </a:rPr>
              <a:t>17%</a:t>
            </a:r>
            <a:endParaRPr lang="en-US" sz="3000" dirty="0"/>
          </a:p>
        </p:txBody>
      </p:sp>
      <p:sp>
        <p:nvSpPr>
          <p:cNvPr id="15" name="pt:24-zpIKPxA"/>
          <p:cNvSpPr/>
          <p:nvPr/>
        </p:nvSpPr>
        <p:spPr>
          <a:xfrm>
            <a:off x="6316133" y="2222500"/>
            <a:ext cx="2167467" cy="1568450"/>
          </a:xfrm>
          <a:prstGeom prst="rect">
            <a:avLst/>
          </a:prstGeom>
          <a:noFill/>
          <a:ln/>
        </p:spPr>
        <p:txBody>
          <a:bodyPr wrap="square" lIns="0" tIns="0" rIns="0" bIns="0" rtlCol="0" anchor="t"/>
          <a:lstStyle/>
          <a:p>
            <a:pPr algn="l" indent="0" marL="0">
              <a:lnSpc>
                <a:spcPct val="120000"/>
              </a:lnSpc>
              <a:buNone/>
            </a:pPr>
            <a:r>
              <a:rPr lang="en-US" sz="1400" b="1" dirty="0">
                <a:solidFill>
                  <a:srgbClr val="F8F0ED"/>
                </a:solidFill>
                <a:latin typeface="Space Grotesk" pitchFamily="34" charset="0"/>
                <a:ea typeface="Space Grotesk" pitchFamily="34" charset="-122"/>
                <a:cs typeface="Space Grotesk" pitchFamily="34" charset="-120"/>
              </a:rPr>
              <a:t>Month-on-month growth</a:t>
            </a:r>
            <a:endParaRPr lang="en-US" sz="1400" dirty="0"/>
          </a:p>
        </p:txBody>
      </p:sp>
      <p:sp>
        <p:nvSpPr>
          <p:cNvPr id="16" name="pt:_ID0UR_-ES"/>
          <p:cNvSpPr/>
          <p:nvPr/>
        </p:nvSpPr>
        <p:spPr>
          <a:xfrm>
            <a:off x="520700" y="4197350"/>
            <a:ext cx="2573867" cy="2279650"/>
          </a:xfrm>
          <a:prstGeom prst="roundRect">
            <a:avLst>
              <a:gd name="adj" fmla="val 4457"/>
            </a:avLst>
          </a:prstGeom>
          <a:solidFill>
            <a:srgbClr val="F8F0ED">
              <a:alpha val="12000"/>
            </a:srgbClr>
          </a:solidFill>
          <a:ln/>
        </p:spPr>
      </p:sp>
      <p:sp>
        <p:nvSpPr>
          <p:cNvPr id="17" name="pt:yVB0qFYcB_"/>
          <p:cNvSpPr/>
          <p:nvPr/>
        </p:nvSpPr>
        <p:spPr>
          <a:xfrm>
            <a:off x="457200" y="4121150"/>
            <a:ext cx="2573867" cy="2279650"/>
          </a:xfrm>
          <a:prstGeom prst="roundRect">
            <a:avLst>
              <a:gd name="adj" fmla="val 4457"/>
            </a:avLst>
          </a:prstGeom>
          <a:solidFill>
            <a:srgbClr val="1B0F0B"/>
          </a:solidFill>
          <a:ln w="12700">
            <a:solidFill>
              <a:srgbClr val="392E2A"/>
            </a:solidFill>
            <a:prstDash val="solid"/>
          </a:ln>
        </p:spPr>
      </p:sp>
      <p:sp>
        <p:nvSpPr>
          <p:cNvPr id="18" name="pt:o7ZGtEd36t"/>
          <p:cNvSpPr/>
          <p:nvPr/>
        </p:nvSpPr>
        <p:spPr>
          <a:xfrm>
            <a:off x="660400" y="4248150"/>
            <a:ext cx="2167467" cy="508000"/>
          </a:xfrm>
          <a:prstGeom prst="rect">
            <a:avLst/>
          </a:prstGeom>
          <a:noFill/>
          <a:ln/>
        </p:spPr>
        <p:txBody>
          <a:bodyPr wrap="square" lIns="0" tIns="0" rIns="0" bIns="0" rtlCol="0" anchor="ctr"/>
          <a:lstStyle/>
          <a:p>
            <a:pPr algn="l" indent="0" marL="0">
              <a:lnSpc>
                <a:spcPct val="120000"/>
              </a:lnSpc>
              <a:buNone/>
            </a:pPr>
            <a:r>
              <a:rPr lang="en-US" sz="3000" b="1" dirty="0">
                <a:solidFill>
                  <a:srgbClr val="EA7C5C"/>
                </a:solidFill>
                <a:latin typeface="Space Grotesk" pitchFamily="34" charset="0"/>
                <a:ea typeface="Space Grotesk" pitchFamily="34" charset="-122"/>
                <a:cs typeface="Space Grotesk" pitchFamily="34" charset="-120"/>
              </a:rPr>
              <a:t>98%</a:t>
            </a:r>
            <a:endParaRPr lang="en-US" sz="3000" dirty="0"/>
          </a:p>
        </p:txBody>
      </p:sp>
      <p:sp>
        <p:nvSpPr>
          <p:cNvPr id="19" name="pt:aKXZ7MsHDE"/>
          <p:cNvSpPr/>
          <p:nvPr/>
        </p:nvSpPr>
        <p:spPr>
          <a:xfrm>
            <a:off x="660400" y="4756150"/>
            <a:ext cx="2167467" cy="1568450"/>
          </a:xfrm>
          <a:prstGeom prst="rect">
            <a:avLst/>
          </a:prstGeom>
          <a:noFill/>
          <a:ln/>
        </p:spPr>
        <p:txBody>
          <a:bodyPr wrap="square" lIns="0" tIns="0" rIns="0" bIns="0" rtlCol="0" anchor="t"/>
          <a:lstStyle/>
          <a:p>
            <a:pPr algn="l" indent="0" marL="0">
              <a:lnSpc>
                <a:spcPct val="120000"/>
              </a:lnSpc>
              <a:buNone/>
            </a:pPr>
            <a:r>
              <a:rPr lang="en-US" sz="1400" b="1" dirty="0">
                <a:solidFill>
                  <a:srgbClr val="F8F0ED"/>
                </a:solidFill>
                <a:latin typeface="Space Grotesk" pitchFamily="34" charset="0"/>
                <a:ea typeface="Space Grotesk" pitchFamily="34" charset="-122"/>
                <a:cs typeface="Space Grotesk" pitchFamily="34" charset="-120"/>
              </a:rPr>
              <a:t>Customer retention</a:t>
            </a:r>
            <a:endParaRPr lang="en-US" sz="1400" dirty="0"/>
          </a:p>
        </p:txBody>
      </p:sp>
      <p:sp>
        <p:nvSpPr>
          <p:cNvPr id="20" name="pt:BoOgotj45b"/>
          <p:cNvSpPr/>
          <p:nvPr/>
        </p:nvSpPr>
        <p:spPr>
          <a:xfrm>
            <a:off x="412750" y="6451600"/>
            <a:ext cx="361950" cy="361950"/>
          </a:xfrm>
          <a:prstGeom prst="roundRect">
            <a:avLst>
              <a:gd name="adj" fmla="val 12281"/>
            </a:avLst>
          </a:prstGeom>
          <a:solidFill>
            <a:srgbClr val="FFFFFF"/>
          </a:solidFill>
          <a:ln/>
        </p:spPr>
      </p:sp>
      <p:pic>
        <p:nvPicPr>
          <p:cNvPr id="21" name="pt:78AqC4Npl8" descr="Journey Brand logo">    </p:cNvPr>
          <p:cNvPicPr>
            <a:picLocks noChangeAspect="1"/>
          </p:cNvPicPr>
          <p:nvPr/>
        </p:nvPicPr>
        <p:blipFill>
          <a:blip r:embed="rId1"/>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2" presetID="53" presetClass="entr" presetSubtype="16" fill="hold" decel="100000" nodeType="withEffect">
                                  <p:stCondLst>
                                    <p:cond delay="58"/>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animScale>
                                      <p:cBhvr>
                                        <p:cTn id="11" dur="450" fill="hold"/>
                                        <p:tgtEl>
                                          <p:spTgt spid="5"/>
                                        </p:tgtEl>
                                      </p:cBhvr>
                                      <p:from x="88000" y="88000"/>
                                      <p:to x="100000" y="100000"/>
                                    </p:animScale>
                                  </p:childTnLst>
                                </p:cTn>
                              </p:par>
                              <p:par>
                                <p:cTn id="15" presetID="10" presetClass="entr" presetSubtype="0" fill="hold" decel="100000" nodeType="withEffect">
                                  <p:stCondLst>
                                    <p:cond delay="117"/>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50"/>
                                        <p:tgtEl>
                                          <p:spTgt spid="6"/>
                                        </p:tgtEl>
                                      </p:cBhvr>
                                    </p:animEffect>
                                  </p:childTnLst>
                                </p:cTn>
                              </p:par>
                              <p:par>
                                <p:cTn id="19" presetID="53" presetClass="entr" presetSubtype="16" fill="hold" decel="100000" nodeType="withEffect">
                                  <p:stCondLst>
                                    <p:cond delay="175"/>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animScale>
                                      <p:cBhvr>
                                        <p:cTn id="18" dur="450" fill="hold"/>
                                        <p:tgtEl>
                                          <p:spTgt spid="7"/>
                                        </p:tgtEl>
                                      </p:cBhvr>
                                      <p:from x="88000" y="88000"/>
                                      <p:to x="100000" y="100000"/>
                                    </p:animScale>
                                  </p:childTnLst>
                                </p:cTn>
                              </p:par>
                              <p:par>
                                <p:cTn id="23" presetID="53" presetClass="entr" presetSubtype="16" fill="hold" decel="100000" nodeType="withEffect">
                                  <p:stCondLst>
                                    <p:cond delay="233"/>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animScale>
                                      <p:cBhvr>
                                        <p:cTn id="22" dur="450" fill="hold"/>
                                        <p:tgtEl>
                                          <p:spTgt spid="9"/>
                                        </p:tgtEl>
                                      </p:cBhvr>
                                      <p:from x="88000" y="88000"/>
                                      <p:to x="100000" y="100000"/>
                                    </p:animScale>
                                  </p:childTnLst>
                                </p:cTn>
                              </p:par>
                              <p:par>
                                <p:cTn id="26" presetID="10" presetClass="entr" presetSubtype="0" fill="hold" decel="100000" nodeType="withEffect">
                                  <p:stCondLst>
                                    <p:cond delay="292"/>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30" presetID="53" presetClass="entr" presetSubtype="16" fill="hold" decel="100000" nodeType="withEffect">
                                  <p:stCondLst>
                                    <p:cond delay="3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animScale>
                                      <p:cBhvr>
                                        <p:cTn id="29" dur="450" fill="hold"/>
                                        <p:tgtEl>
                                          <p:spTgt spid="11"/>
                                        </p:tgtEl>
                                      </p:cBhvr>
                                      <p:from x="88000" y="88000"/>
                                      <p:to x="100000" y="100000"/>
                                    </p:animScale>
                                  </p:childTnLst>
                                </p:cTn>
                              </p:par>
                              <p:par>
                                <p:cTn id="34" presetID="53" presetClass="entr" presetSubtype="16" fill="hold" decel="100000" nodeType="withEffect">
                                  <p:stCondLst>
                                    <p:cond delay="408"/>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50"/>
                                        <p:tgtEl>
                                          <p:spTgt spid="13"/>
                                        </p:tgtEl>
                                      </p:cBhvr>
                                    </p:animEffect>
                                    <p:animScale>
                                      <p:cBhvr>
                                        <p:cTn id="33" dur="450" fill="hold"/>
                                        <p:tgtEl>
                                          <p:spTgt spid="13"/>
                                        </p:tgtEl>
                                      </p:cBhvr>
                                      <p:from x="88000" y="88000"/>
                                      <p:to x="100000" y="100000"/>
                                    </p:animScale>
                                  </p:childTnLst>
                                </p:cTn>
                              </p:par>
                              <p:par>
                                <p:cTn id="37" presetID="10" presetClass="entr" presetSubtype="0" fill="hold" decel="100000" nodeType="withEffect">
                                  <p:stCondLst>
                                    <p:cond delay="467"/>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50"/>
                                        <p:tgtEl>
                                          <p:spTgt spid="14"/>
                                        </p:tgtEl>
                                      </p:cBhvr>
                                    </p:animEffect>
                                  </p:childTnLst>
                                </p:cTn>
                              </p:par>
                              <p:par>
                                <p:cTn id="41" presetID="53" presetClass="entr" presetSubtype="16" fill="hold" decel="100000" nodeType="withEffect">
                                  <p:stCondLst>
                                    <p:cond delay="525"/>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50"/>
                                        <p:tgtEl>
                                          <p:spTgt spid="15"/>
                                        </p:tgtEl>
                                      </p:cBhvr>
                                    </p:animEffect>
                                    <p:animScale>
                                      <p:cBhvr>
                                        <p:cTn id="40" dur="450" fill="hold"/>
                                        <p:tgtEl>
                                          <p:spTgt spid="15"/>
                                        </p:tgtEl>
                                      </p:cBhvr>
                                      <p:from x="88000" y="88000"/>
                                      <p:to x="100000" y="100000"/>
                                    </p:animScale>
                                  </p:childTnLst>
                                </p:cTn>
                              </p:par>
                              <p:par>
                                <p:cTn id="45" presetID="53" presetClass="entr" presetSubtype="16" fill="hold" decel="100000" nodeType="withEffect">
                                  <p:stCondLst>
                                    <p:cond delay="583"/>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50"/>
                                        <p:tgtEl>
                                          <p:spTgt spid="17"/>
                                        </p:tgtEl>
                                      </p:cBhvr>
                                    </p:animEffect>
                                    <p:animScale>
                                      <p:cBhvr>
                                        <p:cTn id="44" dur="450" fill="hold"/>
                                        <p:tgtEl>
                                          <p:spTgt spid="17"/>
                                        </p:tgtEl>
                                      </p:cBhvr>
                                      <p:from x="88000" y="88000"/>
                                      <p:to x="100000" y="100000"/>
                                    </p:animScale>
                                  </p:childTnLst>
                                </p:cTn>
                              </p:par>
                              <p:par>
                                <p:cTn id="48" presetID="10" presetClass="entr" presetSubtype="0" fill="hold" decel="100000" nodeType="withEffect">
                                  <p:stCondLst>
                                    <p:cond delay="642"/>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par>
                                <p:cTn id="52" presetID="53" presetClass="entr" presetSubtype="16" fill="hold" decel="100000" nodeType="withEffect">
                                  <p:stCondLst>
                                    <p:cond delay="70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animScale>
                                      <p:cBhvr>
                                        <p:cTn id="51" dur="450" fill="hold"/>
                                        <p:tgtEl>
                                          <p:spTgt spid="19"/>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0C09"/>
        </a:solidFill>
      </p:bgPr>
    </p:bg>
    <p:spTree>
      <p:nvGrpSpPr>
        <p:cNvPr id="1" name=""/>
        <p:cNvGrpSpPr/>
        <p:nvPr/>
      </p:nvGrpSpPr>
      <p:grpSpPr>
        <a:xfrm>
          <a:off x="0" y="0"/>
          <a:ext cx="0" cy="0"/>
          <a:chOff x="0" y="0"/>
          <a:chExt cx="0" cy="0"/>
        </a:xfrm>
      </p:grpSpPr>
      <p:pic>
        <p:nvPicPr>
          <p:cNvPr id="2" name="pt:hCW84xtAvq" descr="Busy modern warehouse with workers and organised shelves">    </p:cNvPr>
          <p:cNvPicPr>
            <a:picLocks noChangeAspect="1"/>
          </p:cNvPicPr>
          <p:nvPr/>
        </p:nvPicPr>
        <p:blipFill>
          <a:blip r:embed="rId1"/>
          <a:srcRect l="0" r="0" t="0" b="0"/>
          <a:stretch/>
        </p:blipFill>
        <p:spPr>
          <a:xfrm>
            <a:off x="0" y="0"/>
            <a:ext cx="9144000" cy="6858000"/>
          </a:xfrm>
          <a:prstGeom prst="rect">
            <a:avLst/>
          </a:prstGeom>
        </p:spPr>
      </p:pic>
      <p:pic>
        <p:nvPicPr>
          <p:cNvPr id="3" name="pt:hCW84xtAvq"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9biayS0qxW"/>
          <p:cNvSpPr/>
          <p:nvPr/>
        </p:nvSpPr>
        <p:spPr>
          <a:xfrm>
            <a:off x="457200" y="2880360"/>
            <a:ext cx="698500" cy="50800"/>
          </a:xfrm>
          <a:prstGeom prst="roundRect">
            <a:avLst>
              <a:gd name="adj" fmla="val 50000"/>
            </a:avLst>
          </a:prstGeom>
          <a:solidFill>
            <a:srgbClr val="17BEBB"/>
          </a:solidFill>
          <a:ln/>
        </p:spPr>
      </p:sp>
      <p:sp>
        <p:nvSpPr>
          <p:cNvPr id="5" name="pt:felaRJR7i0"/>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3600" b="1" dirty="0">
                <a:solidFill>
                  <a:srgbClr val="FFFFFF"/>
                </a:solidFill>
                <a:latin typeface="Space Grotesk" pitchFamily="34" charset="0"/>
                <a:ea typeface="Space Grotesk" pitchFamily="34" charset="-122"/>
                <a:cs typeface="Space Grotesk" pitchFamily="34" charset="-120"/>
              </a:rPr>
              <a:t>Get Started with Journey</a:t>
            </a:r>
            <a:endParaRPr lang="en-US" sz="3600" dirty="0"/>
          </a:p>
        </p:txBody>
      </p:sp>
      <p:sp>
        <p:nvSpPr>
          <p:cNvPr id="6" name="pt:jX-1V3Y682"/>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D0CECE"/>
                </a:solidFill>
                <a:latin typeface="Space Grotesk" pitchFamily="34" charset="0"/>
                <a:ea typeface="Space Grotesk" pitchFamily="34" charset="-122"/>
                <a:cs typeface="Space Grotesk" pitchFamily="34" charset="-120"/>
              </a:rPr>
              <a:t>Transform your fleet operations today · Contact: priya@northwind.example · northwind.example</a:t>
            </a:r>
            <a:endParaRPr lang="en-US" sz="1600" dirty="0"/>
          </a:p>
        </p:txBody>
      </p:sp>
      <p:sp>
        <p:nvSpPr>
          <p:cNvPr id="7" name="pt:0D7xwryK31"/>
          <p:cNvSpPr/>
          <p:nvPr/>
        </p:nvSpPr>
        <p:spPr>
          <a:xfrm>
            <a:off x="412750" y="6451600"/>
            <a:ext cx="361950" cy="361950"/>
          </a:xfrm>
          <a:prstGeom prst="roundRect">
            <a:avLst>
              <a:gd name="adj" fmla="val 12281"/>
            </a:avLst>
          </a:prstGeom>
          <a:solidFill>
            <a:srgbClr val="FFFFFF"/>
          </a:solidFill>
          <a:ln/>
        </p:spPr>
      </p:sp>
      <p:pic>
        <p:nvPicPr>
          <p:cNvPr id="8" name="pt:muRJytKXzU"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53" presetClass="entr" presetSubtype="16" fill="hold" decel="10000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Scale>
                                      <p:cBhvr>
                                        <p:cTn id="10" dur="450" fill="hold"/>
                                        <p:tgtEl>
                                          <p:spTgt spid="5"/>
                                        </p:tgtEl>
                                      </p:cBhvr>
                                      <p:from x="88000" y="88000"/>
                                      <p:to x="100000" y="100000"/>
                                    </p:animScale>
                                  </p:childTnLst>
                                </p:cTn>
                              </p:par>
                              <p:par>
                                <p:cTn id="15" presetID="53" presetClass="entr" presetSubtype="16" fill="hold" decel="100000" nodeType="withEffect">
                                  <p:stCondLst>
                                    <p:cond delay="2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Scale>
                                      <p:cBhvr>
                                        <p:cTn id="14" dur="450" fill="hold"/>
                                        <p:tgtEl>
                                          <p:spTgt spid="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promptToPpt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Remix edited 19531</dc:title>
  <dc:subject>PptxGenJS Presentation</dc:subject>
  <dc:creator>PptxGenJS</dc:creator>
  <cp:lastModifiedBy>PptxGenJS</cp:lastModifiedBy>
  <cp:revision>1</cp:revision>
  <dcterms:created xsi:type="dcterms:W3CDTF">2026-10-10T05:30:24Z</dcterms:created>
  <dcterms:modified xsi:type="dcterms:W3CDTF">2026-10-10T05:30:24Z</dcterms:modified>
</cp:coreProperties>
</file>