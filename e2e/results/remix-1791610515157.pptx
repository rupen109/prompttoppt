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our logistics platform, designed specifically to help growing fleets reduce delivery expenses, eliminate empty miles, and streamline overall fleet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end-to-end workflow handles the entire delivery journey seamlessly. We import your orders, automate route optimization in seconds, empower your drivers via mobile tools, and keep your customers informed with live delivery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enterprise platforms often penalise growing fleets with complex onboarding and escalating per-vehicle fees. ZETA-77 hand editNorthwind provides predictable flat pricing and deploys in a single afternoon using standard mobile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proud to serve 84 paying fleets with a 98% customer retention rate. Reach out today to see how quickly we can optimize your delivery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Ek9cRUis_J" descr="Floating glass app screens and UI cards in 3D on a soft gradient">    </p:cNvPr>
          <p:cNvPicPr>
            <a:picLocks noChangeAspect="1"/>
          </p:cNvPicPr>
          <p:nvPr/>
        </p:nvPicPr>
        <p:blipFill>
          <a:blip r:embed="rId1"/>
          <a:srcRect l="0" r="0" t="0" b="0"/>
          <a:stretch/>
        </p:blipFill>
        <p:spPr>
          <a:xfrm>
            <a:off x="0" y="0"/>
            <a:ext cx="9144000" cy="6858000"/>
          </a:xfrm>
          <a:prstGeom prst="rect">
            <a:avLst/>
          </a:prstGeom>
        </p:spPr>
      </p:pic>
      <p:pic>
        <p:nvPicPr>
          <p:cNvPr id="3" name="pt:Ek9cRUis_J"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SuVF-iknTE"/>
          <p:cNvSpPr/>
          <p:nvPr/>
        </p:nvSpPr>
        <p:spPr>
          <a:xfrm>
            <a:off x="457200" y="2880360"/>
            <a:ext cx="698500" cy="50800"/>
          </a:xfrm>
          <a:prstGeom prst="roundRect">
            <a:avLst>
              <a:gd name="adj" fmla="val 50000"/>
            </a:avLst>
          </a:prstGeom>
          <a:solidFill>
            <a:srgbClr val="17BEBB"/>
          </a:solidFill>
          <a:ln/>
        </p:spPr>
      </p:sp>
      <p:sp>
        <p:nvSpPr>
          <p:cNvPr id="5" name="pt:OdLMwh8oM_"/>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ZETA-77 hand editNorthwind: Logistics Software That Cuts Delivery Cost</a:t>
            </a:r>
            <a:endParaRPr lang="en-US" sz="4100" dirty="0"/>
          </a:p>
        </p:txBody>
      </p:sp>
      <p:sp>
        <p:nvSpPr>
          <p:cNvPr id="6" name="pt:bZ0GwKV69S"/>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Modern delivery management engineered to reduce expenses and eliminate wasted miles for growing fleets</a:t>
            </a:r>
            <a:endParaRPr lang="en-US" sz="1600" dirty="0"/>
          </a:p>
        </p:txBody>
      </p:sp>
      <p:sp>
        <p:nvSpPr>
          <p:cNvPr id="7" name="pt:eKcVHKo2om"/>
          <p:cNvSpPr/>
          <p:nvPr/>
        </p:nvSpPr>
        <p:spPr>
          <a:xfrm>
            <a:off x="412750" y="6451600"/>
            <a:ext cx="361950" cy="361950"/>
          </a:xfrm>
          <a:prstGeom prst="roundRect">
            <a:avLst>
              <a:gd name="adj" fmla="val 12281"/>
            </a:avLst>
          </a:prstGeom>
          <a:solidFill>
            <a:srgbClr val="FFFFFF"/>
          </a:solidFill>
          <a:ln/>
        </p:spPr>
      </p:sp>
      <p:pic>
        <p:nvPicPr>
          <p:cNvPr id="8" name="pt:PBlI4w0Y-g"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JG-IGPHD5k"/>
          <p:cNvSpPr/>
          <p:nvPr/>
        </p:nvSpPr>
        <p:spPr>
          <a:xfrm>
            <a:off x="0" y="228600"/>
            <a:ext cx="9144000" cy="12700"/>
          </a:xfrm>
          <a:prstGeom prst="rect">
            <a:avLst/>
          </a:prstGeom>
          <a:solidFill>
            <a:srgbClr val="392E2A"/>
          </a:solidFill>
          <a:ln/>
        </p:spPr>
      </p:sp>
      <p:sp>
        <p:nvSpPr>
          <p:cNvPr id="3" name="pt:6tMfxQ40WT"/>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Space Grotesk" pitchFamily="34" charset="0"/>
                <a:ea typeface="Space Grotesk" pitchFamily="34" charset="-122"/>
                <a:cs typeface="Space Grotesk" pitchFamily="34" charset="-120"/>
              </a:rPr>
              <a:t>Streamlined Logistics from Order </a:t>
            </a:r>
            <a:pPr algn="l" indent="0" marL="0">
              <a:lnSpc>
                <a:spcPct val="120000"/>
              </a:lnSpc>
              <a:buNone/>
            </a:pPr>
            <a:r>
              <a:rPr lang="en-US" sz="2800" b="1" dirty="0">
                <a:solidFill>
                  <a:srgbClr val="17BEBB"/>
                </a:solidFill>
                <a:latin typeface="Space Grotesk" pitchFamily="34" charset="0"/>
                <a:ea typeface="Space Grotesk" pitchFamily="34" charset="-122"/>
                <a:cs typeface="Space Grotesk" pitchFamily="34" charset="-120"/>
              </a:rPr>
              <a:t>Import to Delivery</a:t>
            </a:r>
            <a:endParaRPr lang="en-US" sz="2800" dirty="0"/>
          </a:p>
        </p:txBody>
      </p:sp>
      <p:sp>
        <p:nvSpPr>
          <p:cNvPr id="4" name="pt:sRKqs3nyL7"/>
          <p:cNvSpPr/>
          <p:nvPr/>
        </p:nvSpPr>
        <p:spPr>
          <a:xfrm>
            <a:off x="520700" y="1663700"/>
            <a:ext cx="1905000" cy="3302000"/>
          </a:xfrm>
          <a:prstGeom prst="roundRect">
            <a:avLst>
              <a:gd name="adj" fmla="val 5333"/>
            </a:avLst>
          </a:prstGeom>
          <a:solidFill>
            <a:srgbClr val="F8F0ED">
              <a:alpha val="12000"/>
            </a:srgbClr>
          </a:solidFill>
          <a:ln/>
        </p:spPr>
      </p:sp>
      <p:sp>
        <p:nvSpPr>
          <p:cNvPr id="5" name="pt:bR1lh_QYv3"/>
          <p:cNvSpPr/>
          <p:nvPr/>
        </p:nvSpPr>
        <p:spPr>
          <a:xfrm>
            <a:off x="457200" y="1587500"/>
            <a:ext cx="1905000" cy="3302000"/>
          </a:xfrm>
          <a:prstGeom prst="roundRect">
            <a:avLst>
              <a:gd name="adj" fmla="val 5333"/>
            </a:avLst>
          </a:prstGeom>
          <a:solidFill>
            <a:srgbClr val="1B0F0B"/>
          </a:solidFill>
          <a:ln w="12700">
            <a:solidFill>
              <a:srgbClr val="392E2A"/>
            </a:solidFill>
            <a:prstDash val="solid"/>
          </a:ln>
        </p:spPr>
      </p:sp>
      <p:sp>
        <p:nvSpPr>
          <p:cNvPr id="6" name="pt:scrCypI7LM"/>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01</a:t>
            </a:r>
            <a:endParaRPr lang="en-US" sz="2800" dirty="0"/>
          </a:p>
        </p:txBody>
      </p:sp>
      <p:sp>
        <p:nvSpPr>
          <p:cNvPr id="7" name="pt:pDMTqF9KSJ"/>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Import</a:t>
            </a:r>
            <a:endParaRPr lang="en-US" sz="1700" dirty="0"/>
          </a:p>
        </p:txBody>
      </p:sp>
      <p:sp>
        <p:nvSpPr>
          <p:cNvPr id="8" name="pt:UPR_g7jNh2"/>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Upload daily orders seamlessly or sync directly with your current systems</a:t>
            </a:r>
            <a:endParaRPr lang="en-US" sz="1300" dirty="0"/>
          </a:p>
        </p:txBody>
      </p:sp>
      <p:sp>
        <p:nvSpPr>
          <p:cNvPr id="9" name="pt:_nMg-MX3gW"/>
          <p:cNvSpPr/>
          <p:nvPr/>
        </p:nvSpPr>
        <p:spPr>
          <a:xfrm>
            <a:off x="2628900" y="1663700"/>
            <a:ext cx="1905000" cy="3302000"/>
          </a:xfrm>
          <a:prstGeom prst="roundRect">
            <a:avLst>
              <a:gd name="adj" fmla="val 5333"/>
            </a:avLst>
          </a:prstGeom>
          <a:solidFill>
            <a:srgbClr val="F8F0ED">
              <a:alpha val="12000"/>
            </a:srgbClr>
          </a:solidFill>
          <a:ln/>
        </p:spPr>
      </p:sp>
      <p:sp>
        <p:nvSpPr>
          <p:cNvPr id="10" name="pt:P1Chsip2FM"/>
          <p:cNvSpPr/>
          <p:nvPr/>
        </p:nvSpPr>
        <p:spPr>
          <a:xfrm>
            <a:off x="2565400" y="1587500"/>
            <a:ext cx="1905000" cy="3302000"/>
          </a:xfrm>
          <a:prstGeom prst="roundRect">
            <a:avLst>
              <a:gd name="adj" fmla="val 5333"/>
            </a:avLst>
          </a:prstGeom>
          <a:solidFill>
            <a:srgbClr val="1B0F0B"/>
          </a:solidFill>
          <a:ln w="12700">
            <a:solidFill>
              <a:srgbClr val="392E2A"/>
            </a:solidFill>
            <a:prstDash val="solid"/>
          </a:ln>
        </p:spPr>
      </p:sp>
      <p:sp>
        <p:nvSpPr>
          <p:cNvPr id="11" name="pt:1PFpOZ4NgO"/>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02</a:t>
            </a:r>
            <a:endParaRPr lang="en-US" sz="2800" dirty="0"/>
          </a:p>
        </p:txBody>
      </p:sp>
      <p:sp>
        <p:nvSpPr>
          <p:cNvPr id="12" name="pt:ukCZPwBx1i"/>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Plan</a:t>
            </a:r>
            <a:endParaRPr lang="en-US" sz="1700" dirty="0"/>
          </a:p>
        </p:txBody>
      </p:sp>
      <p:sp>
        <p:nvSpPr>
          <p:cNvPr id="13" name="pt:VQ-Yxkb8AQ"/>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Automatic route planning in under a minute, optimised for time, cost, and vehicle capacity</a:t>
            </a:r>
            <a:endParaRPr lang="en-US" sz="1300" dirty="0"/>
          </a:p>
        </p:txBody>
      </p:sp>
      <p:sp>
        <p:nvSpPr>
          <p:cNvPr id="14" name="pt:HPZPfjatv0"/>
          <p:cNvSpPr/>
          <p:nvPr/>
        </p:nvSpPr>
        <p:spPr>
          <a:xfrm>
            <a:off x="4737100" y="1663700"/>
            <a:ext cx="1905000" cy="3302000"/>
          </a:xfrm>
          <a:prstGeom prst="roundRect">
            <a:avLst>
              <a:gd name="adj" fmla="val 5333"/>
            </a:avLst>
          </a:prstGeom>
          <a:solidFill>
            <a:srgbClr val="F8F0ED">
              <a:alpha val="12000"/>
            </a:srgbClr>
          </a:solidFill>
          <a:ln/>
        </p:spPr>
      </p:sp>
      <p:sp>
        <p:nvSpPr>
          <p:cNvPr id="15" name="pt:zkayUWbVjQ"/>
          <p:cNvSpPr/>
          <p:nvPr/>
        </p:nvSpPr>
        <p:spPr>
          <a:xfrm>
            <a:off x="4673600" y="1587500"/>
            <a:ext cx="1905000" cy="3302000"/>
          </a:xfrm>
          <a:prstGeom prst="roundRect">
            <a:avLst>
              <a:gd name="adj" fmla="val 5333"/>
            </a:avLst>
          </a:prstGeom>
          <a:solidFill>
            <a:srgbClr val="1B0F0B"/>
          </a:solidFill>
          <a:ln w="12700">
            <a:solidFill>
              <a:srgbClr val="392E2A"/>
            </a:solidFill>
            <a:prstDash val="solid"/>
          </a:ln>
        </p:spPr>
      </p:sp>
      <p:sp>
        <p:nvSpPr>
          <p:cNvPr id="16" name="pt:xZna9p8y1w"/>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03</a:t>
            </a:r>
            <a:endParaRPr lang="en-US" sz="2800" dirty="0"/>
          </a:p>
        </p:txBody>
      </p:sp>
      <p:sp>
        <p:nvSpPr>
          <p:cNvPr id="17" name="pt:9QVbtPDPT4"/>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Deliver</a:t>
            </a:r>
            <a:endParaRPr lang="en-US" sz="1700" dirty="0"/>
          </a:p>
        </p:txBody>
      </p:sp>
      <p:sp>
        <p:nvSpPr>
          <p:cNvPr id="18" name="pt:JIU4aQXxZa"/>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Drivers execute turn-by-turn routes inside the mobile app using existing phones</a:t>
            </a:r>
            <a:endParaRPr lang="en-US" sz="1300" dirty="0"/>
          </a:p>
        </p:txBody>
      </p:sp>
      <p:sp>
        <p:nvSpPr>
          <p:cNvPr id="19" name="pt:2My7-O7HKU"/>
          <p:cNvSpPr/>
          <p:nvPr/>
        </p:nvSpPr>
        <p:spPr>
          <a:xfrm>
            <a:off x="6845300" y="1663700"/>
            <a:ext cx="1905000" cy="3302000"/>
          </a:xfrm>
          <a:prstGeom prst="roundRect">
            <a:avLst>
              <a:gd name="adj" fmla="val 5333"/>
            </a:avLst>
          </a:prstGeom>
          <a:solidFill>
            <a:srgbClr val="F8F0ED">
              <a:alpha val="12000"/>
            </a:srgbClr>
          </a:solidFill>
          <a:ln/>
        </p:spPr>
      </p:sp>
      <p:sp>
        <p:nvSpPr>
          <p:cNvPr id="20" name="pt:GRFfnNGaHE"/>
          <p:cNvSpPr/>
          <p:nvPr/>
        </p:nvSpPr>
        <p:spPr>
          <a:xfrm>
            <a:off x="6781800" y="1587500"/>
            <a:ext cx="1905000" cy="3302000"/>
          </a:xfrm>
          <a:prstGeom prst="roundRect">
            <a:avLst>
              <a:gd name="adj" fmla="val 5333"/>
            </a:avLst>
          </a:prstGeom>
          <a:solidFill>
            <a:srgbClr val="1B0F0B"/>
          </a:solidFill>
          <a:ln w="12700">
            <a:solidFill>
              <a:srgbClr val="392E2A"/>
            </a:solidFill>
            <a:prstDash val="solid"/>
          </a:ln>
        </p:spPr>
      </p:sp>
      <p:sp>
        <p:nvSpPr>
          <p:cNvPr id="21" name="pt:-tmZvxRYmy"/>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04</a:t>
            </a:r>
            <a:endParaRPr lang="en-US" sz="2800" dirty="0"/>
          </a:p>
        </p:txBody>
      </p:sp>
      <p:sp>
        <p:nvSpPr>
          <p:cNvPr id="22" name="pt:WY1BroK5t-"/>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Notify</a:t>
            </a:r>
            <a:endParaRPr lang="en-US" sz="1700" dirty="0"/>
          </a:p>
        </p:txBody>
      </p:sp>
      <p:sp>
        <p:nvSpPr>
          <p:cNvPr id="23" name="pt:LF7P5BouOU"/>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Customers receive accurate live delivery windows and verified proof of delivery</a:t>
            </a:r>
            <a:endParaRPr lang="en-US" sz="1300" dirty="0"/>
          </a:p>
        </p:txBody>
      </p:sp>
      <p:sp>
        <p:nvSpPr>
          <p:cNvPr id="24" name="pt:GpoTZFxsau"/>
          <p:cNvSpPr/>
          <p:nvPr/>
        </p:nvSpPr>
        <p:spPr>
          <a:xfrm>
            <a:off x="412750" y="6451600"/>
            <a:ext cx="361950" cy="361950"/>
          </a:xfrm>
          <a:prstGeom prst="roundRect">
            <a:avLst>
              <a:gd name="adj" fmla="val 12281"/>
            </a:avLst>
          </a:prstGeom>
          <a:solidFill>
            <a:srgbClr val="FFFFFF"/>
          </a:solidFill>
          <a:ln/>
        </p:spPr>
      </p:sp>
      <p:pic>
        <p:nvPicPr>
          <p:cNvPr id="25" name="pt:3JKj8oKOIh"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88000" y="88000"/>
                                      <p:to x="100000" y="100000"/>
                                    </p:animScale>
                                  </p:childTnLst>
                                </p:cTn>
                              </p:par>
                              <p:par>
                                <p:cTn id="24" presetID="53" presetClass="entr" presetSubtype="16"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Scale>
                                      <p:cBhvr>
                                        <p:cTn id="23" dur="450" fill="hold"/>
                                        <p:tgtEl>
                                          <p:spTgt spid="12"/>
                                        </p:tgtEl>
                                      </p:cBhvr>
                                      <p:from x="88000" y="88000"/>
                                      <p:to x="100000" y="100000"/>
                                    </p:animScale>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88000" y="88000"/>
                                      <p:to x="100000" y="100000"/>
                                    </p:animScale>
                                  </p:childTnLst>
                                </p:cTn>
                              </p:par>
                              <p:par>
                                <p:cTn id="32" presetID="53" presetClass="entr" presetSubtype="16"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Scale>
                                      <p:cBhvr>
                                        <p:cTn id="31" dur="450" fill="hold"/>
                                        <p:tgtEl>
                                          <p:spTgt spid="17"/>
                                        </p:tgtEl>
                                      </p:cBhvr>
                                      <p:from x="88000" y="88000"/>
                                      <p:to x="100000" y="100000"/>
                                    </p:animScale>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88000" y="88000"/>
                                      <p:to x="100000" y="100000"/>
                                    </p:animScale>
                                  </p:childTnLst>
                                </p:cTn>
                              </p:par>
                              <p:par>
                                <p:cTn id="40" presetID="53" presetClass="entr" presetSubtype="16"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Scale>
                                      <p:cBhvr>
                                        <p:cTn id="39" dur="450" fill="hold"/>
                                        <p:tgtEl>
                                          <p:spTgt spid="22"/>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fVnFL5Qka5"/>
          <p:cNvSpPr/>
          <p:nvPr/>
        </p:nvSpPr>
        <p:spPr>
          <a:xfrm>
            <a:off x="0" y="228600"/>
            <a:ext cx="9144000" cy="12700"/>
          </a:xfrm>
          <a:prstGeom prst="rect">
            <a:avLst/>
          </a:prstGeom>
          <a:solidFill>
            <a:srgbClr val="392E2A"/>
          </a:solidFill>
          <a:ln/>
        </p:spPr>
      </p:sp>
      <p:sp>
        <p:nvSpPr>
          <p:cNvPr id="3" name="pt:ob8zP_VvGO"/>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F8F0ED"/>
                </a:solidFill>
                <a:latin typeface="Space Grotesk" pitchFamily="34" charset="0"/>
                <a:ea typeface="Space Grotesk" pitchFamily="34" charset="-122"/>
                <a:cs typeface="Space Grotesk" pitchFamily="34" charset="-120"/>
              </a:rPr>
              <a:t>Purpose-Built for </a:t>
            </a:r>
            <a:pPr algn="l" indent="0" marL="0">
              <a:lnSpc>
                <a:spcPct val="120000"/>
              </a:lnSpc>
              <a:buNone/>
            </a:pPr>
            <a:r>
              <a:rPr lang="en-US" sz="3000" b="1" dirty="0">
                <a:solidFill>
                  <a:srgbClr val="17BEBB"/>
                </a:solidFill>
                <a:latin typeface="Space Grotesk" pitchFamily="34" charset="0"/>
                <a:ea typeface="Space Grotesk" pitchFamily="34" charset="-122"/>
                <a:cs typeface="Space Grotesk" pitchFamily="34" charset="-120"/>
              </a:rPr>
              <a:t>Mid-Sized Fleets</a:t>
            </a:r>
            <a:endParaRPr lang="en-US" sz="3000" dirty="0"/>
          </a:p>
        </p:txBody>
      </p:sp>
      <p:sp>
        <p:nvSpPr>
          <p:cNvPr id="4" name="pt:aHd8wYCdor"/>
          <p:cNvSpPr/>
          <p:nvPr/>
        </p:nvSpPr>
        <p:spPr>
          <a:xfrm>
            <a:off x="520700" y="1663700"/>
            <a:ext cx="3962400" cy="4813300"/>
          </a:xfrm>
          <a:prstGeom prst="roundRect">
            <a:avLst>
              <a:gd name="adj" fmla="val 2564"/>
            </a:avLst>
          </a:prstGeom>
          <a:solidFill>
            <a:srgbClr val="F8F0ED">
              <a:alpha val="12000"/>
            </a:srgbClr>
          </a:solidFill>
          <a:ln/>
        </p:spPr>
      </p:sp>
      <p:sp>
        <p:nvSpPr>
          <p:cNvPr id="5" name="pt:rf-k62aNc6"/>
          <p:cNvSpPr/>
          <p:nvPr/>
        </p:nvSpPr>
        <p:spPr>
          <a:xfrm>
            <a:off x="457200" y="1587500"/>
            <a:ext cx="3962400" cy="4813300"/>
          </a:xfrm>
          <a:prstGeom prst="roundRect">
            <a:avLst>
              <a:gd name="adj" fmla="val 2564"/>
            </a:avLst>
          </a:prstGeom>
          <a:solidFill>
            <a:srgbClr val="1B0F0B"/>
          </a:solidFill>
          <a:ln w="12700">
            <a:solidFill>
              <a:srgbClr val="392E2A"/>
            </a:solidFill>
            <a:prstDash val="solid"/>
          </a:ln>
        </p:spPr>
      </p:sp>
      <p:sp>
        <p:nvSpPr>
          <p:cNvPr id="6" name="pt:ro-6qu1Paw"/>
          <p:cNvSpPr/>
          <p:nvPr/>
        </p:nvSpPr>
        <p:spPr>
          <a:xfrm>
            <a:off x="685800" y="1816100"/>
            <a:ext cx="3505200" cy="508000"/>
          </a:xfrm>
          <a:prstGeom prst="rect">
            <a:avLst/>
          </a:prstGeom>
          <a:noFill/>
          <a:ln/>
        </p:spPr>
        <p:txBody>
          <a:bodyPr wrap="square" lIns="0" tIns="0" rIns="0" bIns="0" rtlCol="0" anchor="t"/>
          <a:lstStyle/>
          <a:p>
            <a:pPr algn="l" indent="0" marL="0">
              <a:lnSpc>
                <a:spcPct val="120000"/>
              </a:lnSpc>
              <a:buNone/>
            </a:pPr>
            <a:r>
              <a:rPr lang="en-US" sz="1500" b="1" dirty="0">
                <a:solidFill>
                  <a:srgbClr val="EA7C5C"/>
                </a:solidFill>
                <a:latin typeface="Space Grotesk" pitchFamily="34" charset="0"/>
                <a:ea typeface="Space Grotesk" pitchFamily="34" charset="-122"/>
                <a:cs typeface="Space Grotesk" pitchFamily="34" charset="-120"/>
              </a:rPr>
              <a:t>Traditional Enterprise Platforms</a:t>
            </a:r>
            <a:endParaRPr lang="en-US" sz="1500" dirty="0"/>
          </a:p>
        </p:txBody>
      </p:sp>
      <p:sp>
        <p:nvSpPr>
          <p:cNvPr id="7" name="pt:70S-veRMsQ"/>
          <p:cNvSpPr/>
          <p:nvPr/>
        </p:nvSpPr>
        <p:spPr>
          <a:xfrm>
            <a:off x="6858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Demand months of onboarding before full deployment</a:t>
            </a:r>
            <a:endParaRPr lang="en-US" sz="1500" dirty="0"/>
          </a:p>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Penalise fleet growth with higher per-vehicle pricing tiers</a:t>
            </a:r>
            <a:endParaRPr lang="en-US" sz="1500" dirty="0"/>
          </a:p>
          <a:p>
            <a:pPr algn="l" marL="342900" indent="-342900">
              <a:lnSpc>
                <a:spcPct val="120000"/>
              </a:lnSpc>
              <a:buSzPct val="100000"/>
              <a:buChar char="•"/>
            </a:pPr>
            <a:r>
              <a:rPr lang="en-US" sz="1500" dirty="0">
                <a:solidFill>
                  <a:srgbClr val="F8F0ED"/>
                </a:solidFill>
                <a:latin typeface="Inter" pitchFamily="34" charset="0"/>
                <a:ea typeface="Inter" pitchFamily="34" charset="-122"/>
                <a:cs typeface="Inter" pitchFamily="34" charset="-120"/>
              </a:rPr>
              <a:t>Require complex configuration and dedicated IT management</a:t>
            </a:r>
            <a:endParaRPr lang="en-US" sz="1500" dirty="0"/>
          </a:p>
        </p:txBody>
      </p:sp>
      <p:sp>
        <p:nvSpPr>
          <p:cNvPr id="8" name="pt:VS1JUbfUN0"/>
          <p:cNvSpPr/>
          <p:nvPr/>
        </p:nvSpPr>
        <p:spPr>
          <a:xfrm>
            <a:off x="4787900" y="1663700"/>
            <a:ext cx="3962400" cy="4813300"/>
          </a:xfrm>
          <a:prstGeom prst="roundRect">
            <a:avLst>
              <a:gd name="adj" fmla="val 2564"/>
            </a:avLst>
          </a:prstGeom>
          <a:solidFill>
            <a:srgbClr val="F8F0ED">
              <a:alpha val="12000"/>
            </a:srgbClr>
          </a:solidFill>
          <a:ln/>
        </p:spPr>
      </p:sp>
      <p:sp>
        <p:nvSpPr>
          <p:cNvPr id="9" name="pt:Qfw1T0S8_G"/>
          <p:cNvSpPr/>
          <p:nvPr/>
        </p:nvSpPr>
        <p:spPr>
          <a:xfrm>
            <a:off x="4724400" y="1587500"/>
            <a:ext cx="3962400" cy="4813300"/>
          </a:xfrm>
          <a:prstGeom prst="roundRect">
            <a:avLst>
              <a:gd name="adj" fmla="val 2564"/>
            </a:avLst>
          </a:prstGeom>
          <a:solidFill>
            <a:srgbClr val="1B0F0B"/>
          </a:solidFill>
          <a:ln w="12700">
            <a:solidFill>
              <a:srgbClr val="392E2A"/>
            </a:solidFill>
            <a:prstDash val="solid"/>
          </a:ln>
        </p:spPr>
      </p:sp>
      <p:sp>
        <p:nvSpPr>
          <p:cNvPr id="10" name="pt:jWur25HRXe"/>
          <p:cNvSpPr/>
          <p:nvPr/>
        </p:nvSpPr>
        <p:spPr>
          <a:xfrm>
            <a:off x="4953000" y="1816100"/>
            <a:ext cx="3505200" cy="508000"/>
          </a:xfrm>
          <a:prstGeom prst="rect">
            <a:avLst/>
          </a:prstGeom>
          <a:noFill/>
          <a:ln/>
        </p:spPr>
        <p:txBody>
          <a:bodyPr wrap="square" lIns="0" tIns="0" rIns="0" bIns="0" rtlCol="0" anchor="t"/>
          <a:lstStyle/>
          <a:p>
            <a:pPr algn="l" indent="0" marL="0">
              <a:lnSpc>
                <a:spcPct val="120000"/>
              </a:lnSpc>
              <a:buNone/>
            </a:pPr>
            <a:r>
              <a:rPr lang="en-US" sz="1800" b="1" dirty="0">
                <a:solidFill>
                  <a:srgbClr val="EA7C5C"/>
                </a:solidFill>
                <a:latin typeface="Space Grotesk" pitchFamily="34" charset="0"/>
                <a:ea typeface="Space Grotesk" pitchFamily="34" charset="-122"/>
                <a:cs typeface="Space Grotesk" pitchFamily="34" charset="-120"/>
              </a:rPr>
              <a:t>ZETA-77 hand editNorthwind</a:t>
            </a:r>
            <a:endParaRPr lang="en-US" sz="1800" dirty="0"/>
          </a:p>
        </p:txBody>
      </p:sp>
      <p:sp>
        <p:nvSpPr>
          <p:cNvPr id="11" name="pt:CUd4MW-N1O"/>
          <p:cNvSpPr/>
          <p:nvPr/>
        </p:nvSpPr>
        <p:spPr>
          <a:xfrm>
            <a:off x="49530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Tailored for mid-sized fleets of 5 to 200 vehicles</a:t>
            </a:r>
            <a:endParaRPr lang="en-US" sz="1500" dirty="0"/>
          </a:p>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Go-live setup completed in a single afternoon</a:t>
            </a:r>
            <a:endParaRPr lang="en-US" sz="1500" dirty="0"/>
          </a:p>
          <a:p>
            <a:pPr algn="l" marL="342900" indent="-342900">
              <a:lnSpc>
                <a:spcPct val="120000"/>
              </a:lnSpc>
              <a:spcAft>
                <a:spcPts val="800"/>
              </a:spcAft>
              <a:buSzPct val="100000"/>
              <a:buChar char="•"/>
            </a:pPr>
            <a:r>
              <a:rPr lang="en-US" sz="1500" dirty="0">
                <a:solidFill>
                  <a:srgbClr val="F8F0ED"/>
                </a:solidFill>
                <a:latin typeface="Inter" pitchFamily="34" charset="0"/>
                <a:ea typeface="Inter" pitchFamily="34" charset="-122"/>
                <a:cs typeface="Inter" pitchFamily="34" charset="-120"/>
              </a:rPr>
              <a:t>Simple flat pricing replaces punitive per-vehicle tiers</a:t>
            </a:r>
            <a:endParaRPr lang="en-US" sz="1500" dirty="0"/>
          </a:p>
          <a:p>
            <a:pPr algn="l" marL="342900" indent="-342900">
              <a:lnSpc>
                <a:spcPct val="120000"/>
              </a:lnSpc>
              <a:buSzPct val="100000"/>
              <a:buChar char="•"/>
            </a:pPr>
            <a:r>
              <a:rPr lang="en-US" sz="1500" dirty="0">
                <a:solidFill>
                  <a:srgbClr val="F8F0ED"/>
                </a:solidFill>
                <a:latin typeface="Inter" pitchFamily="34" charset="0"/>
                <a:ea typeface="Inter" pitchFamily="34" charset="-122"/>
                <a:cs typeface="Inter" pitchFamily="34" charset="-120"/>
              </a:rPr>
              <a:t>Works out of the box with existing hardware and phones</a:t>
            </a:r>
            <a:endParaRPr lang="en-US" sz="1500" dirty="0"/>
          </a:p>
        </p:txBody>
      </p:sp>
      <p:sp>
        <p:nvSpPr>
          <p:cNvPr id="12" name="pt:aS8Lxh2UgX"/>
          <p:cNvSpPr/>
          <p:nvPr/>
        </p:nvSpPr>
        <p:spPr>
          <a:xfrm>
            <a:off x="412750" y="6451600"/>
            <a:ext cx="361950" cy="361950"/>
          </a:xfrm>
          <a:prstGeom prst="roundRect">
            <a:avLst>
              <a:gd name="adj" fmla="val 12281"/>
            </a:avLst>
          </a:prstGeom>
          <a:solidFill>
            <a:srgbClr val="FFFFFF"/>
          </a:solidFill>
          <a:ln/>
        </p:spPr>
      </p:sp>
      <p:pic>
        <p:nvPicPr>
          <p:cNvPr id="13" name="pt:Lg4XFt3h-7"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grpId="0" nodeType="withEffect">
                                  <p:stCondLst>
                                    <p:cond delay="20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450"/>
                                        <p:tgtEl>
                                          <p:spTgt spid="7">
                                            <p:txEl>
                                              <p:pRg st="0" end="0"/>
                                            </p:txEl>
                                          </p:spTgt>
                                        </p:tgtEl>
                                      </p:cBhvr>
                                    </p:animEffect>
                                    <p:animScale>
                                      <p:cBhvr>
                                        <p:cTn id="15" dur="450" fill="hold"/>
                                        <p:tgtEl>
                                          <p:spTgt spid="7">
                                            <p:txEl>
                                              <p:pRg st="0" end="0"/>
                                            </p:txEl>
                                          </p:spTgt>
                                        </p:tgtEl>
                                      </p:cBhvr>
                                      <p:from x="88000" y="88000"/>
                                      <p:to x="100000" y="100000"/>
                                    </p:animScale>
                                  </p:childTnLst>
                                </p:cTn>
                              </p:par>
                              <p:par>
                                <p:cTn id="20" presetID="53" presetClass="entr" presetSubtype="16" fill="hold" decel="100000" grpId="0" nodeType="withEffect">
                                  <p:stCondLst>
                                    <p:cond delay="28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450"/>
                                        <p:tgtEl>
                                          <p:spTgt spid="7">
                                            <p:txEl>
                                              <p:pRg st="1" end="1"/>
                                            </p:txEl>
                                          </p:spTgt>
                                        </p:tgtEl>
                                      </p:cBhvr>
                                    </p:animEffect>
                                    <p:animScale>
                                      <p:cBhvr>
                                        <p:cTn id="19" dur="450" fill="hold"/>
                                        <p:tgtEl>
                                          <p:spTgt spid="7">
                                            <p:txEl>
                                              <p:pRg st="1" end="1"/>
                                            </p:txEl>
                                          </p:spTgt>
                                        </p:tgtEl>
                                      </p:cBhvr>
                                      <p:from x="88000" y="88000"/>
                                      <p:to x="100000" y="100000"/>
                                    </p:animScale>
                                  </p:childTnLst>
                                </p:cTn>
                              </p:par>
                              <p:par>
                                <p:cTn id="24" presetID="53" presetClass="entr" presetSubtype="16" fill="hold" decel="100000" grpId="0" nodeType="withEffect">
                                  <p:stCondLst>
                                    <p:cond delay="36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450"/>
                                        <p:tgtEl>
                                          <p:spTgt spid="7">
                                            <p:txEl>
                                              <p:pRg st="2" end="2"/>
                                            </p:txEl>
                                          </p:spTgt>
                                        </p:tgtEl>
                                      </p:cBhvr>
                                    </p:animEffect>
                                    <p:animScale>
                                      <p:cBhvr>
                                        <p:cTn id="23" dur="450" fill="hold"/>
                                        <p:tgtEl>
                                          <p:spTgt spid="7">
                                            <p:txEl>
                                              <p:pRg st="2" end="2"/>
                                            </p:txEl>
                                          </p:spTgt>
                                        </p:tgtEl>
                                      </p:cBhvr>
                                      <p:from x="88000" y="88000"/>
                                      <p:to x="100000" y="100000"/>
                                    </p:animScale>
                                  </p:childTnLst>
                                </p:cTn>
                              </p:par>
                              <p:par>
                                <p:cTn id="28" presetID="53" presetClass="entr" presetSubtype="16" fill="hold" decel="100000" nodeType="withEffect">
                                  <p:stCondLst>
                                    <p:cond delay="3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Scale>
                                      <p:cBhvr>
                                        <p:cTn id="27" dur="450" fill="hold"/>
                                        <p:tgtEl>
                                          <p:spTgt spid="9"/>
                                        </p:tgtEl>
                                      </p:cBhvr>
                                      <p:from x="88000" y="88000"/>
                                      <p:to x="100000" y="100000"/>
                                    </p:animScale>
                                  </p:childTnLst>
                                </p:cTn>
                              </p:par>
                              <p:par>
                                <p:cTn id="32" presetID="53" presetClass="entr" presetSubtype="16" fill="hold" decel="100000" grpId="0" nodeType="withEffect">
                                  <p:stCondLst>
                                    <p:cond delay="40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450"/>
                                        <p:tgtEl>
                                          <p:spTgt spid="11">
                                            <p:txEl>
                                              <p:pRg st="0" end="0"/>
                                            </p:txEl>
                                          </p:spTgt>
                                        </p:tgtEl>
                                      </p:cBhvr>
                                    </p:animEffect>
                                    <p:animScale>
                                      <p:cBhvr>
                                        <p:cTn id="31" dur="450" fill="hold"/>
                                        <p:tgtEl>
                                          <p:spTgt spid="11">
                                            <p:txEl>
                                              <p:pRg st="0" end="0"/>
                                            </p:txEl>
                                          </p:spTgt>
                                        </p:tgtEl>
                                      </p:cBhvr>
                                      <p:from x="88000" y="88000"/>
                                      <p:to x="100000" y="100000"/>
                                    </p:animScale>
                                  </p:childTnLst>
                                </p:cTn>
                              </p:par>
                              <p:par>
                                <p:cTn id="36" presetID="53" presetClass="entr" presetSubtype="16" fill="hold" decel="100000" grpId="0" nodeType="withEffect">
                                  <p:stCondLst>
                                    <p:cond delay="480"/>
                                  </p:stCondLst>
                                  <p:childTnLst>
                                    <p:set>
                                      <p:cBhvr>
                                        <p:cTn id="33" dur="1" fill="hold">
                                          <p:stCondLst>
                                            <p:cond delay="0"/>
                                          </p:stCondLst>
                                        </p:cTn>
                                        <p:tgtEl>
                                          <p:spTgt spid="11">
                                            <p:txEl>
                                              <p:pRg st="1" end="1"/>
                                            </p:txEl>
                                          </p:spTgt>
                                        </p:tgtEl>
                                        <p:attrNameLst>
                                          <p:attrName>style.visibility</p:attrName>
                                        </p:attrNameLst>
                                      </p:cBhvr>
                                      <p:to>
                                        <p:strVal val="visible"/>
                                      </p:to>
                                    </p:set>
                                    <p:animEffect transition="in" filter="fade">
                                      <p:cBhvr>
                                        <p:cTn id="34" dur="450"/>
                                        <p:tgtEl>
                                          <p:spTgt spid="11">
                                            <p:txEl>
                                              <p:pRg st="1" end="1"/>
                                            </p:txEl>
                                          </p:spTgt>
                                        </p:tgtEl>
                                      </p:cBhvr>
                                    </p:animEffect>
                                    <p:animScale>
                                      <p:cBhvr>
                                        <p:cTn id="35" dur="450" fill="hold"/>
                                        <p:tgtEl>
                                          <p:spTgt spid="11">
                                            <p:txEl>
                                              <p:pRg st="1" end="1"/>
                                            </p:txEl>
                                          </p:spTgt>
                                        </p:tgtEl>
                                      </p:cBhvr>
                                      <p:from x="88000" y="88000"/>
                                      <p:to x="100000" y="100000"/>
                                    </p:animScale>
                                  </p:childTnLst>
                                </p:cTn>
                              </p:par>
                              <p:par>
                                <p:cTn id="40" presetID="53" presetClass="entr" presetSubtype="16" fill="hold" decel="100000" grpId="0" nodeType="withEffect">
                                  <p:stCondLst>
                                    <p:cond delay="560"/>
                                  </p:stCondLst>
                                  <p:childTnLst>
                                    <p:set>
                                      <p:cBhvr>
                                        <p:cTn id="37" dur="1" fill="hold">
                                          <p:stCondLst>
                                            <p:cond delay="0"/>
                                          </p:stCondLst>
                                        </p:cTn>
                                        <p:tgtEl>
                                          <p:spTgt spid="11">
                                            <p:txEl>
                                              <p:pRg st="2" end="2"/>
                                            </p:txEl>
                                          </p:spTgt>
                                        </p:tgtEl>
                                        <p:attrNameLst>
                                          <p:attrName>style.visibility</p:attrName>
                                        </p:attrNameLst>
                                      </p:cBhvr>
                                      <p:to>
                                        <p:strVal val="visible"/>
                                      </p:to>
                                    </p:set>
                                    <p:animEffect transition="in" filter="fade">
                                      <p:cBhvr>
                                        <p:cTn id="38" dur="450"/>
                                        <p:tgtEl>
                                          <p:spTgt spid="11">
                                            <p:txEl>
                                              <p:pRg st="2" end="2"/>
                                            </p:txEl>
                                          </p:spTgt>
                                        </p:tgtEl>
                                      </p:cBhvr>
                                    </p:animEffect>
                                    <p:animScale>
                                      <p:cBhvr>
                                        <p:cTn id="39" dur="450" fill="hold"/>
                                        <p:tgtEl>
                                          <p:spTgt spid="11">
                                            <p:txEl>
                                              <p:pRg st="2" end="2"/>
                                            </p:txEl>
                                          </p:spTgt>
                                        </p:tgtEl>
                                      </p:cBhvr>
                                      <p:from x="88000" y="88000"/>
                                      <p:to x="100000" y="100000"/>
                                    </p:animScale>
                                  </p:childTnLst>
                                </p:cTn>
                              </p:par>
                              <p:par>
                                <p:cTn id="44" presetID="53" presetClass="entr" presetSubtype="16" fill="hold" decel="100000" grpId="0" nodeType="withEffect">
                                  <p:stCondLst>
                                    <p:cond delay="640"/>
                                  </p:stCondLst>
                                  <p:childTnLst>
                                    <p:set>
                                      <p:cBhvr>
                                        <p:cTn id="41" dur="1" fill="hold">
                                          <p:stCondLst>
                                            <p:cond delay="0"/>
                                          </p:stCondLst>
                                        </p:cTn>
                                        <p:tgtEl>
                                          <p:spTgt spid="11">
                                            <p:txEl>
                                              <p:pRg st="3" end="3"/>
                                            </p:txEl>
                                          </p:spTgt>
                                        </p:tgtEl>
                                        <p:attrNameLst>
                                          <p:attrName>style.visibility</p:attrName>
                                        </p:attrNameLst>
                                      </p:cBhvr>
                                      <p:to>
                                        <p:strVal val="visible"/>
                                      </p:to>
                                    </p:set>
                                    <p:animEffect transition="in" filter="fade">
                                      <p:cBhvr>
                                        <p:cTn id="42" dur="450"/>
                                        <p:tgtEl>
                                          <p:spTgt spid="11">
                                            <p:txEl>
                                              <p:pRg st="3" end="3"/>
                                            </p:txEl>
                                          </p:spTgt>
                                        </p:tgtEl>
                                      </p:cBhvr>
                                    </p:animEffect>
                                    <p:animScale>
                                      <p:cBhvr>
                                        <p:cTn id="43" dur="450" fill="hold"/>
                                        <p:tgtEl>
                                          <p:spTgt spid="11">
                                            <p:txEl>
                                              <p:pRg st="3" end="3"/>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pDQoH_g7F4" descr="Two business professionals shaking hands across a modern conference table">    </p:cNvPr>
          <p:cNvPicPr>
            <a:picLocks noChangeAspect="1"/>
          </p:cNvPicPr>
          <p:nvPr/>
        </p:nvPicPr>
        <p:blipFill>
          <a:blip r:embed="rId1"/>
          <a:srcRect l="0" r="0" t="0" b="0"/>
          <a:stretch/>
        </p:blipFill>
        <p:spPr>
          <a:xfrm>
            <a:off x="0" y="0"/>
            <a:ext cx="9144000" cy="6858000"/>
          </a:xfrm>
          <a:prstGeom prst="rect">
            <a:avLst/>
          </a:prstGeom>
        </p:spPr>
      </p:pic>
      <p:pic>
        <p:nvPicPr>
          <p:cNvPr id="3" name="pt:pDQoH_g7F4"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lTofCr2ih8"/>
          <p:cNvSpPr/>
          <p:nvPr/>
        </p:nvSpPr>
        <p:spPr>
          <a:xfrm>
            <a:off x="457200" y="2880360"/>
            <a:ext cx="698500" cy="50800"/>
          </a:xfrm>
          <a:prstGeom prst="roundRect">
            <a:avLst>
              <a:gd name="adj" fmla="val 50000"/>
            </a:avLst>
          </a:prstGeom>
          <a:solidFill>
            <a:srgbClr val="17BEBB"/>
          </a:solidFill>
          <a:ln/>
        </p:spPr>
      </p:sp>
      <p:sp>
        <p:nvSpPr>
          <p:cNvPr id="5" name="pt:hIGzdv-ldr"/>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Partner with ZETA-77 hand editNorthwind</a:t>
            </a:r>
            <a:endParaRPr lang="en-US" sz="3600" dirty="0"/>
          </a:p>
        </p:txBody>
      </p:sp>
      <p:sp>
        <p:nvSpPr>
          <p:cNvPr id="6" name="pt:Ua06vRCT2J"/>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Get started in a single afternoon: priya@northwind.example · northwind.example</a:t>
            </a:r>
            <a:endParaRPr lang="en-US" sz="1600" dirty="0"/>
          </a:p>
        </p:txBody>
      </p:sp>
      <p:sp>
        <p:nvSpPr>
          <p:cNvPr id="7" name="pt:2-ZEGOdrgl"/>
          <p:cNvSpPr/>
          <p:nvPr/>
        </p:nvSpPr>
        <p:spPr>
          <a:xfrm>
            <a:off x="412750" y="6451600"/>
            <a:ext cx="361950" cy="361950"/>
          </a:xfrm>
          <a:prstGeom prst="roundRect">
            <a:avLst>
              <a:gd name="adj" fmla="val 12281"/>
            </a:avLst>
          </a:prstGeom>
          <a:solidFill>
            <a:srgbClr val="FFFFFF"/>
          </a:solidFill>
          <a:ln/>
        </p:spPr>
      </p:sp>
      <p:pic>
        <p:nvPicPr>
          <p:cNvPr id="8" name="pt:u_wvrH_prP"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10590</dc:title>
  <dc:subject>PptxGenJS Presentation</dc:subject>
  <dc:creator>PptxGenJS</dc:creator>
  <cp:lastModifiedBy>PptxGenJS</cp:lastModifiedBy>
  <cp:revision>1</cp:revision>
  <dcterms:created xsi:type="dcterms:W3CDTF">2026-10-10T05:35:15Z</dcterms:created>
  <dcterms:modified xsi:type="dcterms:W3CDTF">2026-10-10T05:35:15Z</dcterms:modified>
</cp:coreProperties>
</file>